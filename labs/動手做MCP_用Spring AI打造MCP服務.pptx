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4"/>
  </p:sldMasterIdLst>
  <p:notesMasterIdLst>
    <p:notesMasterId r:id="rId137"/>
  </p:notesMasterIdLst>
  <p:handoutMasterIdLst>
    <p:handoutMasterId r:id="rId138"/>
  </p:handoutMasterIdLst>
  <p:sldIdLst>
    <p:sldId id="343" r:id="rId5"/>
    <p:sldId id="425" r:id="rId6"/>
    <p:sldId id="442" r:id="rId7"/>
    <p:sldId id="443" r:id="rId8"/>
    <p:sldId id="444" r:id="rId9"/>
    <p:sldId id="445" r:id="rId10"/>
    <p:sldId id="446" r:id="rId11"/>
    <p:sldId id="447" r:id="rId12"/>
    <p:sldId id="448" r:id="rId13"/>
    <p:sldId id="449" r:id="rId14"/>
    <p:sldId id="450" r:id="rId15"/>
    <p:sldId id="435" r:id="rId16"/>
    <p:sldId id="651" r:id="rId17"/>
    <p:sldId id="451" r:id="rId18"/>
    <p:sldId id="596" r:id="rId19"/>
    <p:sldId id="597" r:id="rId20"/>
    <p:sldId id="681" r:id="rId21"/>
    <p:sldId id="452" r:id="rId22"/>
    <p:sldId id="453" r:id="rId23"/>
    <p:sldId id="454" r:id="rId24"/>
    <p:sldId id="567" r:id="rId25"/>
    <p:sldId id="568" r:id="rId26"/>
    <p:sldId id="673" r:id="rId27"/>
    <p:sldId id="675" r:id="rId28"/>
    <p:sldId id="674" r:id="rId29"/>
    <p:sldId id="677" r:id="rId30"/>
    <p:sldId id="679" r:id="rId31"/>
    <p:sldId id="576" r:id="rId32"/>
    <p:sldId id="577" r:id="rId33"/>
    <p:sldId id="578" r:id="rId34"/>
    <p:sldId id="579" r:id="rId35"/>
    <p:sldId id="580" r:id="rId36"/>
    <p:sldId id="581" r:id="rId37"/>
    <p:sldId id="657" r:id="rId38"/>
    <p:sldId id="659" r:id="rId39"/>
    <p:sldId id="658" r:id="rId40"/>
    <p:sldId id="380" r:id="rId41"/>
    <p:sldId id="344" r:id="rId42"/>
    <p:sldId id="575" r:id="rId43"/>
    <p:sldId id="426" r:id="rId44"/>
    <p:sldId id="569" r:id="rId45"/>
    <p:sldId id="570" r:id="rId46"/>
    <p:sldId id="574" r:id="rId47"/>
    <p:sldId id="571" r:id="rId48"/>
    <p:sldId id="573" r:id="rId49"/>
    <p:sldId id="572" r:id="rId50"/>
    <p:sldId id="437" r:id="rId51"/>
    <p:sldId id="438" r:id="rId52"/>
    <p:sldId id="427" r:id="rId53"/>
    <p:sldId id="428" r:id="rId54"/>
    <p:sldId id="429" r:id="rId55"/>
    <p:sldId id="430" r:id="rId56"/>
    <p:sldId id="431" r:id="rId57"/>
    <p:sldId id="433" r:id="rId58"/>
    <p:sldId id="434" r:id="rId59"/>
    <p:sldId id="436" r:id="rId60"/>
    <p:sldId id="439" r:id="rId61"/>
    <p:sldId id="440" r:id="rId62"/>
    <p:sldId id="441" r:id="rId63"/>
    <p:sldId id="584" r:id="rId64"/>
    <p:sldId id="583" r:id="rId65"/>
    <p:sldId id="663" r:id="rId66"/>
    <p:sldId id="603" r:id="rId67"/>
    <p:sldId id="604" r:id="rId68"/>
    <p:sldId id="605" r:id="rId69"/>
    <p:sldId id="602" r:id="rId70"/>
    <p:sldId id="680" r:id="rId71"/>
    <p:sldId id="660" r:id="rId72"/>
    <p:sldId id="606" r:id="rId73"/>
    <p:sldId id="690" r:id="rId74"/>
    <p:sldId id="665" r:id="rId75"/>
    <p:sldId id="607" r:id="rId76"/>
    <p:sldId id="608" r:id="rId77"/>
    <p:sldId id="589" r:id="rId78"/>
    <p:sldId id="609" r:id="rId79"/>
    <p:sldId id="610" r:id="rId80"/>
    <p:sldId id="611" r:id="rId81"/>
    <p:sldId id="612" r:id="rId82"/>
    <p:sldId id="613" r:id="rId83"/>
    <p:sldId id="614" r:id="rId84"/>
    <p:sldId id="590" r:id="rId85"/>
    <p:sldId id="615" r:id="rId86"/>
    <p:sldId id="616" r:id="rId87"/>
    <p:sldId id="617" r:id="rId88"/>
    <p:sldId id="618" r:id="rId89"/>
    <p:sldId id="619" r:id="rId90"/>
    <p:sldId id="664" r:id="rId91"/>
    <p:sldId id="620" r:id="rId92"/>
    <p:sldId id="621" r:id="rId93"/>
    <p:sldId id="666" r:id="rId94"/>
    <p:sldId id="622" r:id="rId95"/>
    <p:sldId id="625" r:id="rId96"/>
    <p:sldId id="633" r:id="rId97"/>
    <p:sldId id="634" r:id="rId98"/>
    <p:sldId id="635" r:id="rId99"/>
    <p:sldId id="636" r:id="rId100"/>
    <p:sldId id="637" r:id="rId101"/>
    <p:sldId id="638" r:id="rId102"/>
    <p:sldId id="639" r:id="rId103"/>
    <p:sldId id="640" r:id="rId104"/>
    <p:sldId id="641" r:id="rId105"/>
    <p:sldId id="642" r:id="rId106"/>
    <p:sldId id="643" r:id="rId107"/>
    <p:sldId id="644" r:id="rId108"/>
    <p:sldId id="623" r:id="rId109"/>
    <p:sldId id="667" r:id="rId110"/>
    <p:sldId id="624" r:id="rId111"/>
    <p:sldId id="626" r:id="rId112"/>
    <p:sldId id="627" r:id="rId113"/>
    <p:sldId id="628" r:id="rId114"/>
    <p:sldId id="629" r:id="rId115"/>
    <p:sldId id="630" r:id="rId116"/>
    <p:sldId id="631" r:id="rId117"/>
    <p:sldId id="632" r:id="rId118"/>
    <p:sldId id="668" r:id="rId119"/>
    <p:sldId id="669" r:id="rId120"/>
    <p:sldId id="599" r:id="rId121"/>
    <p:sldId id="645" r:id="rId122"/>
    <p:sldId id="647" r:id="rId123"/>
    <p:sldId id="648" r:id="rId124"/>
    <p:sldId id="670" r:id="rId125"/>
    <p:sldId id="672" r:id="rId126"/>
    <p:sldId id="601" r:id="rId127"/>
    <p:sldId id="649" r:id="rId128"/>
    <p:sldId id="650" r:id="rId129"/>
    <p:sldId id="689" r:id="rId130"/>
    <p:sldId id="682" r:id="rId131"/>
    <p:sldId id="683" r:id="rId132"/>
    <p:sldId id="685" r:id="rId133"/>
    <p:sldId id="688" r:id="rId134"/>
    <p:sldId id="686" r:id="rId135"/>
    <p:sldId id="361" r:id="rId136"/>
  </p:sldIdLst>
  <p:sldSz cx="9906000" cy="6858000" type="A4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17B1264-9F0A-4225-B178-4B65043DA888}">
          <p14:sldIdLst>
            <p14:sldId id="343"/>
            <p14:sldId id="425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35"/>
            <p14:sldId id="651"/>
            <p14:sldId id="451"/>
            <p14:sldId id="596"/>
            <p14:sldId id="597"/>
            <p14:sldId id="681"/>
            <p14:sldId id="452"/>
            <p14:sldId id="453"/>
            <p14:sldId id="454"/>
            <p14:sldId id="567"/>
            <p14:sldId id="568"/>
            <p14:sldId id="673"/>
            <p14:sldId id="675"/>
            <p14:sldId id="674"/>
            <p14:sldId id="677"/>
            <p14:sldId id="679"/>
            <p14:sldId id="576"/>
            <p14:sldId id="577"/>
            <p14:sldId id="578"/>
            <p14:sldId id="579"/>
            <p14:sldId id="580"/>
            <p14:sldId id="581"/>
            <p14:sldId id="657"/>
            <p14:sldId id="659"/>
            <p14:sldId id="658"/>
            <p14:sldId id="380"/>
            <p14:sldId id="344"/>
            <p14:sldId id="575"/>
            <p14:sldId id="426"/>
            <p14:sldId id="569"/>
            <p14:sldId id="570"/>
            <p14:sldId id="574"/>
            <p14:sldId id="571"/>
            <p14:sldId id="573"/>
            <p14:sldId id="572"/>
            <p14:sldId id="437"/>
            <p14:sldId id="438"/>
            <p14:sldId id="427"/>
            <p14:sldId id="428"/>
            <p14:sldId id="429"/>
            <p14:sldId id="430"/>
            <p14:sldId id="431"/>
            <p14:sldId id="433"/>
            <p14:sldId id="434"/>
            <p14:sldId id="436"/>
            <p14:sldId id="439"/>
            <p14:sldId id="440"/>
            <p14:sldId id="441"/>
            <p14:sldId id="584"/>
            <p14:sldId id="583"/>
            <p14:sldId id="663"/>
            <p14:sldId id="603"/>
            <p14:sldId id="604"/>
            <p14:sldId id="605"/>
            <p14:sldId id="602"/>
            <p14:sldId id="680"/>
            <p14:sldId id="660"/>
            <p14:sldId id="606"/>
            <p14:sldId id="690"/>
            <p14:sldId id="665"/>
            <p14:sldId id="607"/>
            <p14:sldId id="608"/>
            <p14:sldId id="589"/>
            <p14:sldId id="609"/>
            <p14:sldId id="610"/>
            <p14:sldId id="611"/>
            <p14:sldId id="612"/>
            <p14:sldId id="613"/>
            <p14:sldId id="614"/>
            <p14:sldId id="590"/>
            <p14:sldId id="615"/>
            <p14:sldId id="616"/>
            <p14:sldId id="617"/>
            <p14:sldId id="618"/>
            <p14:sldId id="619"/>
            <p14:sldId id="664"/>
            <p14:sldId id="620"/>
            <p14:sldId id="621"/>
            <p14:sldId id="666"/>
            <p14:sldId id="622"/>
            <p14:sldId id="625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23"/>
            <p14:sldId id="667"/>
            <p14:sldId id="624"/>
            <p14:sldId id="626"/>
            <p14:sldId id="627"/>
            <p14:sldId id="628"/>
            <p14:sldId id="629"/>
            <p14:sldId id="630"/>
            <p14:sldId id="631"/>
            <p14:sldId id="632"/>
            <p14:sldId id="668"/>
            <p14:sldId id="669"/>
            <p14:sldId id="599"/>
            <p14:sldId id="645"/>
            <p14:sldId id="647"/>
            <p14:sldId id="648"/>
            <p14:sldId id="670"/>
            <p14:sldId id="672"/>
            <p14:sldId id="601"/>
            <p14:sldId id="649"/>
            <p14:sldId id="650"/>
            <p14:sldId id="689"/>
            <p14:sldId id="682"/>
            <p14:sldId id="683"/>
            <p14:sldId id="685"/>
            <p14:sldId id="688"/>
            <p14:sldId id="686"/>
            <p14:sldId id="3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鄭宇傑(Yujie Jheng)" initials="鄭宇傑(Yujie" lastIdx="2" clrIdx="0">
    <p:extLst>
      <p:ext uri="{19B8F6BF-5375-455C-9EA6-DF929625EA0E}">
        <p15:presenceInfo xmlns:p15="http://schemas.microsoft.com/office/powerpoint/2012/main" userId="S::1511015@iisigroup.com::bb3e916f-798f-406b-b806-b1261d5ff17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383"/>
    <a:srgbClr val="1E1F22"/>
    <a:srgbClr val="72528A"/>
    <a:srgbClr val="BFE4FF"/>
    <a:srgbClr val="0070C0"/>
    <a:srgbClr val="E6E6E6"/>
    <a:srgbClr val="1174B8"/>
    <a:srgbClr val="7F7F7F"/>
    <a:srgbClr val="ABB8C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93630" autoAdjust="0"/>
  </p:normalViewPr>
  <p:slideViewPr>
    <p:cSldViewPr snapToGrid="0">
      <p:cViewPr>
        <p:scale>
          <a:sx n="100" d="100"/>
          <a:sy n="100" d="100"/>
        </p:scale>
        <p:origin x="270" y="-4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15200"/>
    </p:cViewPr>
  </p:sorterViewPr>
  <p:notesViewPr>
    <p:cSldViewPr snapToGrid="0">
      <p:cViewPr varScale="1">
        <p:scale>
          <a:sx n="60" d="100"/>
          <a:sy n="60" d="100"/>
        </p:scale>
        <p:origin x="314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handoutMaster" Target="handoutMasters/handoutMaster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commentAuthors" Target="commentAuthor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theme" Target="theme/theme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A9CB4E3-E32A-44EF-BA3F-1D47EA338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D280E35-8240-40C3-82F3-79315A297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6B90F-31C1-4467-8C0D-14E64AA30C44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FFAE75C-8E6A-46F9-9FC7-6D88FA7106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BCF684-A13F-41B0-9531-46A6A6409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59A36-9DBA-4AB7-BFD9-13432BA4BF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733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8CEE296-6F46-4682-833C-114FEE14D05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279525"/>
            <a:ext cx="4987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9F83F86-4E83-4510-8D29-B9E9BD9C44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3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&#65292;&#22823;&#23478;&#30475;&#21040;&#23601;&#30693;&#36947;&#24590;&#40636;&#36899;&#32218;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385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21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choco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檔案因空間不夠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要放在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槽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採取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軟連結方式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1: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C:\ProgramData\chocolatey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目錄剪下並轉移為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D:\chocolatey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2: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執行指令 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mklink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/J "C:\ProgramData\chocolatey" "D:\chocolatey"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實際資料放在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D: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但存取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977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217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391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463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594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426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若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C: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空間不夠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可指定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D: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去放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照以下方式進行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Font typeface="+mj-lt"/>
              <a:buNone/>
            </a:pPr>
            <a:endParaRPr lang="en-US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關閉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 machine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152400" indent="3048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machine stop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列出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vm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運行狀態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TW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應為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stop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狀態</a:t>
            </a:r>
          </a:p>
          <a:p>
            <a:pPr marL="152400" indent="3048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-l -v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將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之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 machine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匯成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tar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檔 </a:t>
            </a:r>
          </a:p>
          <a:p>
            <a:pPr marL="381000" indent="762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--export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podman-machine-default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C:\temp\podman.tar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4.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刪除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之 </a:t>
            </a:r>
            <a:r>
              <a:rPr lang="en-US" altLang="zh-TW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發行版</a:t>
            </a:r>
          </a:p>
          <a:p>
            <a:pPr marL="381000" indent="762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--unregister </a:t>
            </a:r>
            <a:r>
              <a:rPr lang="en-US" altLang="zh-TW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5.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列出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vm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運行狀態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TW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應該找不到</a:t>
            </a:r>
          </a:p>
          <a:p>
            <a:pPr marL="381000" indent="762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-l -v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6.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創建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D:\PodmanWSL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目錄</a:t>
            </a: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7.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將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tar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匯入為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吃的檔案類型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.</a:t>
            </a:r>
            <a:r>
              <a:rPr lang="en-US" altLang="zh-TW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vhdx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並存放在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D:\PodmanWSL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目錄中</a:t>
            </a:r>
          </a:p>
          <a:p>
            <a:pPr marL="304800" indent="152400"/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--import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podman-machine-default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D:\PodmanWSL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C:\temp\podman.tar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--version 2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/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>
              <a:buFont typeface="+mj-lt"/>
              <a:buNone/>
            </a:pP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8. 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啟動 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 machine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04800"/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 machine start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-machine-default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228600"/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9. 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刪除</a:t>
            </a:r>
            <a:r>
              <a:rPr lang="zh-TW" altLang="zh-TW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Times New Roman" panose="02020603050405020304" pitchFamily="18" charset="0"/>
              </a:rPr>
              <a:t>C:\temp\podman.tar</a:t>
            </a:r>
            <a:r>
              <a:rPr lang="en-US" altLang="zh-TW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zh-TW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可選</a:t>
            </a:r>
            <a:r>
              <a:rPr lang="en-US" altLang="zh-TW" sz="1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501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570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112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maven local repo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想放在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D: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中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ex: D:\repo</a:t>
            </a: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請在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>
              <a:buFont typeface="+mj-lt"/>
              <a:buNone/>
            </a:pP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global scope: maven home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目錄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conf/settings.xml</a:t>
            </a: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scope: user home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.m2/settings.xml</a:t>
            </a:r>
          </a:p>
          <a:p>
            <a:pPr marL="0" lvl="0" indent="0">
              <a:buFont typeface="+mj-lt"/>
              <a:buNone/>
            </a:pP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scope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優先序比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global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設定標籤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localRepository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&gt;D:\repo&lt;/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localRepository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818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maven local repo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想放在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D: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中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ex: D:\repo</a:t>
            </a: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請在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>
              <a:buFont typeface="+mj-lt"/>
              <a:buNone/>
            </a:pP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global scope: maven home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目錄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conf/settings.xml</a:t>
            </a: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scope: user home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.m2/settings.xml</a:t>
            </a:r>
          </a:p>
          <a:p>
            <a:pPr marL="0" lvl="0" indent="0">
              <a:buFont typeface="+mj-lt"/>
              <a:buNone/>
            </a:pP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scope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優先序比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global 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</a:t>
            </a: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>
              <a:buFont typeface="+mj-lt"/>
              <a:buNone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設定標籤 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localRepository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&gt;D:\repo&lt;/</a:t>
            </a:r>
            <a:r>
              <a:rPr lang="en-US" altLang="zh-TW" sz="1200" b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localRepository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489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052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670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236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039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342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100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328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74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882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81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481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977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9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678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8589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6050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320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854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4665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786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0284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6404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5261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9602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這頁先講大家共同感受。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AI 很強，但很多時候只能回答問題，無法真正幫我們完成工作。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當 AI 要連公司系統、雲端服務、內部資料時，整合常常很慢又複雜。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而且工具越來越多後，管理成本也越來越高。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核心原因不是 AI 不夠聰明，而是缺少一套統一標準。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這就是 MCP 要解決的問題。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6742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這頁要說明趨勢。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AI 正從單純聊天，進入 Agent 時代。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未來 AI 不只回答問題，而是能主動使用工具完成任務。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像是查資料、呼叫 API、操作企業系統。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所以工具連接能力，會成為 AI 落地的關鍵。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6621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這頁先解釋什麼叫 Protocol。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Protocol 就是大家共同遵守的通訊規則。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只要雙方都遵守相同格式，就能互相理解。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例如網站的 </a:t>
            </a:r>
            <a:r>
              <a:rPr lang="zh-TW" altLang="zh-TW" sz="1800" dirty="0">
                <a:effectLst/>
                <a:ea typeface="Microsoft JhengHei" panose="020B0604030504040204" pitchFamily="34" charset="-120"/>
                <a:hlinkClick r:id="rId3"/>
              </a:rPr>
              <a:t>https://，大家看到就知道怎麼連線</a:t>
            </a: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MCP 的概念也是一樣，它是 AI 與工具之間的共同語言。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6278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這頁是最重要的觀念頁。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左邊是 MCP Server 公告有哪些工具可用。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例如查詢剩餘假別、送出請假申請。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右邊是 AI 根據需求選擇工具並呼叫。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所以 AI 不是憑空知道怎麼操作，而是因為有標準化的協定。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MCP 就像 AI 世界的 USB-C。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5518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這頁用比喻讓大家快速理解。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USB 的價值是統一接口。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不管滑鼠、鍵盤、隨身碟，只要插上就能用。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MCP 也是一樣。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讓不同 AI、不同工具、不同系統，用同一套方式整合。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一次對接，到處能用。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7303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這頁說明整體架構。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MCP 不是單一程式，而是一套分層設計。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從使用者操作介面，到 AI 模型，再到工具服務層，都有明確分工。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透過分層設計，可以讓系統更容易維護與擴充。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企業導入時也能更清楚分工。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878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這頁講歷史發展。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早期各家 AI 都有自己的 Function Call 做法。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後來大家發現缺乏統一標準，整合成本太高。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2024 年 Anthropic 開源 MCP。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2025 開始快速發展。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2026 進入 Agent 全面連結時代。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這代表 MCP 正在成為業界共通標準。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8726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這頁說明生態系正在成熟。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MCP 不只是規格，還持續加入更多能力。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例如遠端伺服器、授權機制、任務機制、應用程式化。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這代表 MCP 正從技術概念，走向真正商業落地。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未來會有更多產品直接支援 MCP。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6286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這頁提供學習資源。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如果想了解最新規格、教學文件、入門說明，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可以到官方網站查看。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建議初學者先從 Getting Started 開始。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6864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這頁提供原始碼資源。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GitHub 上有官方專案、SDK、範例程式與社群工具。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如果要實作 MCP，這裡是最重要的參考來源。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開發者可以直接下載範例開始練習。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1457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這頁進一步介紹三個角色。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Host：提供使用者介面。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Client：負責與 Server 溝通。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Server：提供工具能力與資料來源。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這三者透過 MCP Protocol 串接，形成完整流程。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理解這三個角色，就理解了 MCP 核心架構。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6338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這頁介紹 Host。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Host 就是承載使用者操作介面的應用程式。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例如 Claude Desktop、IDE、Chat App、企業 AI 平台。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使用者在 Host 輸入需求，Host 顯示最終結果。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它是使用者與 MCP 世界的入口。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3721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這頁介紹 Client。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Client 是真正實作協定的角色。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它負責連接 MCP Server、取得工具清單、執行工具呼叫。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再把結果回傳給 Host 與使用者。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很多產品中，Host 與 Client 可能是同一套程式。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6647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這頁介紹 Server。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Server 的工作是提供工具與資料。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它可以連資料庫、API、檔案系統、企業內部系統。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Client 透過協定呼叫它提供的功能。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常見傳輸方式有本機 STDIO 與遠端 HTTP/SSE。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Server 就是企業能力對外的入口。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5883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這頁把整體串起來。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同一台電腦上的 Host，可以連接多個 MCP Server。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有些 Server 存取本地資料，有些連到外部雲端服務。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透過 MCP，AI 可以整合不同來源能力。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這就是企業 AI 平台的雛形。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2605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這頁補充實務觀念。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官方常描述 Client 與 Server 為 1 對 1。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但實際上可以做到 1 對多、多對多。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例如同時連多個工具服務。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這讓 AI 能一次協調多個系統完成任務。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實務彈性比文件示意更高。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5737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這頁說明連線流程。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第一步是初始化，雙方確認版本與能力。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第二步是正常訊息交換，包含請求、回應、通知。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第三步是終止連線，例如正常關閉或錯誤中斷。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這跟一般網路服務生命週期很像。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5600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這頁講完整執行流程。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使用者先輸入需求。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Host 把需求與工具資訊交給 LLM。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LLM 判斷要使用哪個工具。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Client 呼叫 MCP Server。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Server 執行後回傳結果。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LLM 再整理成自然語言回答使用者。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這就是 MCP 真正運作方式。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08645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這頁銜接實作。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官方已提供 Java SDK。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代表 Java 開發者不用從零開始刻協定。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可以直接用 SDK 建立 Client 或 Server。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對企業 Java 團隊來說非常重要。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0202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這頁是本次課程重點。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Spring AI 已提供 MCP Client 與 Server Starter。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如果熟悉 Spring Boot，就能快速建立 MCP 專案。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大幅降低導入門檻。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今天後面的實作，就是用 Spring AI 來完成。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13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這頁介紹開發工具。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官方提供 Inspector，可模擬 MCP Client 連線 Server。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我們可以直接測試工具清單、輸入參數、查看回應結果。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 dirty="0">
                <a:effectLst/>
                <a:ea typeface="Microsoft JhengHei" panose="020B0604030504040204" pitchFamily="34" charset="-120"/>
              </a:rPr>
              <a:t>開發 MCP Server 時非常實用。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TW" altLang="zh-TW" sz="1800">
                <a:effectLst/>
                <a:ea typeface="Microsoft JhengHei" panose="020B0604030504040204" pitchFamily="34" charset="-120"/>
              </a:rPr>
              <a:t>建議搭配 Debug 模式一起使用，提高開發效率。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2492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8299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1642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2185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0855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75344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3361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5314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4487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6094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8469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25539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91493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18005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1812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32810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89829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52518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44285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40372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2213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49335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78828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0295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1289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0498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86902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78783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041253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547291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60805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8318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01193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693660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614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76000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81779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20039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63623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58810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84163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70177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40802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7843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00737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73473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67155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56372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96992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98605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30823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81586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08022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34119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02215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99282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62237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57084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69785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969731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89546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07619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76195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TW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67274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21802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3F86-4E83-4510-8D29-B9E9BD9C4428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617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231" y="1629708"/>
            <a:ext cx="5397551" cy="1060199"/>
          </a:xfrm>
        </p:spPr>
        <p:txBody>
          <a:bodyPr anchor="t">
            <a:no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230" y="2796573"/>
            <a:ext cx="5412569" cy="727193"/>
          </a:xfrm>
        </p:spPr>
        <p:txBody>
          <a:bodyPr anchor="t">
            <a:normAutofit/>
          </a:bodyPr>
          <a:lstStyle>
            <a:lvl1pPr marL="0" indent="0" algn="l">
              <a:buNone/>
              <a:defRPr kumimoji="0" lang="en-US" sz="2800" b="0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01823" indent="0" algn="ctr">
              <a:buNone/>
              <a:defRPr sz="1320"/>
            </a:lvl2pPr>
            <a:lvl3pPr marL="603647" indent="0" algn="ctr">
              <a:buNone/>
              <a:defRPr sz="1189"/>
            </a:lvl3pPr>
            <a:lvl4pPr marL="905470" indent="0" algn="ctr">
              <a:buNone/>
              <a:defRPr sz="1056"/>
            </a:lvl4pPr>
            <a:lvl5pPr marL="1207294" indent="0" algn="ctr">
              <a:buNone/>
              <a:defRPr sz="1056"/>
            </a:lvl5pPr>
            <a:lvl6pPr marL="1509117" indent="0" algn="ctr">
              <a:buNone/>
              <a:defRPr sz="1056"/>
            </a:lvl6pPr>
            <a:lvl7pPr marL="1810941" indent="0" algn="ctr">
              <a:buNone/>
              <a:defRPr sz="1056"/>
            </a:lvl7pPr>
            <a:lvl8pPr marL="2112764" indent="0" algn="ctr">
              <a:buNone/>
              <a:defRPr sz="1056"/>
            </a:lvl8pPr>
            <a:lvl9pPr marL="2414588" indent="0" algn="ctr">
              <a:buNone/>
              <a:defRPr sz="1056"/>
            </a:lvl9pPr>
          </a:lstStyle>
          <a:p>
            <a:r>
              <a:rPr lang="zh-TW" altLang="en-US" dirty="0"/>
              <a:t>副標題樣式</a:t>
            </a:r>
            <a:endParaRPr 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934614BB-43E3-4B4D-8D6D-5FB02F54F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206" y="4518622"/>
            <a:ext cx="5344594" cy="375986"/>
          </a:xfrm>
        </p:spPr>
        <p:txBody>
          <a:bodyPr anchor="t">
            <a:normAutofit/>
          </a:bodyPr>
          <a:lstStyle>
            <a:lvl1pPr marL="0" indent="0">
              <a:spcBef>
                <a:spcPts val="30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92DFBA8-00E8-4A8B-9E32-EF661509AF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2" y="403879"/>
            <a:ext cx="3072874" cy="375986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F289E7-3848-4112-86B6-D7B45574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582B31-E292-400B-888C-9CFCCA67CFBE}"/>
              </a:ext>
            </a:extLst>
          </p:cNvPr>
          <p:cNvSpPr/>
          <p:nvPr userDrawn="1"/>
        </p:nvSpPr>
        <p:spPr>
          <a:xfrm>
            <a:off x="9439275" y="6438900"/>
            <a:ext cx="239412" cy="2975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692A7CD4-36F5-4971-A3F5-2888E0BEEB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5073" y="6387002"/>
            <a:ext cx="2240280" cy="37338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D856174-0BF5-4A84-CE29-3A68B94823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5864" y="1097328"/>
            <a:ext cx="4116710" cy="478490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D9A3114-C8BF-1698-7607-4FC8EB32AAB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339579"/>
            <a:ext cx="5887798" cy="84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8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(左側有視覺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DC5DE9C-A689-468C-8977-DDF09E173C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9873"/>
            <a:ext cx="3791511" cy="36847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66925" y="563563"/>
            <a:ext cx="3704818" cy="599104"/>
          </a:xfrm>
        </p:spPr>
        <p:txBody>
          <a:bodyPr lIns="36000" tIns="36000" rIns="36000" bIns="3600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編輯標題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2A4CFE-7004-4026-B5B7-378391033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59" y="1477161"/>
            <a:ext cx="3929743" cy="4228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1200"/>
              </a:spcBef>
              <a:buSzPct val="100000"/>
              <a:defRPr/>
            </a:lvl1pPr>
            <a:lvl2pPr>
              <a:buSzPct val="100000"/>
              <a:defRPr/>
            </a:lvl2pPr>
          </a:lstStyle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3" name="投影片編號版面配置區 4">
            <a:extLst>
              <a:ext uri="{FF2B5EF4-FFF2-40B4-BE49-F238E27FC236}">
                <a16:creationId xmlns:a16="http://schemas.microsoft.com/office/drawing/2014/main" id="{54CEC0FE-5F6A-47F3-BF6B-FD3A1C4F7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FDAFCBC-D6CD-88F3-975F-38322D38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FDF68998-3A32-0A5C-98A3-72E595642BCE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3EC321A-6955-44FB-BE61-0E1D4E5FE8D2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C9F2F05-E150-396E-1248-41EFF7201A40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28EB14-4334-4D08-55C1-4164BC30DD1A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B415E2D-69D7-53DE-C1FC-51828E374974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76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(左側有視覺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A15DE68-B013-DDFE-65CA-E35029B1AA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5182"/>
            <a:ext cx="3447985" cy="68579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F5FAAC3-035A-42C1-8969-D85F1EE8DE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9" name="投影片編號版面配置區 4">
            <a:extLst>
              <a:ext uri="{FF2B5EF4-FFF2-40B4-BE49-F238E27FC236}">
                <a16:creationId xmlns:a16="http://schemas.microsoft.com/office/drawing/2014/main" id="{C16DC064-EA3C-66CD-04D2-61250CA6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8193B5-7DCA-BCFA-E4F1-67CF106462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955" y="1019208"/>
            <a:ext cx="5161248" cy="5269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1200"/>
              </a:spcBef>
              <a:buSzPct val="100000"/>
              <a:defRPr/>
            </a:lvl1pPr>
            <a:lvl2pPr>
              <a:buSzPct val="100000"/>
              <a:defRPr/>
            </a:lvl2pPr>
          </a:lstStyle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8E2D1C1-D53A-108C-C736-8892DC12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A4676D-3743-930F-4334-B61DEBFC506C}"/>
              </a:ext>
            </a:extLst>
          </p:cNvPr>
          <p:cNvSpPr/>
          <p:nvPr userDrawn="1"/>
        </p:nvSpPr>
        <p:spPr>
          <a:xfrm>
            <a:off x="0" y="-5182"/>
            <a:ext cx="3459480" cy="6942370"/>
          </a:xfrm>
          <a:prstGeom prst="rect">
            <a:avLst/>
          </a:prstGeom>
          <a:gradFill>
            <a:gsLst>
              <a:gs pos="0">
                <a:schemeClr val="accent6">
                  <a:alpha val="80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88B2D50-80A6-0B2D-0A2A-58D4CC9D1DCF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30140C-E08C-3610-B443-3AF318646FAD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A2E6D1-DA8F-162C-C503-1F64BE764539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4C1ECA4-488B-04DB-2AC5-D30A4C34B35F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FDDC1EF-DFF4-39B4-890A-51EA9F3E215F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  <p:sp>
        <p:nvSpPr>
          <p:cNvPr id="15" name="文字版面配置區 6">
            <a:extLst>
              <a:ext uri="{FF2B5EF4-FFF2-40B4-BE49-F238E27FC236}">
                <a16:creationId xmlns:a16="http://schemas.microsoft.com/office/drawing/2014/main" id="{E3D9685B-B957-BCE5-70DE-ABE09D414D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91" y="1019208"/>
            <a:ext cx="3355411" cy="723900"/>
          </a:xfrm>
        </p:spPr>
        <p:txBody>
          <a:bodyPr anchor="ctr">
            <a:noAutofit/>
          </a:bodyPr>
          <a:lstStyle>
            <a:lvl1pPr marL="0" indent="0" algn="ctr">
              <a:buNone/>
              <a:defRPr lang="zh-TW" altLang="en-US" sz="3600" b="1" kern="12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lvl="0"/>
            <a:r>
              <a:rPr lang="zh-TW" altLang="en-US" dirty="0"/>
              <a:t>編輯標題</a:t>
            </a:r>
          </a:p>
        </p:txBody>
      </p:sp>
    </p:spTree>
    <p:extLst>
      <p:ext uri="{BB962C8B-B14F-4D97-AF65-F5344CB8AC3E}">
        <p14:creationId xmlns:p14="http://schemas.microsoft.com/office/powerpoint/2010/main" val="135189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74891" y="2262908"/>
            <a:ext cx="6563762" cy="916225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編輯標題</a:t>
            </a:r>
            <a:endParaRPr 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CEFDCE7-830F-4E23-83DA-B067209372F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84877" y="3743270"/>
            <a:ext cx="3657206" cy="927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zh-TW" altLang="en-US" dirty="0"/>
              <a:t>副標題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596176-AA7A-9DCA-87A7-368B4AF9FD43}"/>
              </a:ext>
            </a:extLst>
          </p:cNvPr>
          <p:cNvSpPr/>
          <p:nvPr userDrawn="1"/>
        </p:nvSpPr>
        <p:spPr>
          <a:xfrm>
            <a:off x="3191072" y="3429000"/>
            <a:ext cx="3657206" cy="45719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327778-3A2F-A865-248E-5B71B8BD4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0EAEBD74-F2E2-BCC7-3319-E64F3FE2A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02DC15B-1B56-DC19-6377-01FEFDD918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3660" y="1186710"/>
            <a:ext cx="3482340" cy="826331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370D25-AEAF-A052-6108-CD978531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3ADADB-4520-2689-A7F0-9B3DCF93F5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4937379"/>
            <a:ext cx="3482340" cy="82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章節標題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74891" y="2262908"/>
            <a:ext cx="6563762" cy="916225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編輯標題</a:t>
            </a:r>
            <a:endParaRPr 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CEFDCE7-830F-4E23-83DA-B067209372F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184877" y="3743270"/>
            <a:ext cx="3657206" cy="927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zh-TW" altLang="en-US" dirty="0"/>
              <a:t>副標題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596176-AA7A-9DCA-87A7-368B4AF9FD43}"/>
              </a:ext>
            </a:extLst>
          </p:cNvPr>
          <p:cNvSpPr/>
          <p:nvPr userDrawn="1"/>
        </p:nvSpPr>
        <p:spPr>
          <a:xfrm>
            <a:off x="3191072" y="3429000"/>
            <a:ext cx="3657206" cy="45719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9416347-0C41-BE54-CD2E-BBF38F02F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3D421EFF-DBF1-4598-A3CC-671F6ED9B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D8CA863-CFAE-ED61-6A8B-08E1958A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B71BEFA-0160-AFFC-64AA-68580BF5AF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3660" y="1186710"/>
            <a:ext cx="3482340" cy="82633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4560DFE-A0CB-23C3-6933-78593D646D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4937379"/>
            <a:ext cx="3482340" cy="82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4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-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10E29D9-C0EC-4310-9260-2A2AB895A9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415306"/>
            <a:ext cx="7965380" cy="4489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B2EC939F-FB4A-49B6-BD15-693CECC6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402509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F92882-9022-2FFC-994D-EF4F1C0073BB}"/>
              </a:ext>
            </a:extLst>
          </p:cNvPr>
          <p:cNvSpPr/>
          <p:nvPr userDrawn="1"/>
        </p:nvSpPr>
        <p:spPr>
          <a:xfrm>
            <a:off x="886691" y="1229146"/>
            <a:ext cx="7965380" cy="48693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1FA87E-25EC-A152-FEC7-7A0FCCBDE2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AF0B8B78-90C9-C745-C593-DA6A3275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9C4FAF3-D4D0-D47E-57CB-F8E275F6C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725860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-無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10E29D9-C0EC-4310-9260-2A2AB895A9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415306"/>
            <a:ext cx="7965380" cy="4489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C2A854-318F-B57D-25A1-867A263BD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A71648F-D1A3-960C-1974-E67A51A4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A2F79FA-E53F-6AB7-F8ED-906ABFE4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402509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055F79-0B7A-5977-4FB4-58CB2A75E46C}"/>
              </a:ext>
            </a:extLst>
          </p:cNvPr>
          <p:cNvSpPr/>
          <p:nvPr userDrawn="1"/>
        </p:nvSpPr>
        <p:spPr>
          <a:xfrm>
            <a:off x="886691" y="1229146"/>
            <a:ext cx="7965380" cy="48693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2BA1C96-AD6D-CBFB-7EE1-D9495E6CD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22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-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97D0C3-EF24-169C-5CBA-F987ABADAB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84ADA59-FDCC-E861-092C-472CCCC671A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30214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0B11B75-D64B-ADD8-5234-FF6B4D85D9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C0A74557-FF34-58A2-3277-11AF6832C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51CAC5-7648-23BC-9763-A8287466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D6B7B1E-58BD-9EB8-B8DE-7F852B41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402509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F5E2D7-7D3A-3A89-31B0-FEC2266535F7}"/>
              </a:ext>
            </a:extLst>
          </p:cNvPr>
          <p:cNvSpPr/>
          <p:nvPr userDrawn="1"/>
        </p:nvSpPr>
        <p:spPr>
          <a:xfrm>
            <a:off x="886691" y="1229146"/>
            <a:ext cx="7965380" cy="48693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928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-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F93B808A-8A20-84F9-02C5-F82FFEDB5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74C4D13-03AA-855C-F6DA-76836FA0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92488F-F7AD-6730-BBB1-F7E60B53DC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567C95-27A7-225B-B42E-7A962132D5D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30214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4EF4AC6-EA24-B970-B4E6-7314B8C9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402509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CD8E5F-2E6E-A34C-861C-1D03FC673177}"/>
              </a:ext>
            </a:extLst>
          </p:cNvPr>
          <p:cNvSpPr/>
          <p:nvPr userDrawn="1"/>
        </p:nvSpPr>
        <p:spPr>
          <a:xfrm>
            <a:off x="886691" y="1229146"/>
            <a:ext cx="7965380" cy="48693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937D69E-ED89-81B1-BC25-EDA4428880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3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-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D42C9BAF-A543-4474-80DB-FBD604DE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392328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6CF17E-38AC-6688-507E-B64D00DE0F0A}"/>
              </a:ext>
            </a:extLst>
          </p:cNvPr>
          <p:cNvSpPr/>
          <p:nvPr userDrawn="1"/>
        </p:nvSpPr>
        <p:spPr>
          <a:xfrm>
            <a:off x="886691" y="1229146"/>
            <a:ext cx="7965379" cy="45719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4178601-01D3-61C1-5992-7CE6FDF63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EE63C735-F6DC-BA15-44AB-B7EC40960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FC8A22-0781-0963-B9FD-DD0F5F13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379808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-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D42C9BAF-A543-4474-80DB-FBD604DE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392328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6CF17E-38AC-6688-507E-B64D00DE0F0A}"/>
              </a:ext>
            </a:extLst>
          </p:cNvPr>
          <p:cNvSpPr/>
          <p:nvPr userDrawn="1"/>
        </p:nvSpPr>
        <p:spPr>
          <a:xfrm>
            <a:off x="886691" y="1229146"/>
            <a:ext cx="7965379" cy="45719"/>
          </a:xfrm>
          <a:prstGeom prst="rect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DB607CF0-7136-23CE-FD00-65CB4F688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7DE6C1-5943-9DAD-469C-5470DA94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109FA39-AE39-59DC-0E5D-1F0F749E3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76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-無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10E29D9-C0EC-4310-9260-2A2AB895A9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415306"/>
            <a:ext cx="7965380" cy="4489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B2EC939F-FB4A-49B6-BD15-693CECC6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0" y="392328"/>
            <a:ext cx="7965379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8D186FA-BB52-C49B-98F5-6AE315959D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51ADBE2A-D866-65E2-7F5A-FDB5B0A93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FA72B7-1049-B310-3F05-E390D62E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D772F3A-7B2E-7788-6241-93575D28FC60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0AF5CE9-C02F-C2CE-6FA9-CC760E76918E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BBA80C8-4DC3-C1D5-26F2-97E7694FBD1A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23113CB-5E44-6CFD-1E3B-3A6B9BAD18C0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4D0C001-606E-55F8-C69C-8B6B4F589646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5996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-無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10E29D9-C0EC-4310-9260-2A2AB895A9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415306"/>
            <a:ext cx="7965380" cy="4489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9" name="投影片編號版面配置區 4">
            <a:extLst>
              <a:ext uri="{FF2B5EF4-FFF2-40B4-BE49-F238E27FC236}">
                <a16:creationId xmlns:a16="http://schemas.microsoft.com/office/drawing/2014/main" id="{A9C317D7-AB5A-46B9-4486-CCED0F7B7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20B0E2B-7AE5-3E57-32D7-B405BBFD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8F8835C4-F0A9-8E6D-3264-2BD06D9DD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0" y="392328"/>
            <a:ext cx="7965379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02195CE-1D79-9968-31A7-6F12EAA73E02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EEB7AE9-77BE-E392-6842-3C95E21CADC0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0E133D8-BE2F-D021-84F3-CF429AD0847B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8AF275C-BD1C-FF37-123F-BDD731B622F3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B575752-D8D4-CFDB-AE6D-08D900276D26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B03AB28C-DBBF-821D-B00D-E567182A43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06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-無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1863FD7-9945-4756-AAB1-39C20C50A0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A779D16-CF37-4600-83B6-5B3502E2E95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30214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5397BA2-1C5F-4631-93F1-F380CA8E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392328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編輯標題</a:t>
            </a:r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29F230A-B1D5-DE73-9C3B-0AEE98BC43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2A3DE651-D3FC-3ACA-0D4D-E6EF3FD83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4E0E171-E2DC-EF39-1E71-094CDE4D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5BB887C-392F-F679-7C7F-2B1E09DA749C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B9928CD-AA69-0955-7A1D-E8EF8EAD78F2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B4C15D-D519-0CE9-1A5E-EDD8F3A3ECD7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85A5006-2F7F-BBB7-F98F-30DAE7241A8A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3B66BF1-E5B6-8B81-8C4B-B8D988C4AADF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913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-無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5397BA2-1C5F-4631-93F1-F380CA8E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392328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編輯標題</a:t>
            </a:r>
            <a:endParaRPr lang="en-US" dirty="0"/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092BC2BE-B088-6580-69A6-95C99800C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595925-D1CC-25FF-8392-8CF9FCF8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A78E59-4181-A35D-BEC6-8A2E4C238C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86691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B9AE0B8-D9B2-4E04-F413-D60289F977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30214" y="1371216"/>
            <a:ext cx="3821857" cy="455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F4C94F-CC96-D72D-E337-C88B98BEAC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9DBCBA67-A5F7-8DED-59FE-ADAA5FF694BC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5B2EDBA-942E-74BE-78F6-7F4B40148141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62BE0BB-C4B5-D355-1C66-B65F74A51DC3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9BA4871-3F94-7617-493C-E8988750563B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ED71C6-57B5-0160-CDA2-E60EFE7C188C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27733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標題及物件-無水平線-右下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C44F6C6-6AC3-403B-84C8-114B9465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392328"/>
            <a:ext cx="7402286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54B1615-77A8-1A12-9C2C-F9FBAB37E6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0391" y="6432077"/>
            <a:ext cx="1920240" cy="320040"/>
          </a:xfrm>
          <a:prstGeom prst="rect">
            <a:avLst/>
          </a:prstGeom>
        </p:spPr>
      </p:pic>
      <p:sp>
        <p:nvSpPr>
          <p:cNvPr id="3" name="投影片編號版面配置區 4">
            <a:extLst>
              <a:ext uri="{FF2B5EF4-FFF2-40B4-BE49-F238E27FC236}">
                <a16:creationId xmlns:a16="http://schemas.microsoft.com/office/drawing/2014/main" id="{C583D2BC-81BF-76E1-81AC-67E8CA883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846CD29-2F1E-3D41-7437-952F7A32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C71DEA2-92AE-22D1-6646-B9670C66135B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C56DDA-DEC7-424B-C2DB-DBAEAFD9563D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9D59CD7-1428-B0A2-BF92-7FEE301A9339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2414A75-8E14-C46B-ABD4-EC6CEEDA585D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4109108-761F-2F89-3A51-9A3766C8224B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7727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-無水平線-右下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C44F6C6-6AC3-403B-84C8-114B9465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392328"/>
            <a:ext cx="7402286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投影片編號版面配置區 4">
            <a:extLst>
              <a:ext uri="{FF2B5EF4-FFF2-40B4-BE49-F238E27FC236}">
                <a16:creationId xmlns:a16="http://schemas.microsoft.com/office/drawing/2014/main" id="{DC731925-1960-8CA0-DB2D-98F48D143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39AE95E-32A8-4F08-C1EA-7587EBF6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9C2B5B5-7A16-122F-0745-229087908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5304" y="6472066"/>
            <a:ext cx="1719015" cy="240062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C329A15D-B8DB-6EF8-B32A-0EF4465320C9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4DD6911-710E-C3C5-8697-618F59C4148E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77006A1-9567-FE3A-6119-C5C8AF7569E9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3DD9861-EB03-388C-5B04-4F123EC532AD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CA04C2-65DC-4066-6974-B56811F469E7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1308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-無水平線-右下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C44F6C6-6AC3-403B-84C8-114B9465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392328"/>
            <a:ext cx="7402286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投影片編號版面配置區 4">
            <a:extLst>
              <a:ext uri="{FF2B5EF4-FFF2-40B4-BE49-F238E27FC236}">
                <a16:creationId xmlns:a16="http://schemas.microsoft.com/office/drawing/2014/main" id="{C583D2BC-81BF-76E1-81AC-67E8CA883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885738-BF2A-2B1B-CBB4-5DBCB7B9D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C73494A8-F5E2-D261-01FC-D3F70BD008F7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1F752FB-0866-21FA-3D1A-129DA2C347BA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FB0EF83-52D3-2467-05C2-C2989CDA7D56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60AE42-FC2C-79B6-D9B2-8FA865FF0D5C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F089A73-A489-BA9D-212D-AC0F9B680054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5967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結尾簡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CB6D451B-6506-4EB1-BD74-155B27D525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9636" y="1984076"/>
            <a:ext cx="5243166" cy="97298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編輯標題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6BFCFA0-6049-4F7D-8A3C-645947D213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6904" y="3506847"/>
            <a:ext cx="2967327" cy="491628"/>
          </a:xfrm>
          <a:prstGeom prst="rect">
            <a:avLst/>
          </a:prstGeom>
        </p:spPr>
      </p:pic>
      <p:pic>
        <p:nvPicPr>
          <p:cNvPr id="9" name="圖片 8" descr="一張含有 字型, 圖形, 螢幕擷取畫面, 文字 的圖片&#10;&#10;自動產生的描述">
            <a:extLst>
              <a:ext uri="{FF2B5EF4-FFF2-40B4-BE49-F238E27FC236}">
                <a16:creationId xmlns:a16="http://schemas.microsoft.com/office/drawing/2014/main" id="{24CF1648-19A8-D5D0-D2BE-C111FB6421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895" y="6169069"/>
            <a:ext cx="2307374" cy="284862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2AFB00-EEE2-F8E9-F0FC-22CF3856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387002"/>
            <a:ext cx="2728964" cy="2207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8A9B8B9-DCF6-2BB9-1BE0-9EC9238EB8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6252" y="4133688"/>
            <a:ext cx="2968631" cy="414572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F0362AD9-C2B6-3948-A02D-79DB1299CAE4}"/>
              </a:ext>
            </a:extLst>
          </p:cNvPr>
          <p:cNvGrpSpPr/>
          <p:nvPr userDrawn="1"/>
        </p:nvGrpSpPr>
        <p:grpSpPr>
          <a:xfrm rot="16200000">
            <a:off x="7910652" y="4862649"/>
            <a:ext cx="60957" cy="3929743"/>
            <a:chOff x="9844490" y="759117"/>
            <a:chExt cx="61510" cy="480236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87B906E-B7A0-3452-AF8A-BCC96197C7CA}"/>
                </a:ext>
              </a:extLst>
            </p:cNvPr>
            <p:cNvSpPr/>
            <p:nvPr userDrawn="1"/>
          </p:nvSpPr>
          <p:spPr>
            <a:xfrm>
              <a:off x="9844490" y="759117"/>
              <a:ext cx="61510" cy="1164566"/>
            </a:xfrm>
            <a:prstGeom prst="rect">
              <a:avLst/>
            </a:prstGeom>
            <a:solidFill>
              <a:srgbClr val="CA09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DCEA139-579F-6AC4-F371-928AFAE07BBD}"/>
                </a:ext>
              </a:extLst>
            </p:cNvPr>
            <p:cNvSpPr/>
            <p:nvPr userDrawn="1"/>
          </p:nvSpPr>
          <p:spPr>
            <a:xfrm>
              <a:off x="9844490" y="1971718"/>
              <a:ext cx="61510" cy="1164566"/>
            </a:xfrm>
            <a:prstGeom prst="rect">
              <a:avLst/>
            </a:prstGeom>
            <a:solidFill>
              <a:srgbClr val="F18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48FFFD2-721C-7DF7-E987-895D480CB820}"/>
                </a:ext>
              </a:extLst>
            </p:cNvPr>
            <p:cNvSpPr/>
            <p:nvPr userDrawn="1"/>
          </p:nvSpPr>
          <p:spPr>
            <a:xfrm>
              <a:off x="9844490" y="3184319"/>
              <a:ext cx="61510" cy="1164566"/>
            </a:xfrm>
            <a:prstGeom prst="rect">
              <a:avLst/>
            </a:prstGeom>
            <a:solidFill>
              <a:srgbClr val="3C9E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0C9AF75-DCEB-C2AB-DB06-5A857486CC16}"/>
                </a:ext>
              </a:extLst>
            </p:cNvPr>
            <p:cNvSpPr/>
            <p:nvPr userDrawn="1"/>
          </p:nvSpPr>
          <p:spPr>
            <a:xfrm>
              <a:off x="9844490" y="4396919"/>
              <a:ext cx="61510" cy="1164566"/>
            </a:xfrm>
            <a:prstGeom prst="rect">
              <a:avLst/>
            </a:prstGeom>
            <a:solidFill>
              <a:srgbClr val="146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</p:grpSp>
      <p:pic>
        <p:nvPicPr>
          <p:cNvPr id="22" name="圖片 21">
            <a:extLst>
              <a:ext uri="{FF2B5EF4-FFF2-40B4-BE49-F238E27FC236}">
                <a16:creationId xmlns:a16="http://schemas.microsoft.com/office/drawing/2014/main" id="{9B55A9D2-043E-FDE1-9F94-9CB2FDD3CC9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3718577" y="342328"/>
            <a:ext cx="6187423" cy="849964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FCC5F36-D6A9-103D-A96B-A18D324F0C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192" y="5494683"/>
            <a:ext cx="6187423" cy="84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4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05240"/>
            <a:ext cx="8543925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編輯標題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3887" y="1284514"/>
            <a:ext cx="7641770" cy="4892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4AFBE8-F68C-4C19-A5EF-A4EE2C2E4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2106" y="6486388"/>
            <a:ext cx="2616504" cy="242705"/>
          </a:xfrm>
          <a:prstGeom prst="rect">
            <a:avLst/>
          </a:prstGeom>
        </p:spPr>
        <p:txBody>
          <a:bodyPr/>
          <a:lstStyle>
            <a:lvl1pPr>
              <a:defRPr lang="zh-TW" altLang="en-US" sz="800" smtClean="0">
                <a:solidFill>
                  <a:schemeClr val="bg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DE722ADE-5D43-CA13-589A-065FCC8E9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66391"/>
            <a:ext cx="429306" cy="270289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0BF0995-13CC-46C9-9B56-390823875C0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04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49" r:id="rId3"/>
    <p:sldLayoutId id="2147483732" r:id="rId4"/>
    <p:sldLayoutId id="2147483784" r:id="rId5"/>
    <p:sldLayoutId id="2147483733" r:id="rId6"/>
    <p:sldLayoutId id="2147483768" r:id="rId7"/>
    <p:sldLayoutId id="2147483769" r:id="rId8"/>
    <p:sldLayoutId id="2147483779" r:id="rId9"/>
    <p:sldLayoutId id="2147483741" r:id="rId10"/>
    <p:sldLayoutId id="2147483781" r:id="rId11"/>
    <p:sldLayoutId id="2147483765" r:id="rId12"/>
    <p:sldLayoutId id="2147483766" r:id="rId13"/>
    <p:sldLayoutId id="2147483767" r:id="rId14"/>
    <p:sldLayoutId id="2147483780" r:id="rId15"/>
    <p:sldLayoutId id="2147483757" r:id="rId16"/>
    <p:sldLayoutId id="2147483782" r:id="rId17"/>
    <p:sldLayoutId id="2147483822" r:id="rId18"/>
    <p:sldLayoutId id="2147483832" r:id="rId19"/>
  </p:sldLayoutIdLst>
  <p:hf hdr="0" dt="0"/>
  <p:txStyles>
    <p:titleStyle>
      <a:lvl1pPr algn="ctr" defTabSz="60364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61950" indent="-361950" algn="l" defTabSz="603647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30238" indent="-328613" algn="l" defTabSz="603647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微軟正黑體" panose="020B0604030504040204" pitchFamily="34" charset="-120"/>
        <a:buChar char="─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896938" indent="-293688" algn="l" defTabSz="603647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165225" indent="-260350" algn="l" defTabSz="603647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Wingdings" panose="05000000000000000000" pitchFamily="2" charset="2"/>
        <a:buChar char="p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1436688" indent="-230188" algn="l" defTabSz="603647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660029" indent="-150912" algn="l" defTabSz="603647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6pPr>
      <a:lvl7pPr marL="1961853" indent="-150912" algn="l" defTabSz="603647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7pPr>
      <a:lvl8pPr marL="2263676" indent="-150912" algn="l" defTabSz="603647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8pPr>
      <a:lvl9pPr marL="2565500" indent="-150912" algn="l" defTabSz="603647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1pPr>
      <a:lvl2pPr marL="301823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2pPr>
      <a:lvl3pPr marL="603647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3pPr>
      <a:lvl4pPr marL="905470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4pPr>
      <a:lvl5pPr marL="1207294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5pPr>
      <a:lvl6pPr marL="1509117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6pPr>
      <a:lvl7pPr marL="1810941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7pPr>
      <a:lvl8pPr marL="2112764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8pPr>
      <a:lvl9pPr marL="2414588" algn="l" defTabSz="603647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downloads/?_gl=1*nx8art*_gcl_au*NDQzNjg2MjM4LjE3NjQ2MTY0NDE.#Redis_Insigh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hom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zh-Hant/api/pricin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youtube.com/watch?v=v3Fr2JR47KA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odelcontextprotocol.info/zh-tw/blog/understanding-mcp-protocol/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getting-started/intro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contextprotocol/inspector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contextprotocol/java-sdk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ai/reference/api/mcp/mcp-server-boot-starter-docs.html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spring-projects/spring-ai-examples/tree/main/model-context-protocol/weather/starter-webflux-server" TargetMode="External"/><Relationship Id="rId4" Type="http://schemas.openxmlformats.org/officeDocument/2006/relationships/hyperlink" Target="https://github.com/spring-projects/spring-ai-examples/tree/main/model-context-protocol/client-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contextprotocol/inspector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odelcontextprotocol.io/docs/getting-started/intro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4.png"/><Relationship Id="rId5" Type="http://schemas.openxmlformats.org/officeDocument/2006/relationships/slide" Target="slide28.xml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1.png"/><Relationship Id="rId4" Type="http://schemas.openxmlformats.org/officeDocument/2006/relationships/hyperlink" Target="https://docs.spring.io/spring-ai/reference/api/advisors.html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3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4.png"/><Relationship Id="rId5" Type="http://schemas.openxmlformats.org/officeDocument/2006/relationships/image" Target="../media/image104.png"/><Relationship Id="rId4" Type="http://schemas.openxmlformats.org/officeDocument/2006/relationships/slide" Target="slide2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3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4.png"/><Relationship Id="rId5" Type="http://schemas.openxmlformats.org/officeDocument/2006/relationships/image" Target="../media/image104.png"/><Relationship Id="rId4" Type="http://schemas.openxmlformats.org/officeDocument/2006/relationships/slide" Target="slide2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3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23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4.png"/><Relationship Id="rId5" Type="http://schemas.openxmlformats.org/officeDocument/2006/relationships/image" Target="../media/image104.png"/><Relationship Id="rId4" Type="http://schemas.openxmlformats.org/officeDocument/2006/relationships/slide" Target="slide28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9.png"/><Relationship Id="rId5" Type="http://schemas.openxmlformats.org/officeDocument/2006/relationships/hyperlink" Target="http://localhost:8080/" TargetMode="External"/><Relationship Id="rId4" Type="http://schemas.openxmlformats.org/officeDocument/2006/relationships/image" Target="../media/image14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wt.io/" TargetMode="Externa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2.png"/><Relationship Id="rId4" Type="http://schemas.openxmlformats.org/officeDocument/2006/relationships/image" Target="../media/image15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987/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8.png"/><Relationship Id="rId4" Type="http://schemas.openxmlformats.org/officeDocument/2006/relationships/image" Target="../media/image16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8.png"/><Relationship Id="rId5" Type="http://schemas.openxmlformats.org/officeDocument/2006/relationships/image" Target="../media/image138.png"/><Relationship Id="rId4" Type="http://schemas.openxmlformats.org/officeDocument/2006/relationships/hyperlink" Target="http://localhost:8987/" TargetMode="Externa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5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45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58.png"/><Relationship Id="rId9" Type="http://schemas.openxmlformats.org/officeDocument/2006/relationships/image" Target="../media/image199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45.png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1.png"/><Relationship Id="rId5" Type="http://schemas.openxmlformats.org/officeDocument/2006/relationships/image" Target="../media/image193.png"/><Relationship Id="rId4" Type="http://schemas.openxmlformats.org/officeDocument/2006/relationships/image" Target="../media/image20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4.png"/><Relationship Id="rId4" Type="http://schemas.openxmlformats.org/officeDocument/2006/relationships/image" Target="../media/image20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7" Type="http://schemas.openxmlformats.org/officeDocument/2006/relationships/image" Target="../media/image20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mailto:mc.chen@iisigroup.com" TargetMode="Externa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14.png"/><Relationship Id="rId4" Type="http://schemas.openxmlformats.org/officeDocument/2006/relationships/hyperlink" Target="mailto:yujie.Jheng@iisigroup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6">
            <a:extLst>
              <a:ext uri="{FF2B5EF4-FFF2-40B4-BE49-F238E27FC236}">
                <a16:creationId xmlns:a16="http://schemas.microsoft.com/office/drawing/2014/main" id="{BFF7D346-FCF3-41D5-8AAD-BC1EEC2486F0}"/>
              </a:ext>
            </a:extLst>
          </p:cNvPr>
          <p:cNvSpPr/>
          <p:nvPr/>
        </p:nvSpPr>
        <p:spPr>
          <a:xfrm>
            <a:off x="1079500" y="3133166"/>
            <a:ext cx="4714718" cy="245034"/>
          </a:xfrm>
          <a:prstGeom prst="parallelogram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id="{60B4EAD2-A760-46E1-F789-A7FB04EB4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4" y="2445329"/>
            <a:ext cx="6012625" cy="955188"/>
          </a:xfrm>
        </p:spPr>
        <p:txBody>
          <a:bodyPr/>
          <a:lstStyle/>
          <a:p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動手做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b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用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打造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服務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0ABB3841-46F3-B4EC-4CE3-2ABC9A65CA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3245" y="5034143"/>
            <a:ext cx="2046114" cy="375986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陳民錞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鄭宇傑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67C6BD-281C-4917-A647-9B157310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6633E6F0-FDE1-FC53-F54F-53F74902344A}"/>
              </a:ext>
            </a:extLst>
          </p:cNvPr>
          <p:cNvSpPr txBox="1">
            <a:spLocks/>
          </p:cNvSpPr>
          <p:nvPr/>
        </p:nvSpPr>
        <p:spPr>
          <a:xfrm>
            <a:off x="6309359" y="2102839"/>
            <a:ext cx="2366847" cy="23868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60364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rgbClr val="1E4660"/>
              </a:buClr>
              <a:buSzPct val="6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533400" indent="-231775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1E4660"/>
              </a:buClr>
              <a:buSzPct val="60000"/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04863" indent="-201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1E466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077913" indent="-17303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1E466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1E466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2289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</a:rPr>
              <a:t>課前準備</a:t>
            </a:r>
            <a:endParaRPr lang="zh-TW" altLang="en-US" dirty="0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57353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Chocolatey (2.6.0)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WSL2 (2.6.1)</a:t>
            </a:r>
          </a:p>
          <a:p>
            <a:pPr>
              <a:buSzPct val="50000"/>
            </a:pP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Desktop (1.25.1)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(21.48.17)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(3.8.1)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(2.53.0)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(11.46.6)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(22.17.1)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Insight (3.4.2)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Fiddler classic (5.0.20253.3311)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(2025.1.4.1)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若無免費額度則需要付費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B7A5FE-57CE-4453-AB79-0BCA5C2B18C6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FF713DF-158C-4BCB-BD0F-5E675D47699A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D3E23A-5164-4B7F-BD6C-6E0B4ECF341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EC0D911-6AED-42B0-B3FC-5EE008FAC72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E4B5EA-3099-4B87-97B0-5EF990222CA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B6CAF-319F-4ADC-8130-97A389E11F0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45917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17" y="188272"/>
            <a:ext cx="7965380" cy="68619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Chocolatey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(2.6.0)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41887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查看版本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若有安裝即執行升級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若無安裝即執行下列指令執行安裝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查看安裝結果或問題紀錄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409888-8EF8-4783-8715-7BE6E99257DD}"/>
              </a:ext>
            </a:extLst>
          </p:cNvPr>
          <p:cNvSpPr/>
          <p:nvPr/>
        </p:nvSpPr>
        <p:spPr>
          <a:xfrm>
            <a:off x="928501" y="4061330"/>
            <a:ext cx="7965380" cy="8595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Set-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ExecutionPolicy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Bypass -Scope Process -Force; [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System.Net.ServicePointManager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]::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SecurityProtocol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= [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System.Net.ServicePointManager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]::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SecurityProtocol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-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bor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3072;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iex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((New-Object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System.Net.WebClient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).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DownloadString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('https://community.chocolatey.org/install.ps1'))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2856E6-3AB5-40CB-BF4D-D51AF7E1B330}"/>
              </a:ext>
            </a:extLst>
          </p:cNvPr>
          <p:cNvSpPr/>
          <p:nvPr/>
        </p:nvSpPr>
        <p:spPr>
          <a:xfrm>
            <a:off x="886691" y="2110113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-v</a:t>
            </a:r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2.6.0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8AC449-B815-4534-B7E0-A8424554BDB3}"/>
              </a:ext>
            </a:extLst>
          </p:cNvPr>
          <p:cNvSpPr/>
          <p:nvPr/>
        </p:nvSpPr>
        <p:spPr>
          <a:xfrm>
            <a:off x="886691" y="5436346"/>
            <a:ext cx="7965380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Chocolatey upgraded 1/1 packages.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See the log for details (C:\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ProgramData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\chocolatey\logs\chocolatey.log).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C69602-D6E9-43D2-83BB-5B3C9266F40C}"/>
              </a:ext>
            </a:extLst>
          </p:cNvPr>
          <p:cNvSpPr/>
          <p:nvPr/>
        </p:nvSpPr>
        <p:spPr>
          <a:xfrm>
            <a:off x="928501" y="3113799"/>
            <a:ext cx="7965380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upgrade -y chocolatey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FBF97A-7B10-47BB-BFC2-5866EFCBC3D6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BDF0E99-0AA7-41A4-AC7E-3B0D28F12B94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835B9B-ECF5-43C0-8193-886D4722CEB2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99ACE8-F087-4781-8533-13ABF51931A7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DF840F-437F-4FED-99B2-F923D257711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AD12178-1BE0-4F24-90BC-ABD7170A1EC0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56658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933" y="198765"/>
            <a:ext cx="7965380" cy="68619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WSL2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(2.6.1)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若有安裝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,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即執行升級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將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VM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預設之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版本設定為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檢查是否存在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VM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若無存在任何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WSL VM ,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預設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 OS : Ubuntu)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C0D16-4CAA-467B-BA6F-875E5E72EAC1}"/>
              </a:ext>
            </a:extLst>
          </p:cNvPr>
          <p:cNvSpPr/>
          <p:nvPr/>
        </p:nvSpPr>
        <p:spPr>
          <a:xfrm>
            <a:off x="886691" y="2122920"/>
            <a:ext cx="7965380" cy="16157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wsl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-v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WSL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2.6.1.0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核心版本：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6.6.87.2-1</a:t>
            </a:r>
          </a:p>
          <a:p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WSLg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1.0.66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MSRDC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1.2.6353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Direct3D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1.611.1-81528511</a:t>
            </a:r>
          </a:p>
          <a:p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DXCore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10.0.26100.1-240331-1435.ge-release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Windows 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版本：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10.0.26100.7840</a:t>
            </a:r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9C5DA4-FDD5-4339-A1EF-30D39E9B5151}"/>
              </a:ext>
            </a:extLst>
          </p:cNvPr>
          <p:cNvSpPr/>
          <p:nvPr/>
        </p:nvSpPr>
        <p:spPr>
          <a:xfrm>
            <a:off x="886691" y="6095431"/>
            <a:ext cx="7965380" cy="3181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wsl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--install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6A657E-5436-4E90-A198-32BD9E9581D7}"/>
              </a:ext>
            </a:extLst>
          </p:cNvPr>
          <p:cNvSpPr/>
          <p:nvPr/>
        </p:nvSpPr>
        <p:spPr>
          <a:xfrm>
            <a:off x="863382" y="4123818"/>
            <a:ext cx="7787384" cy="3181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wsl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</a:rPr>
              <a:t> --update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5C31E3-B53F-46B3-91D9-75A7278E7F89}"/>
              </a:ext>
            </a:extLst>
          </p:cNvPr>
          <p:cNvSpPr/>
          <p:nvPr/>
        </p:nvSpPr>
        <p:spPr>
          <a:xfrm>
            <a:off x="875933" y="4781963"/>
            <a:ext cx="7951312" cy="3181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wsl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--set-default-version 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BD8644-39E6-481B-B6A0-4C441B685874}"/>
              </a:ext>
            </a:extLst>
          </p:cNvPr>
          <p:cNvSpPr/>
          <p:nvPr/>
        </p:nvSpPr>
        <p:spPr>
          <a:xfrm>
            <a:off x="910000" y="5471377"/>
            <a:ext cx="7965380" cy="3181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wsl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-l -v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85E733-1F99-4B53-90AF-DF5A79276437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8054458-A2B6-46C2-AA7E-390CC0E9555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6E17103-E244-4000-927C-A7A4FA29D06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0E59472-7141-456D-B28F-2504A18268D1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E643EEB-D961-4C91-AF4F-23DFBF20E6D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BF41FFE-0504-485A-8E1B-3607A25124B4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11342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7965380" cy="2076723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 Desktop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 Desktop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進入主頁面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C0D16-4CAA-467B-BA6F-875E5E72EAC1}"/>
              </a:ext>
            </a:extLst>
          </p:cNvPr>
          <p:cNvSpPr/>
          <p:nvPr/>
        </p:nvSpPr>
        <p:spPr>
          <a:xfrm>
            <a:off x="886691" y="2203981"/>
            <a:ext cx="7965380" cy="4513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/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200" kern="1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choco</a:t>
            </a:r>
            <a:r>
              <a:rPr lang="en-US" altLang="zh-TW" sz="1200" kern="1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install </a:t>
            </a:r>
            <a:r>
              <a:rPr lang="en-US" altLang="zh-TW" sz="1200" kern="1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podman</a:t>
            </a:r>
            <a:r>
              <a:rPr lang="en-US" altLang="zh-TW" sz="1200" kern="1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-desktop -y --version=1.25.1</a:t>
            </a:r>
            <a:endParaRPr lang="zh-TW" altLang="zh-TW" sz="1200" kern="100" dirty="0">
              <a:solidFill>
                <a:schemeClr val="tx1"/>
              </a:solidFill>
              <a:effectLst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501D2D-E0D6-4A84-A452-77D285E2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394" y="3630595"/>
            <a:ext cx="3305207" cy="2076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75AD5DC-CC78-400A-B18F-BD493BAD4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375" y="3627938"/>
            <a:ext cx="4029271" cy="2076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橢圓 16">
            <a:extLst>
              <a:ext uri="{FF2B5EF4-FFF2-40B4-BE49-F238E27FC236}">
                <a16:creationId xmlns:a16="http://schemas.microsoft.com/office/drawing/2014/main" id="{C84AEC7D-AAD8-442A-A69C-F38DC5F2208A}"/>
              </a:ext>
            </a:extLst>
          </p:cNvPr>
          <p:cNvSpPr/>
          <p:nvPr/>
        </p:nvSpPr>
        <p:spPr>
          <a:xfrm>
            <a:off x="1011418" y="345061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AD20F515-243A-4697-A1BF-D092ADE476F0}"/>
              </a:ext>
            </a:extLst>
          </p:cNvPr>
          <p:cNvSpPr/>
          <p:nvPr/>
        </p:nvSpPr>
        <p:spPr>
          <a:xfrm>
            <a:off x="4953000" y="340833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DB51BA3C-A68C-44AF-9458-2A48CD77E598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63E2C4-460F-43C0-9808-E5D0C8D24E36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6943B76-84C2-48FD-8F6D-9CE2F6134F72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11990B-0E06-4724-812B-72392121F8A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E47A21B-562B-4B84-998C-92ABE8AD20C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BD0F13C-5EC2-4B10-B64B-DD836D2F73B7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5B4288B-619D-4575-837B-00F980E9B590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57467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7965380" cy="711171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 &gt; Resource &gt; Podman &gt; Setup…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14EE58-5FFC-4996-9614-74164DD15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19" y="2324763"/>
            <a:ext cx="4874612" cy="26380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CF372D69-072E-4CE1-B8AC-D34E19A71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619" y="3566279"/>
            <a:ext cx="4588644" cy="26853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0C103D6C-29C8-41D6-B189-5B6B1E40E257}"/>
              </a:ext>
            </a:extLst>
          </p:cNvPr>
          <p:cNvSpPr/>
          <p:nvPr/>
        </p:nvSpPr>
        <p:spPr>
          <a:xfrm>
            <a:off x="4826667" y="339112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9E755BD-6B84-463F-9BEF-6B7A11F90EFD}"/>
              </a:ext>
            </a:extLst>
          </p:cNvPr>
          <p:cNvSpPr/>
          <p:nvPr/>
        </p:nvSpPr>
        <p:spPr>
          <a:xfrm>
            <a:off x="181178" y="2105907"/>
            <a:ext cx="220763" cy="220763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474B6BA6-D09F-4106-9B42-311336FD91B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C49FEC-E774-4432-A0A5-62B191E40E23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2752EA3-1478-44D7-AF08-B8EE107C360A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7FC56F-C3A7-4BB5-99B8-4A1010F6ADA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AD343F-C2EB-49A5-AE9E-0658F9E7882A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ECB664-0CF4-4C78-8BE6-BD719EBDDB2A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AE0AC19-4ECF-4DBA-981E-12F2CAD78B3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91935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7965380" cy="1231514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選擇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Linux Subsystem (WSL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v2)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並點選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Finish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7D5A04A-5EED-455B-8BA3-1F8B261475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82"/>
          <a:stretch/>
        </p:blipFill>
        <p:spPr>
          <a:xfrm>
            <a:off x="429486" y="2752825"/>
            <a:ext cx="3195000" cy="12315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715A56D-2EC0-4CDF-8CE5-8358CE73B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913" y="3817314"/>
            <a:ext cx="3195000" cy="24872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BC3AC51-052B-4624-8E72-84102D3FFCCA}"/>
              </a:ext>
            </a:extLst>
          </p:cNvPr>
          <p:cNvPicPr/>
          <p:nvPr/>
        </p:nvPicPr>
        <p:blipFill rotWithShape="1">
          <a:blip r:embed="rId5"/>
          <a:srcRect l="1625" r="2372"/>
          <a:stretch/>
        </p:blipFill>
        <p:spPr>
          <a:xfrm>
            <a:off x="6281515" y="3830852"/>
            <a:ext cx="3069612" cy="2460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橢圓 14">
            <a:extLst>
              <a:ext uri="{FF2B5EF4-FFF2-40B4-BE49-F238E27FC236}">
                <a16:creationId xmlns:a16="http://schemas.microsoft.com/office/drawing/2014/main" id="{F04CB86C-CA28-4434-9DD1-9CC2E2CE0644}"/>
              </a:ext>
            </a:extLst>
          </p:cNvPr>
          <p:cNvSpPr/>
          <p:nvPr/>
        </p:nvSpPr>
        <p:spPr>
          <a:xfrm>
            <a:off x="235777" y="2539865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DD8EC5E-CA8E-436C-BECA-F30C694EA5D2}"/>
              </a:ext>
            </a:extLst>
          </p:cNvPr>
          <p:cNvSpPr/>
          <p:nvPr/>
        </p:nvSpPr>
        <p:spPr>
          <a:xfrm>
            <a:off x="2698485" y="3585103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FD1BFFC-62CC-4BB9-81C3-D1E6A7EE7D5D}"/>
              </a:ext>
            </a:extLst>
          </p:cNvPr>
          <p:cNvSpPr/>
          <p:nvPr/>
        </p:nvSpPr>
        <p:spPr>
          <a:xfrm>
            <a:off x="6135341" y="3593505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B48B2C27-70FF-441B-8DC8-9E7E82F507D5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9F8747-29C8-406B-8F88-85735251677E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FAE79F1-4F27-4CD2-85B0-000D40E2373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4BFA60-6D17-4BEF-BB0F-AB9E00C80CA8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B31991C-6115-4539-B35D-7CB5EAC8CAAF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4CE3D9-B428-4575-B84C-2D2E770606C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709C688-17FE-48C6-BB6C-C8D42DF88A95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59079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3934665" cy="1680259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&gt;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&gt;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齒輪設定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確認 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Autostart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設定為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狀態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 machine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F56EEC-B152-430D-BEA0-06F470737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6" y="3988606"/>
            <a:ext cx="3976099" cy="216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52F8605-4733-45E7-A22E-BBEA5DFED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645" y="1552140"/>
            <a:ext cx="3683761" cy="21812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FACE394-8571-4141-AC06-74856A05A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645" y="4012801"/>
            <a:ext cx="3667013" cy="216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橢圓 14">
            <a:extLst>
              <a:ext uri="{FF2B5EF4-FFF2-40B4-BE49-F238E27FC236}">
                <a16:creationId xmlns:a16="http://schemas.microsoft.com/office/drawing/2014/main" id="{3A56D426-C29C-4A12-BD92-68D93A6BB279}"/>
              </a:ext>
            </a:extLst>
          </p:cNvPr>
          <p:cNvSpPr/>
          <p:nvPr/>
        </p:nvSpPr>
        <p:spPr>
          <a:xfrm>
            <a:off x="481237" y="377564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E1D4FEC-F0C7-45D6-B78C-C3D0E3494CDA}"/>
              </a:ext>
            </a:extLst>
          </p:cNvPr>
          <p:cNvSpPr/>
          <p:nvPr/>
        </p:nvSpPr>
        <p:spPr>
          <a:xfrm>
            <a:off x="4881312" y="136011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38ED3149-78C6-4027-8440-41876DDFD3F6}"/>
              </a:ext>
            </a:extLst>
          </p:cNvPr>
          <p:cNvSpPr/>
          <p:nvPr/>
        </p:nvSpPr>
        <p:spPr>
          <a:xfrm>
            <a:off x="4900562" y="379032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7E0B05AF-C2A7-4D36-8739-2DD3FAABC86B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43A2EA-52E5-442F-895D-632D1C24A61B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AC5159C-2797-49C7-BE71-1D4FFE38A3B1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6AC31B-50FE-443A-8327-12C12F7BC470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660BCE3-8561-457B-B899-5039121C7348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04E2EF-7D8E-4A8C-B41B-1B1ABA63FFE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D53957F-2734-4527-96FB-D95885D5875A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14066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1012952"/>
          </a:xfrm>
        </p:spPr>
        <p:txBody>
          <a:bodyPr>
            <a:normAutofit lnSpcReduction="10000"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執行建立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 machine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安裝成功畫面如圖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所示，點選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back resources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 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狀態為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5AFC2D9-11F5-4EB7-855C-91613DFFF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54" y="2563379"/>
            <a:ext cx="4387048" cy="22803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9C41A92-E1E5-4671-948A-059F10F1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347" y="2482293"/>
            <a:ext cx="4414856" cy="23305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F4721C1-4BD4-4EF7-8B72-9EB5F946F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050" y="4708637"/>
            <a:ext cx="2935145" cy="20049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橢圓 20">
            <a:extLst>
              <a:ext uri="{FF2B5EF4-FFF2-40B4-BE49-F238E27FC236}">
                <a16:creationId xmlns:a16="http://schemas.microsoft.com/office/drawing/2014/main" id="{4C6BF898-A793-4DC7-AAB4-16663F233A0C}"/>
              </a:ext>
            </a:extLst>
          </p:cNvPr>
          <p:cNvSpPr/>
          <p:nvPr/>
        </p:nvSpPr>
        <p:spPr>
          <a:xfrm>
            <a:off x="66428" y="233807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473E46D-7BDA-4FEC-8CD4-F5C5346AEC15}"/>
              </a:ext>
            </a:extLst>
          </p:cNvPr>
          <p:cNvSpPr/>
          <p:nvPr/>
        </p:nvSpPr>
        <p:spPr>
          <a:xfrm>
            <a:off x="4830168" y="227867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7FAAC11D-9B05-43DA-9E3C-4E71B7B30D31}"/>
              </a:ext>
            </a:extLst>
          </p:cNvPr>
          <p:cNvSpPr/>
          <p:nvPr/>
        </p:nvSpPr>
        <p:spPr>
          <a:xfrm>
            <a:off x="3256419" y="452973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FA505E4D-46A9-4273-8866-0705AA51C8E5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D0B730-A905-4C2C-93B4-CB14C4D885B4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D9CAEE7-E639-438B-A225-95EA1808F7B1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4EBC6C-FA24-4BB4-B06D-FCFD5D3D9B92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82978D1-05DA-4981-B6B7-FC212E0E405C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EE973C-6BDA-4124-9F5B-988D244C9700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2B749AC-13C6-4F00-9497-361607ED0F47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04716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以刷新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安裝版本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功能測試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26A7B2-DD55-47E8-BD90-3B83D148E17D}"/>
              </a:ext>
            </a:extLst>
          </p:cNvPr>
          <p:cNvSpPr/>
          <p:nvPr/>
        </p:nvSpPr>
        <p:spPr>
          <a:xfrm>
            <a:off x="913986" y="2387336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podman -v</a:t>
            </a:r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podman version 5.7.1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335E22-E700-427D-A815-BF7EA3387853}"/>
              </a:ext>
            </a:extLst>
          </p:cNvPr>
          <p:cNvSpPr/>
          <p:nvPr/>
        </p:nvSpPr>
        <p:spPr>
          <a:xfrm>
            <a:off x="886691" y="3601639"/>
            <a:ext cx="8048999" cy="9992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podman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CONTAINER ID  IMAGE       COMMAND     CREATED     STATUS      PORTS       NAMES</a:t>
            </a:r>
          </a:p>
          <a:p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podman images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REPOSITORY  TAG         IMAGE ID    CREATED     SIZE</a:t>
            </a:r>
            <a:endParaRPr lang="zh-TW" altLang="en-US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5DA45621-F1A1-4AB3-85D9-B8318BDEC976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Podman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(1.25.1)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EA7224-2CF4-4976-B76B-76BD6FF586FE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56C2931-0249-44E6-8419-2F9F58857A45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BF4E84-020D-49B2-9F14-F46FD16F168F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858992B-EBE7-4B00-AAD4-1C5ED700417A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C901D8-64B1-47B4-BE5E-659F4B50B2CE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4633A34-B0CA-420B-BAD9-1D7401C3EFBA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003089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21</a:t>
            </a: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A168E7-687C-4068-860D-7D79E1556CC6}"/>
              </a:ext>
            </a:extLst>
          </p:cNvPr>
          <p:cNvSpPr/>
          <p:nvPr/>
        </p:nvSpPr>
        <p:spPr>
          <a:xfrm>
            <a:off x="886691" y="2222723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zulu -y --version=21.48.17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5DAAF7-5376-4F17-8B1C-D26E7603BFFB}"/>
              </a:ext>
            </a:extLst>
          </p:cNvPr>
          <p:cNvSpPr/>
          <p:nvPr/>
        </p:nvSpPr>
        <p:spPr>
          <a:xfrm>
            <a:off x="885689" y="3185162"/>
            <a:ext cx="8048999" cy="8403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java –version</a:t>
            </a:r>
          </a:p>
          <a:p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openjdk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version "21.0.10" 2026-01-20 LTS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OpenJDK Runtime Environment Zulu21.48+17-CA (build 21.0.10+7-LTS)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OpenJDK 64-Bit Server VM Zulu21.48+17-CA (build 21.0.10+7-LTS, mixed mode, sharing)</a:t>
            </a: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E30A61E9-EEF1-4408-B3CD-0762F27C877F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(21)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ADED72-743D-432F-A40F-D0432F255CDB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535667D-1C50-48D2-97EF-FE7E008B2D9B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6BFEEA-E456-4D63-A87F-F3322CA005E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A476BC4-11C3-4383-8962-577651D224CC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A612A3-367A-4280-8B7B-CE752631B35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AA97BEF-FE43-4CF6-B8D0-1EB9878991EB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05238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A168E7-687C-4068-860D-7D79E1556CC6}"/>
              </a:ext>
            </a:extLst>
          </p:cNvPr>
          <p:cNvSpPr/>
          <p:nvPr/>
        </p:nvSpPr>
        <p:spPr>
          <a:xfrm>
            <a:off x="886691" y="2213198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maven -y --version=3.8.1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5DAAF7-5376-4F17-8B1C-D26E7603BFFB}"/>
              </a:ext>
            </a:extLst>
          </p:cNvPr>
          <p:cNvSpPr/>
          <p:nvPr/>
        </p:nvSpPr>
        <p:spPr>
          <a:xfrm>
            <a:off x="875933" y="3194933"/>
            <a:ext cx="8048999" cy="12471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mvn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–v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Apache Maven 3.8.1 (dfbb324ad4a7c8fb0bf182e6d91b0ae20e3d2dd9)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Maven home: C:\ProgramData\chocolatey\lib\maven\apache-maven-3.8.1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Java version: 21.0.10, vendor: Azul Systems, Inc., runtime: C:\Program Files\Zulu\zulu-21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Default locale: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zh_TW</a:t>
            </a:r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, platform encoding: UTF-8</a:t>
            </a:r>
          </a:p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OS name: "windows 11", version: "10.0", arch: "amd64", family: "windows"</a:t>
            </a:r>
          </a:p>
        </p:txBody>
      </p:sp>
      <p:sp>
        <p:nvSpPr>
          <p:cNvPr id="22" name="標題 1">
            <a:extLst>
              <a:ext uri="{FF2B5EF4-FFF2-40B4-BE49-F238E27FC236}">
                <a16:creationId xmlns:a16="http://schemas.microsoft.com/office/drawing/2014/main" id="{6EED7F37-AB7A-4DED-845B-B03F5BA4BDB6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(3.8.1)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5A1EFC-813E-4B30-B033-34320144073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B20FFD6-79FC-46A5-864C-361238F68CEB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7E563-93F2-4C78-A93A-32A3297798D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A2BC26-A08C-495A-B587-03AFD45AD0F9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5AC7E5-DFC5-4D21-A4D9-4CB60AED94A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C808A0E-B579-4561-96BB-E0E89F23614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59493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後執行下列指令進行安裝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版本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A168E7-687C-4068-860D-7D79E1556CC6}"/>
              </a:ext>
            </a:extLst>
          </p:cNvPr>
          <p:cNvSpPr/>
          <p:nvPr/>
        </p:nvSpPr>
        <p:spPr>
          <a:xfrm>
            <a:off x="921942" y="2211920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nvm -y --version=1.2.2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5DAAF7-5376-4F17-8B1C-D26E7603BFFB}"/>
              </a:ext>
            </a:extLst>
          </p:cNvPr>
          <p:cNvSpPr/>
          <p:nvPr/>
        </p:nvSpPr>
        <p:spPr>
          <a:xfrm>
            <a:off x="932958" y="4897663"/>
            <a:ext cx="8048999" cy="4505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node -v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" name="標題 1">
            <a:extLst>
              <a:ext uri="{FF2B5EF4-FFF2-40B4-BE49-F238E27FC236}">
                <a16:creationId xmlns:a16="http://schemas.microsoft.com/office/drawing/2014/main" id="{6EED7F37-AB7A-4DED-845B-B03F5BA4BDB6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(22.17.1)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5A1EFC-813E-4B30-B033-343201440730}"/>
              </a:ext>
            </a:extLst>
          </p:cNvPr>
          <p:cNvSpPr/>
          <p:nvPr/>
        </p:nvSpPr>
        <p:spPr>
          <a:xfrm>
            <a:off x="900556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B20FFD6-79FC-46A5-864C-361238F68CEB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7E563-93F2-4C78-A93A-32A3297798D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A2BC26-A08C-495A-B587-03AFD45AD0F9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5AC7E5-DFC5-4D21-A4D9-4CB60AED94A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C808A0E-B579-4561-96BB-E0E89F23614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DC0FE9-0369-421F-8E08-F8CBE246E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A29080-3685-4577-8918-4277C149B423}"/>
              </a:ext>
            </a:extLst>
          </p:cNvPr>
          <p:cNvSpPr/>
          <p:nvPr/>
        </p:nvSpPr>
        <p:spPr>
          <a:xfrm>
            <a:off x="928500" y="3285565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</a:rPr>
              <a:t>nvm</a:t>
            </a:r>
            <a:r>
              <a:rPr lang="en-US" altLang="zh-TW" sz="1200" dirty="0">
                <a:solidFill>
                  <a:schemeClr val="tx1"/>
                </a:solidFill>
              </a:rPr>
              <a:t> install 22.17.1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C61AFD-507E-4DE7-8EE4-AE86FC764DC9}"/>
              </a:ext>
            </a:extLst>
          </p:cNvPr>
          <p:cNvSpPr/>
          <p:nvPr/>
        </p:nvSpPr>
        <p:spPr>
          <a:xfrm>
            <a:off x="928499" y="3824018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</a:rPr>
              <a:t>nvm</a:t>
            </a:r>
            <a:r>
              <a:rPr lang="en-US" altLang="zh-TW" sz="1200" dirty="0">
                <a:solidFill>
                  <a:schemeClr val="tx1"/>
                </a:solidFill>
              </a:rPr>
              <a:t> use 22.17.1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2CE845-C630-4DBC-829C-D03E93531B59}"/>
              </a:ext>
            </a:extLst>
          </p:cNvPr>
          <p:cNvSpPr/>
          <p:nvPr/>
        </p:nvSpPr>
        <p:spPr>
          <a:xfrm>
            <a:off x="928499" y="5368930"/>
            <a:ext cx="8048999" cy="4505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npx</a:t>
            </a:r>
            <a:r>
              <a:rPr lang="en-US" altLang="zh-TW" sz="1200" dirty="0">
                <a:solidFill>
                  <a:schemeClr val="tx1"/>
                </a:solidFill>
              </a:rPr>
              <a:t> -v</a:t>
            </a:r>
            <a:endParaRPr lang="en-US" altLang="zh-TW" sz="1200" dirty="0">
              <a:solidFill>
                <a:schemeClr val="tx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51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 marL="0" indent="0">
              <a:buSzPct val="50000"/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(2.53.0)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(11.46.6)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A168E7-687C-4068-860D-7D79E1556CC6}"/>
              </a:ext>
            </a:extLst>
          </p:cNvPr>
          <p:cNvSpPr/>
          <p:nvPr/>
        </p:nvSpPr>
        <p:spPr>
          <a:xfrm>
            <a:off x="886691" y="2508473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git -y --version=2.53.0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8490C2-3BBA-4C73-B553-E40E3F53E1AE}"/>
              </a:ext>
            </a:extLst>
          </p:cNvPr>
          <p:cNvSpPr/>
          <p:nvPr/>
        </p:nvSpPr>
        <p:spPr>
          <a:xfrm>
            <a:off x="885689" y="4290149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postman</a:t>
            </a:r>
            <a:r>
              <a:rPr lang="zh-TW" altLang="en-US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-y --version=11.46.6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F9687CC7-843A-4576-84E8-0E005CBAE8C3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&amp; Postman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736416-BCEE-4EF1-88BC-2505FC8E69B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A55284-F359-403E-91C8-63A690CC5F00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692E4-569D-4590-B98F-9D74FB1752A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80FF62-0102-4EFF-9461-90BFA3E5679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91986F-0D2E-4B85-8E84-FB7328E9A967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A9A4DD-7551-4C07-8821-C452855944B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60201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200" dirty="0">
                <a:hlinkClick r:id="rId3"/>
              </a:rPr>
              <a:t>Downloads | Redis</a:t>
            </a:r>
            <a:endParaRPr lang="en-US" altLang="zh-TW" sz="1200" dirty="0"/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填寫下載資料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進行下載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Redis-Insight-win-installer.exe</a:t>
            </a: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進行安裝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F9687CC7-843A-4576-84E8-0E005CBAE8C3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Insight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(3.4.2)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736416-BCEE-4EF1-88BC-2505FC8E69B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A55284-F359-403E-91C8-63A690CC5F00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692E4-569D-4590-B98F-9D74FB1752A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80FF62-0102-4EFF-9461-90BFA3E5679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91986F-0D2E-4B85-8E84-FB7328E9A967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A9A4DD-7551-4C07-8821-C452855944B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93E956A-25ED-4082-8FF4-C2ABD07D0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196" y="1922066"/>
            <a:ext cx="5101071" cy="369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8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2578263" cy="2239957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點選僅為我安裝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點選下一步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點選執行安裝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點選安裝完成並啟動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安裝完成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F9687CC7-843A-4576-84E8-0E005CBAE8C3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Insight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(3.4.2)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736416-BCEE-4EF1-88BC-2505FC8E69B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A55284-F359-403E-91C8-63A690CC5F00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692E4-569D-4590-B98F-9D74FB1752A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80FF62-0102-4EFF-9461-90BFA3E5679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91986F-0D2E-4B85-8E84-FB7328E9A967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A9A4DD-7551-4C07-8821-C452855944B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9462A22-104A-4CEF-A766-B8D7979B1BD2}"/>
              </a:ext>
            </a:extLst>
          </p:cNvPr>
          <p:cNvGrpSpPr/>
          <p:nvPr/>
        </p:nvGrpSpPr>
        <p:grpSpPr>
          <a:xfrm>
            <a:off x="3463952" y="1381865"/>
            <a:ext cx="3120887" cy="2253290"/>
            <a:chOff x="3463952" y="1381865"/>
            <a:chExt cx="3120887" cy="225329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9AD77BA3-4F0D-47A4-A2EE-EA1AC69DF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0608" y="1491665"/>
              <a:ext cx="2964231" cy="2143490"/>
            </a:xfrm>
            <a:prstGeom prst="rect">
              <a:avLst/>
            </a:prstGeom>
          </p:spPr>
        </p:pic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F33B71D3-3E2C-4992-9F7E-1738661E4DF8}"/>
                </a:ext>
              </a:extLst>
            </p:cNvPr>
            <p:cNvSpPr/>
            <p:nvPr/>
          </p:nvSpPr>
          <p:spPr>
            <a:xfrm>
              <a:off x="3463952" y="1381865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07E71029-6512-471A-9FFA-70D701464798}"/>
              </a:ext>
            </a:extLst>
          </p:cNvPr>
          <p:cNvGrpSpPr/>
          <p:nvPr/>
        </p:nvGrpSpPr>
        <p:grpSpPr>
          <a:xfrm>
            <a:off x="6594969" y="1352447"/>
            <a:ext cx="3120380" cy="2302816"/>
            <a:chOff x="6594969" y="1352447"/>
            <a:chExt cx="3120380" cy="230281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4CC493F-3AE5-4A51-A4A2-6182D7DAA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78551" y="1462247"/>
              <a:ext cx="3036798" cy="2193016"/>
            </a:xfrm>
            <a:prstGeom prst="rect">
              <a:avLst/>
            </a:prstGeom>
          </p:spPr>
        </p:pic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6523C41A-B645-4643-833E-B4A4C6A31741}"/>
                </a:ext>
              </a:extLst>
            </p:cNvPr>
            <p:cNvSpPr/>
            <p:nvPr/>
          </p:nvSpPr>
          <p:spPr>
            <a:xfrm>
              <a:off x="6594969" y="1352447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1A6413C6-1983-4701-82FE-687C925465E0}"/>
              </a:ext>
            </a:extLst>
          </p:cNvPr>
          <p:cNvGrpSpPr/>
          <p:nvPr/>
        </p:nvGrpSpPr>
        <p:grpSpPr>
          <a:xfrm>
            <a:off x="390332" y="3867027"/>
            <a:ext cx="3146599" cy="2350040"/>
            <a:chOff x="390332" y="3867027"/>
            <a:chExt cx="3146599" cy="2350040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A7CE7CED-105D-4AC6-B0E5-2C7BB90AB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132" y="4012939"/>
              <a:ext cx="3036799" cy="2204128"/>
            </a:xfrm>
            <a:prstGeom prst="rect">
              <a:avLst/>
            </a:prstGeom>
          </p:spPr>
        </p:pic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6ECFEBB3-D593-4649-BBED-897F9099683C}"/>
                </a:ext>
              </a:extLst>
            </p:cNvPr>
            <p:cNvSpPr/>
            <p:nvPr/>
          </p:nvSpPr>
          <p:spPr>
            <a:xfrm>
              <a:off x="390332" y="3867027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D24EDF71-50BB-4F99-96DD-585E7A5A6457}"/>
              </a:ext>
            </a:extLst>
          </p:cNvPr>
          <p:cNvGrpSpPr/>
          <p:nvPr/>
        </p:nvGrpSpPr>
        <p:grpSpPr>
          <a:xfrm>
            <a:off x="3727292" y="3882319"/>
            <a:ext cx="2714326" cy="2374064"/>
            <a:chOff x="3727292" y="3882319"/>
            <a:chExt cx="2714326" cy="2374064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A5658AA2-AEE6-48CB-A566-6C0294E30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9238" y="4012938"/>
              <a:ext cx="2682380" cy="2243445"/>
            </a:xfrm>
            <a:prstGeom prst="rect">
              <a:avLst/>
            </a:prstGeom>
          </p:spPr>
        </p:pic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04CB124F-D117-451D-A851-0660B4C2CCD6}"/>
                </a:ext>
              </a:extLst>
            </p:cNvPr>
            <p:cNvSpPr/>
            <p:nvPr/>
          </p:nvSpPr>
          <p:spPr>
            <a:xfrm>
              <a:off x="3727292" y="388231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2A938045-042F-4DB5-8849-ABBED56FE4DD}"/>
              </a:ext>
            </a:extLst>
          </p:cNvPr>
          <p:cNvGrpSpPr/>
          <p:nvPr/>
        </p:nvGrpSpPr>
        <p:grpSpPr>
          <a:xfrm>
            <a:off x="6441618" y="4121503"/>
            <a:ext cx="3293836" cy="1768848"/>
            <a:chOff x="6441618" y="4121503"/>
            <a:chExt cx="3293836" cy="1768848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82D8511-7D55-4A26-8A15-5D7985B07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50418" y="4231303"/>
              <a:ext cx="3185036" cy="1659048"/>
            </a:xfrm>
            <a:prstGeom prst="rect">
              <a:avLst/>
            </a:prstGeom>
          </p:spPr>
        </p:pic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1C7C182A-8507-41D6-8311-E637A97A7FA0}"/>
                </a:ext>
              </a:extLst>
            </p:cNvPr>
            <p:cNvSpPr/>
            <p:nvPr/>
          </p:nvSpPr>
          <p:spPr>
            <a:xfrm>
              <a:off x="6441618" y="4121503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5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2719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F6DD728-AA15-4B9D-BB66-30C134FC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 Insight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連線設定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20FCC9-39E6-4956-82C3-0B60FE623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0533A-A651-4FC3-8B9F-88E78E47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ED173715-C08E-444F-8507-8419EA97F99E}"/>
              </a:ext>
            </a:extLst>
          </p:cNvPr>
          <p:cNvGrpSpPr/>
          <p:nvPr/>
        </p:nvGrpSpPr>
        <p:grpSpPr>
          <a:xfrm>
            <a:off x="1285117" y="1424269"/>
            <a:ext cx="3212653" cy="2257181"/>
            <a:chOff x="1285117" y="1424269"/>
            <a:chExt cx="3212653" cy="2257181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5DFDB5BA-74C5-419A-AF88-B5D964EFEF25}"/>
                </a:ext>
              </a:extLst>
            </p:cNvPr>
            <p:cNvGrpSpPr/>
            <p:nvPr/>
          </p:nvGrpSpPr>
          <p:grpSpPr>
            <a:xfrm>
              <a:off x="1434530" y="1517811"/>
              <a:ext cx="3063240" cy="2163639"/>
              <a:chOff x="1434530" y="1517811"/>
              <a:chExt cx="3063240" cy="2163639"/>
            </a:xfrm>
          </p:grpSpPr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81D1A6FB-51A1-484C-9279-D9002D69E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34530" y="1517811"/>
                <a:ext cx="3063240" cy="2163639"/>
              </a:xfrm>
              <a:prstGeom prst="rect">
                <a:avLst/>
              </a:prstGeom>
            </p:spPr>
          </p:pic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4CF8FE5-DC73-4281-8FA0-0A587E3249C2}"/>
                  </a:ext>
                </a:extLst>
              </p:cNvPr>
              <p:cNvSpPr/>
              <p:nvPr/>
            </p:nvSpPr>
            <p:spPr>
              <a:xfrm>
                <a:off x="2748455" y="3018651"/>
                <a:ext cx="623395" cy="1626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77B00935-E9AE-418C-A156-ECD32C9CBA0B}"/>
                </a:ext>
              </a:extLst>
            </p:cNvPr>
            <p:cNvSpPr/>
            <p:nvPr/>
          </p:nvSpPr>
          <p:spPr>
            <a:xfrm>
              <a:off x="1285117" y="142426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E996A75D-6A1A-481D-AC93-23D8D758C396}"/>
              </a:ext>
            </a:extLst>
          </p:cNvPr>
          <p:cNvGrpSpPr/>
          <p:nvPr/>
        </p:nvGrpSpPr>
        <p:grpSpPr>
          <a:xfrm>
            <a:off x="5122075" y="1832429"/>
            <a:ext cx="3386165" cy="1186222"/>
            <a:chOff x="5122075" y="1832429"/>
            <a:chExt cx="3386165" cy="1186222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5AC32EDC-7F84-453D-85D9-C82E870A1E09}"/>
                </a:ext>
              </a:extLst>
            </p:cNvPr>
            <p:cNvGrpSpPr/>
            <p:nvPr/>
          </p:nvGrpSpPr>
          <p:grpSpPr>
            <a:xfrm>
              <a:off x="5176460" y="1851660"/>
              <a:ext cx="3331780" cy="1166991"/>
              <a:chOff x="4707830" y="2080260"/>
              <a:chExt cx="3331780" cy="1166991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2BECD45E-3B72-4F71-A0F2-E87D53542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7830" y="2080260"/>
                <a:ext cx="3331780" cy="1166991"/>
              </a:xfrm>
              <a:prstGeom prst="rect">
                <a:avLst/>
              </a:prstGeom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BC0F55C-7229-4A77-833F-2306E11F7DB4}"/>
                  </a:ext>
                </a:extLst>
              </p:cNvPr>
              <p:cNvSpPr/>
              <p:nvPr/>
            </p:nvSpPr>
            <p:spPr>
              <a:xfrm>
                <a:off x="4817970" y="2522961"/>
                <a:ext cx="1011330" cy="16308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AF125D4-EF11-444E-BC1A-7A4E3680A6CE}"/>
                  </a:ext>
                </a:extLst>
              </p:cNvPr>
              <p:cNvSpPr/>
              <p:nvPr/>
            </p:nvSpPr>
            <p:spPr>
              <a:xfrm>
                <a:off x="7533945" y="2949681"/>
                <a:ext cx="505665" cy="204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EE76930-EB21-43FD-B863-7AA0B9BF5768}"/>
                </a:ext>
              </a:extLst>
            </p:cNvPr>
            <p:cNvSpPr/>
            <p:nvPr/>
          </p:nvSpPr>
          <p:spPr>
            <a:xfrm>
              <a:off x="5122075" y="183242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1CAF43E-68AB-4063-A842-976DDEE63091}"/>
              </a:ext>
            </a:extLst>
          </p:cNvPr>
          <p:cNvGrpSpPr/>
          <p:nvPr/>
        </p:nvGrpSpPr>
        <p:grpSpPr>
          <a:xfrm>
            <a:off x="189835" y="3739432"/>
            <a:ext cx="4763165" cy="1963742"/>
            <a:chOff x="189835" y="3739432"/>
            <a:chExt cx="4763165" cy="1963742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262F8920-DD39-471A-98FF-AD90EC3627C3}"/>
                </a:ext>
              </a:extLst>
            </p:cNvPr>
            <p:cNvGrpSpPr/>
            <p:nvPr/>
          </p:nvGrpSpPr>
          <p:grpSpPr>
            <a:xfrm>
              <a:off x="189835" y="4017014"/>
              <a:ext cx="4763165" cy="1686160"/>
              <a:chOff x="189835" y="4154068"/>
              <a:chExt cx="4763165" cy="1686160"/>
            </a:xfrm>
          </p:grpSpPr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1D7F2790-CFD7-4A62-9403-FB5AAF564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835" y="4154068"/>
                <a:ext cx="4763165" cy="1686160"/>
              </a:xfrm>
              <a:prstGeom prst="rect">
                <a:avLst/>
              </a:prstGeom>
            </p:spPr>
          </p:pic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848FCF03-9C30-4764-88DA-63AF67238B4D}"/>
                  </a:ext>
                </a:extLst>
              </p:cNvPr>
              <p:cNvSpPr/>
              <p:nvPr/>
            </p:nvSpPr>
            <p:spPr>
              <a:xfrm>
                <a:off x="2748455" y="5466576"/>
                <a:ext cx="1947370" cy="24842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9CFCC35C-518F-4376-BC84-A7149A5C4570}"/>
                </a:ext>
              </a:extLst>
            </p:cNvPr>
            <p:cNvSpPr/>
            <p:nvPr/>
          </p:nvSpPr>
          <p:spPr>
            <a:xfrm>
              <a:off x="189835" y="3739432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D5222C78-8665-463B-A346-FEB9DA249E70}"/>
              </a:ext>
            </a:extLst>
          </p:cNvPr>
          <p:cNvGrpSpPr/>
          <p:nvPr/>
        </p:nvGrpSpPr>
        <p:grpSpPr>
          <a:xfrm>
            <a:off x="5356301" y="3681450"/>
            <a:ext cx="3495770" cy="1576267"/>
            <a:chOff x="5356301" y="3472908"/>
            <a:chExt cx="3495770" cy="1576267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09869497-0CE3-499E-952B-B090DFF4201D}"/>
                </a:ext>
              </a:extLst>
            </p:cNvPr>
            <p:cNvGrpSpPr/>
            <p:nvPr/>
          </p:nvGrpSpPr>
          <p:grpSpPr>
            <a:xfrm>
              <a:off x="5367304" y="3692510"/>
              <a:ext cx="3484767" cy="1356665"/>
              <a:chOff x="5256470" y="4318816"/>
              <a:chExt cx="3484767" cy="1356665"/>
            </a:xfrm>
          </p:grpSpPr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115EDCFA-EF45-4EF8-87DD-35273278E4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6470" y="4318816"/>
                <a:ext cx="3484767" cy="1356665"/>
              </a:xfrm>
              <a:prstGeom prst="rect">
                <a:avLst/>
              </a:prstGeom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0125767-C9DC-4259-9503-8D4E90C488A3}"/>
                  </a:ext>
                </a:extLst>
              </p:cNvPr>
              <p:cNvSpPr/>
              <p:nvPr/>
            </p:nvSpPr>
            <p:spPr>
              <a:xfrm>
                <a:off x="5323635" y="4915603"/>
                <a:ext cx="1011330" cy="16308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C3DF409-96DC-4CCE-A578-318239EBAF00}"/>
                  </a:ext>
                </a:extLst>
              </p:cNvPr>
              <p:cNvSpPr/>
              <p:nvPr/>
            </p:nvSpPr>
            <p:spPr>
              <a:xfrm>
                <a:off x="8125050" y="5338551"/>
                <a:ext cx="516030" cy="14784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1050127C-E1C5-4CAA-9036-7E8AA413F3E9}"/>
                </a:ext>
              </a:extLst>
            </p:cNvPr>
            <p:cNvSpPr/>
            <p:nvPr/>
          </p:nvSpPr>
          <p:spPr>
            <a:xfrm>
              <a:off x="5356301" y="3472908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895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6BADE84-215F-46F4-A85D-FDAF289BF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727" y="3860848"/>
            <a:ext cx="3084406" cy="2497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8501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SzPct val="50000"/>
              <a:buNone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檢查桌面出現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如圖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所示即為安裝成功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開啟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Repository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按鈕</a:t>
            </a:r>
          </a:p>
          <a:p>
            <a:pPr>
              <a:buSzPct val="50000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輸入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如右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A168E7-687C-4068-860D-7D79E1556CC6}"/>
              </a:ext>
            </a:extLst>
          </p:cNvPr>
          <p:cNvSpPr/>
          <p:nvPr/>
        </p:nvSpPr>
        <p:spPr>
          <a:xfrm>
            <a:off x="886691" y="2212134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intellijidea-community -y --version=2025.1.4.1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9C9047-F02B-4AC1-BF38-D7A83F7B2B51}"/>
              </a:ext>
            </a:extLst>
          </p:cNvPr>
          <p:cNvSpPr/>
          <p:nvPr/>
        </p:nvSpPr>
        <p:spPr>
          <a:xfrm>
            <a:off x="3355360" y="3429578"/>
            <a:ext cx="3900847" cy="440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https://github.com/IISI-2302022/mcp-labs.git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7B045BB-3BDF-4CBA-A8B8-B0E511AC1328}"/>
              </a:ext>
            </a:extLst>
          </p:cNvPr>
          <p:cNvGrpSpPr/>
          <p:nvPr/>
        </p:nvGrpSpPr>
        <p:grpSpPr>
          <a:xfrm>
            <a:off x="1163426" y="3865264"/>
            <a:ext cx="992283" cy="1627406"/>
            <a:chOff x="1441936" y="3851479"/>
            <a:chExt cx="992283" cy="1627406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299905A-15A7-4959-A868-697C19402F2F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662694" y="4050135"/>
              <a:ext cx="771525" cy="14287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CF33C13-4B99-4BC8-9DA3-8388BE9C89D7}"/>
                </a:ext>
              </a:extLst>
            </p:cNvPr>
            <p:cNvSpPr/>
            <p:nvPr/>
          </p:nvSpPr>
          <p:spPr>
            <a:xfrm>
              <a:off x="1441936" y="385147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AEC98CD-8016-4914-AECD-DF7E9F1DFBEA}"/>
              </a:ext>
            </a:extLst>
          </p:cNvPr>
          <p:cNvGrpSpPr/>
          <p:nvPr/>
        </p:nvGrpSpPr>
        <p:grpSpPr>
          <a:xfrm>
            <a:off x="2643487" y="3796664"/>
            <a:ext cx="3170267" cy="2561451"/>
            <a:chOff x="2786523" y="3864986"/>
            <a:chExt cx="3170267" cy="2561451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AF84298-5682-4478-BE94-0CBBE6A4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91301" y="4019951"/>
              <a:ext cx="2965489" cy="240648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FE8CCB3-9B7D-439A-9D60-65B4D208A8B2}"/>
                </a:ext>
              </a:extLst>
            </p:cNvPr>
            <p:cNvSpPr/>
            <p:nvPr/>
          </p:nvSpPr>
          <p:spPr>
            <a:xfrm>
              <a:off x="2786523" y="386498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17" name="橢圓 16">
            <a:extLst>
              <a:ext uri="{FF2B5EF4-FFF2-40B4-BE49-F238E27FC236}">
                <a16:creationId xmlns:a16="http://schemas.microsoft.com/office/drawing/2014/main" id="{4D7DE065-53F9-454E-8CC5-03576186D685}"/>
              </a:ext>
            </a:extLst>
          </p:cNvPr>
          <p:cNvSpPr/>
          <p:nvPr/>
        </p:nvSpPr>
        <p:spPr>
          <a:xfrm>
            <a:off x="5978095" y="378550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BB8BCF97-49EB-437C-B3EB-CEEAF6D0F92D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(2025.1.4.1)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9085A-5784-4233-8A49-D01EF4EAA8B1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71710ED-3B91-4FAB-83C2-3EEB33DA5FC6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2880F5-F69E-409F-B6AA-8657C3CF714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CE9E720-F1E5-43D5-9BCF-5204072F9E9A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9F4D729-5F19-4C10-AF62-CE3F34553834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B1A6DD0-4B73-4A44-AC43-BFBE325D4685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004454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1DA3366F-332A-48E3-92AF-7223E5A3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075" y="3464805"/>
            <a:ext cx="4030226" cy="2261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861975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Trust and Open Project `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-labs`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成功開啟 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-labs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畫面如圖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68C0D65-3FEA-4CF3-B29D-8E8F0920788D}"/>
              </a:ext>
            </a:extLst>
          </p:cNvPr>
          <p:cNvGrpSpPr/>
          <p:nvPr/>
        </p:nvGrpSpPr>
        <p:grpSpPr>
          <a:xfrm>
            <a:off x="169099" y="2522390"/>
            <a:ext cx="4939112" cy="1593620"/>
            <a:chOff x="340747" y="3082442"/>
            <a:chExt cx="4939112" cy="159362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D0FD65D-BC6D-4ED6-8696-160D4FDDBB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630" t="35730" r="8592" b="34572"/>
            <a:stretch/>
          </p:blipFill>
          <p:spPr>
            <a:xfrm>
              <a:off x="560347" y="3302042"/>
              <a:ext cx="4719512" cy="137402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750FC95-6D3D-43D0-90B0-C8086D0B781E}"/>
                </a:ext>
              </a:extLst>
            </p:cNvPr>
            <p:cNvSpPr/>
            <p:nvPr/>
          </p:nvSpPr>
          <p:spPr>
            <a:xfrm>
              <a:off x="340747" y="3082442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16" name="橢圓 15">
            <a:extLst>
              <a:ext uri="{FF2B5EF4-FFF2-40B4-BE49-F238E27FC236}">
                <a16:creationId xmlns:a16="http://schemas.microsoft.com/office/drawing/2014/main" id="{87B3CF95-5F7C-41B3-A68C-5BA0F5DF11CD}"/>
              </a:ext>
            </a:extLst>
          </p:cNvPr>
          <p:cNvSpPr/>
          <p:nvPr/>
        </p:nvSpPr>
        <p:spPr>
          <a:xfrm>
            <a:off x="5301201" y="3283395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9" name="標題 1">
            <a:extLst>
              <a:ext uri="{FF2B5EF4-FFF2-40B4-BE49-F238E27FC236}">
                <a16:creationId xmlns:a16="http://schemas.microsoft.com/office/drawing/2014/main" id="{453F8CB9-352A-4EB8-A3A7-30728CB59570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(2025.1.4.1)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5258B37-0FD2-49C5-B28D-9C771E8D0087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CEE414F-D6B5-4790-9855-D17312A5C357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EE9271B-F75B-4B1D-8645-67440F2F47FC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ECFE72A-AE63-4875-8020-BA26AF9C7BDE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CFED06-E282-449D-9B56-AD6B04456E2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1C4925-8B40-4FD1-8D13-53B1D6C72FF8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139562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5E4E479-BD57-4DCA-8E41-50B25BBF5679}"/>
              </a:ext>
            </a:extLst>
          </p:cNvPr>
          <p:cNvGrpSpPr/>
          <p:nvPr/>
        </p:nvGrpSpPr>
        <p:grpSpPr>
          <a:xfrm>
            <a:off x="356813" y="2311957"/>
            <a:ext cx="3390757" cy="1348452"/>
            <a:chOff x="356813" y="2311957"/>
            <a:chExt cx="3390757" cy="1348452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9C83E8D-4D9B-4052-BE4F-60D5DC8FA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734" y="2454917"/>
              <a:ext cx="3210836" cy="12054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750FC95-6D3D-43D0-90B0-C8086D0B781E}"/>
                </a:ext>
              </a:extLst>
            </p:cNvPr>
            <p:cNvSpPr/>
            <p:nvPr/>
          </p:nvSpPr>
          <p:spPr>
            <a:xfrm>
              <a:off x="356813" y="2311957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83732"/>
            <a:ext cx="8676041" cy="921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Settings &gt;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Plugins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plugins</a:t>
            </a:r>
            <a:endParaRPr lang="en-US" altLang="zh-TW" sz="17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89B2FB2-0930-4244-8350-CD3A88FFC377}"/>
              </a:ext>
            </a:extLst>
          </p:cNvPr>
          <p:cNvGrpSpPr/>
          <p:nvPr/>
        </p:nvGrpSpPr>
        <p:grpSpPr>
          <a:xfrm>
            <a:off x="2757040" y="3057663"/>
            <a:ext cx="1334053" cy="2888585"/>
            <a:chOff x="2798102" y="3105035"/>
            <a:chExt cx="1334053" cy="288858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E971EDE4-85BC-4E66-A39F-48D870B32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5529"/>
            <a:stretch/>
          </p:blipFill>
          <p:spPr>
            <a:xfrm>
              <a:off x="2965122" y="3307432"/>
              <a:ext cx="1167033" cy="268618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7B3CF95-5F7C-41B3-A68C-5BA0F5DF11CD}"/>
                </a:ext>
              </a:extLst>
            </p:cNvPr>
            <p:cNvSpPr/>
            <p:nvPr/>
          </p:nvSpPr>
          <p:spPr>
            <a:xfrm>
              <a:off x="2798102" y="3105035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43" name="標題 1">
            <a:extLst>
              <a:ext uri="{FF2B5EF4-FFF2-40B4-BE49-F238E27FC236}">
                <a16:creationId xmlns:a16="http://schemas.microsoft.com/office/drawing/2014/main" id="{A3321B15-FECF-4C15-9CEF-443FE1165FC2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plugins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安裝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1D6BB66B-5AE5-44CA-B5C5-D90056BB0ECA}"/>
              </a:ext>
            </a:extLst>
          </p:cNvPr>
          <p:cNvGrpSpPr/>
          <p:nvPr/>
        </p:nvGrpSpPr>
        <p:grpSpPr>
          <a:xfrm>
            <a:off x="4477212" y="1500135"/>
            <a:ext cx="5201540" cy="3603086"/>
            <a:chOff x="4441646" y="2071333"/>
            <a:chExt cx="5201540" cy="3603086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4A9746A9-8B62-4AEE-8528-2D8C9D951F4B}"/>
                </a:ext>
              </a:extLst>
            </p:cNvPr>
            <p:cNvSpPr/>
            <p:nvPr/>
          </p:nvSpPr>
          <p:spPr>
            <a:xfrm>
              <a:off x="4441646" y="2250191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8EECB392-2342-4931-97B5-193EC04422B1}"/>
                </a:ext>
              </a:extLst>
            </p:cNvPr>
            <p:cNvGrpSpPr/>
            <p:nvPr/>
          </p:nvGrpSpPr>
          <p:grpSpPr>
            <a:xfrm>
              <a:off x="4604620" y="2071333"/>
              <a:ext cx="2534420" cy="1846670"/>
              <a:chOff x="4413880" y="2408467"/>
              <a:chExt cx="2534420" cy="1846670"/>
            </a:xfrm>
          </p:grpSpPr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D22FFBB0-556D-4323-B4B2-CD5F3F068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3880" y="3012018"/>
                <a:ext cx="2534420" cy="1243119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4C038C1F-4331-4531-B1FB-357C5F84EAC4}"/>
                  </a:ext>
                </a:extLst>
              </p:cNvPr>
              <p:cNvSpPr txBox="1"/>
              <p:nvPr/>
            </p:nvSpPr>
            <p:spPr>
              <a:xfrm>
                <a:off x="4701359" y="2768665"/>
                <a:ext cx="18693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查看 </a:t>
                </a:r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Maven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 版本依賴與衝突</a:t>
                </a:r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       </a:t>
                </a:r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DB11355-B1A6-40DE-B601-8C049F93EACF}"/>
                  </a:ext>
                </a:extLst>
              </p:cNvPr>
              <p:cNvSpPr txBox="1"/>
              <p:nvPr/>
            </p:nvSpPr>
            <p:spPr>
              <a:xfrm>
                <a:off x="4836782" y="2408467"/>
                <a:ext cx="15985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Maven Helper</a:t>
                </a:r>
                <a:endParaRPr lang="zh-TW" altLang="en-US" dirty="0"/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47318355-A7FF-4D13-BA11-E9E33145ECD5}"/>
                </a:ext>
              </a:extLst>
            </p:cNvPr>
            <p:cNvGrpSpPr/>
            <p:nvPr/>
          </p:nvGrpSpPr>
          <p:grpSpPr>
            <a:xfrm>
              <a:off x="4579903" y="4120361"/>
              <a:ext cx="2534420" cy="1554058"/>
              <a:chOff x="4604672" y="4251757"/>
              <a:chExt cx="2534420" cy="1554058"/>
            </a:xfrm>
          </p:grpSpPr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0189FCC1-0844-4BD7-BD4E-8BDBC5BCD7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4672" y="4844313"/>
                <a:ext cx="2534420" cy="961502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24272F4-554A-4D47-91E8-146EFF838FC1}"/>
                  </a:ext>
                </a:extLst>
              </p:cNvPr>
              <p:cNvSpPr txBox="1"/>
              <p:nvPr/>
            </p:nvSpPr>
            <p:spPr>
              <a:xfrm>
                <a:off x="5317954" y="4556932"/>
                <a:ext cx="133286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方便 </a:t>
                </a:r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java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 程式開發</a:t>
                </a:r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en-US" sz="1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3CCC725-2AB3-41BE-897B-FB18C2B2A3BF}"/>
                  </a:ext>
                </a:extLst>
              </p:cNvPr>
              <p:cNvSpPr txBox="1"/>
              <p:nvPr/>
            </p:nvSpPr>
            <p:spPr>
              <a:xfrm>
                <a:off x="5458326" y="4251757"/>
                <a:ext cx="10096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Lombok</a:t>
                </a:r>
                <a:endParaRPr lang="zh-TW" altLang="en-US" dirty="0"/>
              </a:p>
            </p:txBody>
          </p: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1608408A-0FF9-4E11-BFAA-0D8DCD0D5D66}"/>
                </a:ext>
              </a:extLst>
            </p:cNvPr>
            <p:cNvGrpSpPr/>
            <p:nvPr/>
          </p:nvGrpSpPr>
          <p:grpSpPr>
            <a:xfrm>
              <a:off x="7458061" y="3120580"/>
              <a:ext cx="2185125" cy="1768658"/>
              <a:chOff x="7315264" y="3203327"/>
              <a:chExt cx="2185125" cy="1768658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D129D0EE-7B45-47D4-980D-DB1941467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09370" y="3744403"/>
                <a:ext cx="2001304" cy="1227582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7A46063-C0F4-4E6D-8D6A-C85496AD71B9}"/>
                  </a:ext>
                </a:extLst>
              </p:cNvPr>
              <p:cNvSpPr txBox="1"/>
              <p:nvPr/>
            </p:nvSpPr>
            <p:spPr>
              <a:xfrm>
                <a:off x="7638814" y="3505780"/>
                <a:ext cx="143028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(Spring Boot </a:t>
                </a:r>
                <a:r>
                  <a:rPr lang="zh-TW" altLang="en-US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提示工具</a:t>
                </a:r>
                <a:r>
                  <a:rPr lang="en-US" altLang="zh-TW" sz="1000" dirty="0">
                    <a:latin typeface="Times New Roman" panose="02020603050405020304" pitchFamily="18" charset="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en-US" sz="1000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1A2FF86B-9075-4587-B7C8-A184D1654840}"/>
                  </a:ext>
                </a:extLst>
              </p:cNvPr>
              <p:cNvSpPr txBox="1"/>
              <p:nvPr/>
            </p:nvSpPr>
            <p:spPr>
              <a:xfrm>
                <a:off x="7315264" y="3203327"/>
                <a:ext cx="2185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Spring Boot Assistant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dirty="0"/>
              </a:p>
            </p:txBody>
          </p:sp>
        </p:grp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FEA442FC-9360-4BF0-B00E-B1F3B5B903A9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EF7073B-7181-4100-85BE-662AD45752F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36BAEA3-59B4-495D-ACCF-2C6F01C6BA6F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A92A57E-0F02-4E10-88AC-804B5FD2197A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8A2D51D-0825-49A8-A6BE-3B6A1E6A876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88D3771-AC88-4A9E-864D-36F6FCAA819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4CB9B59-F373-40E8-BD24-48C3F1B02D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8958" y="5259802"/>
            <a:ext cx="2794787" cy="1142575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19AEA1B8-7272-451B-AC41-A6FC2E31775F}"/>
              </a:ext>
            </a:extLst>
          </p:cNvPr>
          <p:cNvSpPr txBox="1"/>
          <p:nvPr/>
        </p:nvSpPr>
        <p:spPr>
          <a:xfrm>
            <a:off x="7326608" y="4749443"/>
            <a:ext cx="2185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</a:t>
            </a:r>
          </a:p>
          <a:p>
            <a:pPr algn="ctr"/>
            <a:r>
              <a:rPr lang="en-US" altLang="zh-TW" sz="1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(AI </a:t>
            </a:r>
            <a:r>
              <a:rPr lang="zh-TW" altLang="en-US" sz="1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程式開發助手</a:t>
            </a:r>
            <a:r>
              <a:rPr lang="en-US" altLang="zh-TW" sz="1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376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DC7EEDAF-F5D8-4584-8E43-57F98484E548}"/>
              </a:ext>
            </a:extLst>
          </p:cNvPr>
          <p:cNvGrpSpPr/>
          <p:nvPr/>
        </p:nvGrpSpPr>
        <p:grpSpPr>
          <a:xfrm>
            <a:off x="389468" y="2251335"/>
            <a:ext cx="3353302" cy="1375254"/>
            <a:chOff x="394268" y="2285155"/>
            <a:chExt cx="3353302" cy="137525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9C83E8D-4D9B-4052-BE4F-60D5DC8FA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734" y="2454917"/>
              <a:ext cx="3210836" cy="120549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750FC95-6D3D-43D0-90B0-C8086D0B781E}"/>
                </a:ext>
              </a:extLst>
            </p:cNvPr>
            <p:cNvSpPr/>
            <p:nvPr/>
          </p:nvSpPr>
          <p:spPr>
            <a:xfrm>
              <a:off x="394268" y="2285155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83732"/>
            <a:ext cx="8676041" cy="827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Settings &gt;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搜尋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home path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換成自行安裝的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home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目錄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3321B15-FECF-4C15-9CEF-443FE1165FC2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maven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F67B9CC-0121-433E-9537-D15C2B1B9BAA}"/>
              </a:ext>
            </a:extLst>
          </p:cNvPr>
          <p:cNvGrpSpPr/>
          <p:nvPr/>
        </p:nvGrpSpPr>
        <p:grpSpPr>
          <a:xfrm>
            <a:off x="3949659" y="2251335"/>
            <a:ext cx="5507544" cy="2951738"/>
            <a:chOff x="3949659" y="2251335"/>
            <a:chExt cx="5507544" cy="2951738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8217E1B8-8025-4194-9562-BE84C0F6BD0F}"/>
                </a:ext>
              </a:extLst>
            </p:cNvPr>
            <p:cNvGrpSpPr/>
            <p:nvPr/>
          </p:nvGrpSpPr>
          <p:grpSpPr>
            <a:xfrm>
              <a:off x="3949659" y="2251335"/>
              <a:ext cx="5507544" cy="2951738"/>
              <a:chOff x="3949659" y="2150720"/>
              <a:chExt cx="5507544" cy="2951738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BA42DB39-5187-459A-B61E-BA70C26392D0}"/>
                  </a:ext>
                </a:extLst>
              </p:cNvPr>
              <p:cNvGrpSpPr/>
              <p:nvPr/>
            </p:nvGrpSpPr>
            <p:grpSpPr>
              <a:xfrm>
                <a:off x="3949659" y="2150720"/>
                <a:ext cx="5507544" cy="2951738"/>
                <a:chOff x="4046527" y="2249310"/>
                <a:chExt cx="5507544" cy="2951738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F006B4C8-22E1-4A11-8723-45AFF5E24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97459" y="2407013"/>
                  <a:ext cx="5356612" cy="2794035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FFFFFF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</p:spPr>
            </p:pic>
            <p:sp>
              <p:nvSpPr>
                <p:cNvPr id="16" name="橢圓 15">
                  <a:extLst>
                    <a:ext uri="{FF2B5EF4-FFF2-40B4-BE49-F238E27FC236}">
                      <a16:creationId xmlns:a16="http://schemas.microsoft.com/office/drawing/2014/main" id="{87B3CF95-5F7C-41B3-A68C-5BA0F5DF11CD}"/>
                    </a:ext>
                  </a:extLst>
                </p:cNvPr>
                <p:cNvSpPr/>
                <p:nvPr/>
              </p:nvSpPr>
              <p:spPr>
                <a:xfrm>
                  <a:off x="4046527" y="2249310"/>
                  <a:ext cx="219600" cy="219600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3D538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>
                      <a:solidFill>
                        <a:srgbClr val="3E5180"/>
                      </a:solidFill>
                    </a:rPr>
                    <a:t>2</a:t>
                  </a:r>
                  <a:endParaRPr lang="zh-TW" altLang="en-US" sz="1200" dirty="0">
                    <a:solidFill>
                      <a:srgbClr val="3E5180"/>
                    </a:solidFill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C5C11C6-100D-4FC7-BDC9-8695171FE090}"/>
                    </a:ext>
                  </a:extLst>
                </p:cNvPr>
                <p:cNvSpPr/>
                <p:nvPr/>
              </p:nvSpPr>
              <p:spPr>
                <a:xfrm>
                  <a:off x="6370668" y="4436624"/>
                  <a:ext cx="3111500" cy="19685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5DCE2EC3-54FE-417B-8699-A7311DB8E9C6}"/>
                  </a:ext>
                </a:extLst>
              </p:cNvPr>
              <p:cNvSpPr/>
              <p:nvPr/>
            </p:nvSpPr>
            <p:spPr>
              <a:xfrm>
                <a:off x="4343400" y="4164384"/>
                <a:ext cx="352425" cy="12611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A162411-2800-4415-9EF5-285BFF8B2A90}"/>
                </a:ext>
              </a:extLst>
            </p:cNvPr>
            <p:cNvSpPr/>
            <p:nvPr/>
          </p:nvSpPr>
          <p:spPr>
            <a:xfrm>
              <a:off x="4157671" y="2686050"/>
              <a:ext cx="387350" cy="1646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B7D72FE1-0C80-4584-B7C0-B35A7354165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849C551-93C7-444C-B43A-AEDCC47A74E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A1DDD3-09FA-4453-B8F1-4A7432C28AA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E44A6B-468C-4DCD-9243-D948A6D81735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E4F810-F91E-4DF8-81F0-56405F0340C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E1DF1DD-7A95-47BE-BA76-801CCEAD09D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950726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40245"/>
            <a:ext cx="8676041" cy="103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開啟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匯入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json file (./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-labs/labs/postman/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mcp-labs.postman_collections.json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查看匯入內容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collection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匯入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38C13-8B50-4516-9E37-8BA11BB94FD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83AAC5F-E7C9-411A-92F1-8885371D596F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FDA963-ABA0-4FFC-B968-1682AFE7F25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C797528-17C4-4B71-A803-74C61E235338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456513-1C66-4B82-A5A6-1C45DF8BCF7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5847AC-D10F-497A-A6D8-DFA536D90E46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FAA72C3-E7AE-45EF-9868-B5947714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929" y="2492613"/>
            <a:ext cx="4086795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7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F9687CC7-843A-4576-84E8-0E005CBAE8C3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Fiddler classic 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100" b="1" i="0" dirty="0">
                <a:solidFill>
                  <a:srgbClr val="040C12"/>
                </a:solidFill>
                <a:effectLst/>
                <a:latin typeface="PT Sans" panose="020B0503020203020204" pitchFamily="34" charset="0"/>
              </a:rPr>
              <a:t>5.0.20253.3311</a:t>
            </a:r>
            <a:r>
              <a:rPr lang="en-US" altLang="zh-TW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736416-BCEE-4EF1-88BC-2505FC8E69B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A55284-F359-403E-91C8-63A690CC5F00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692E4-569D-4590-B98F-9D74FB1752AA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80FF62-0102-4EFF-9461-90BFA3E56790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91986F-0D2E-4B85-8E84-FB7328E9A967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4A9A4DD-7551-4C07-8821-C452855944B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E39C4548-1A9E-46EF-9163-DDCD82B0F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89" y="1415306"/>
            <a:ext cx="7965380" cy="1724134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以管理員身份執行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PowerShell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執行下列指令安裝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fiddler classic</a:t>
            </a: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258855-E42E-4A37-ACA7-A00DFD2433EE}"/>
              </a:ext>
            </a:extLst>
          </p:cNvPr>
          <p:cNvSpPr/>
          <p:nvPr/>
        </p:nvSpPr>
        <p:spPr>
          <a:xfrm>
            <a:off x="928500" y="2333213"/>
            <a:ext cx="8048999" cy="4513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PS&gt;</a:t>
            </a:r>
            <a:r>
              <a:rPr lang="zh-TW" altLang="en-US" sz="1200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s-ES" altLang="zh-TW" sz="1200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choco install fiddler -y --version=</a:t>
            </a:r>
            <a:r>
              <a:rPr lang="en-US" altLang="zh-TW" sz="1200" b="0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5.0.20253.3311</a:t>
            </a:r>
            <a:endParaRPr lang="en-US" altLang="zh-TW" sz="1200" dirty="0">
              <a:solidFill>
                <a:schemeClr val="accent1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470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40245"/>
            <a:ext cx="2372329" cy="816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開啟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fiddler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攔截選項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Fiddler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38C13-8B50-4516-9E37-8BA11BB94FD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83AAC5F-E7C9-411A-92F1-8885371D596F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456513-1C66-4B82-A5A6-1C45DF8BCF7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5847AC-D10F-497A-A6D8-DFA536D90E46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CCB87FED-0EF1-4A56-9C6E-B7B4EF78A5D1}"/>
              </a:ext>
            </a:extLst>
          </p:cNvPr>
          <p:cNvGrpSpPr/>
          <p:nvPr/>
        </p:nvGrpSpPr>
        <p:grpSpPr>
          <a:xfrm>
            <a:off x="152129" y="2087208"/>
            <a:ext cx="3214198" cy="1808430"/>
            <a:chOff x="152129" y="2087208"/>
            <a:chExt cx="3214198" cy="180843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C9EDEEB-1B52-464B-94EE-1AFE9439A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054" y="2227311"/>
              <a:ext cx="3108273" cy="1668327"/>
            </a:xfrm>
            <a:prstGeom prst="rect">
              <a:avLst/>
            </a:prstGeom>
          </p:spPr>
        </p:pic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232CB2C2-3199-4969-9496-3E72C6D85CBD}"/>
                </a:ext>
              </a:extLst>
            </p:cNvPr>
            <p:cNvSpPr/>
            <p:nvPr/>
          </p:nvSpPr>
          <p:spPr>
            <a:xfrm>
              <a:off x="152129" y="2087208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A3FDA963-ABA0-4FFC-B968-1682AFE7F25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C797528-17C4-4B71-A803-74C61E235338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1878A38-38DD-42C9-879A-FD45A2BFE8D6}"/>
              </a:ext>
            </a:extLst>
          </p:cNvPr>
          <p:cNvGrpSpPr/>
          <p:nvPr/>
        </p:nvGrpSpPr>
        <p:grpSpPr>
          <a:xfrm>
            <a:off x="3669982" y="1511822"/>
            <a:ext cx="3341129" cy="2733362"/>
            <a:chOff x="3625514" y="1293615"/>
            <a:chExt cx="3341129" cy="2733362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22428DD-400D-43AC-A4CB-060277971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3821" y="1412045"/>
              <a:ext cx="3182822" cy="2614932"/>
            </a:xfrm>
            <a:prstGeom prst="rect">
              <a:avLst/>
            </a:prstGeom>
          </p:spPr>
        </p:pic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973A40B2-2E5D-412B-ACBC-56BE34C8506F}"/>
                </a:ext>
              </a:extLst>
            </p:cNvPr>
            <p:cNvSpPr/>
            <p:nvPr/>
          </p:nvSpPr>
          <p:spPr>
            <a:xfrm>
              <a:off x="3625514" y="1293615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0E1FDAA-894A-45FA-A7C8-39389BFB3E28}"/>
                </a:ext>
              </a:extLst>
            </p:cNvPr>
            <p:cNvSpPr/>
            <p:nvPr/>
          </p:nvSpPr>
          <p:spPr>
            <a:xfrm>
              <a:off x="4506094" y="1575529"/>
              <a:ext cx="300856" cy="1199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AED78A8-9332-4D33-AB05-389A954A6F5C}"/>
                </a:ext>
              </a:extLst>
            </p:cNvPr>
            <p:cNvSpPr/>
            <p:nvPr/>
          </p:nvSpPr>
          <p:spPr>
            <a:xfrm>
              <a:off x="4506094" y="1727929"/>
              <a:ext cx="2121768" cy="1199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019E038-6376-44C2-8A2E-15307282A8F0}"/>
              </a:ext>
            </a:extLst>
          </p:cNvPr>
          <p:cNvGrpSpPr/>
          <p:nvPr/>
        </p:nvGrpSpPr>
        <p:grpSpPr>
          <a:xfrm>
            <a:off x="7136478" y="1720584"/>
            <a:ext cx="2729129" cy="2005544"/>
            <a:chOff x="7136478" y="1720584"/>
            <a:chExt cx="2729129" cy="2005544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86588098-9879-4657-8EE6-F1F31CA7B121}"/>
                </a:ext>
              </a:extLst>
            </p:cNvPr>
            <p:cNvGrpSpPr/>
            <p:nvPr/>
          </p:nvGrpSpPr>
          <p:grpSpPr>
            <a:xfrm>
              <a:off x="7136478" y="1720584"/>
              <a:ext cx="2729129" cy="2005544"/>
              <a:chOff x="7136478" y="1720584"/>
              <a:chExt cx="2729129" cy="2005544"/>
            </a:xfrm>
          </p:grpSpPr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70A64F5E-1E64-4CF7-AFC4-67C587F52FCC}"/>
                  </a:ext>
                </a:extLst>
              </p:cNvPr>
              <p:cNvGrpSpPr/>
              <p:nvPr/>
            </p:nvGrpSpPr>
            <p:grpSpPr>
              <a:xfrm>
                <a:off x="7136478" y="1720584"/>
                <a:ext cx="2729129" cy="2005544"/>
                <a:chOff x="7136478" y="1720584"/>
                <a:chExt cx="2729129" cy="2005544"/>
              </a:xfrm>
            </p:grpSpPr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E3E24267-BE94-4991-A3FF-365E78AA61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36478" y="1934081"/>
                  <a:ext cx="2729129" cy="1792047"/>
                </a:xfrm>
                <a:prstGeom prst="rect">
                  <a:avLst/>
                </a:prstGeom>
              </p:spPr>
            </p:pic>
            <p:sp>
              <p:nvSpPr>
                <p:cNvPr id="29" name="橢圓 28">
                  <a:extLst>
                    <a:ext uri="{FF2B5EF4-FFF2-40B4-BE49-F238E27FC236}">
                      <a16:creationId xmlns:a16="http://schemas.microsoft.com/office/drawing/2014/main" id="{1AE8B1E2-0590-4378-9A5B-40B77120EFA1}"/>
                    </a:ext>
                  </a:extLst>
                </p:cNvPr>
                <p:cNvSpPr/>
                <p:nvPr/>
              </p:nvSpPr>
              <p:spPr>
                <a:xfrm>
                  <a:off x="7136478" y="1720584"/>
                  <a:ext cx="211850" cy="209355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3D538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200" dirty="0">
                      <a:solidFill>
                        <a:srgbClr val="3E5180"/>
                      </a:solidFill>
                    </a:rPr>
                    <a:t>3</a:t>
                  </a:r>
                  <a:endParaRPr lang="zh-TW" altLang="en-US" sz="1200" dirty="0">
                    <a:solidFill>
                      <a:srgbClr val="3E5180"/>
                    </a:solidFill>
                  </a:endParaRPr>
                </a:p>
              </p:txBody>
            </p:sp>
          </p:grp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0511D31-2480-45CC-8419-86C76035347B}"/>
                  </a:ext>
                </a:extLst>
              </p:cNvPr>
              <p:cNvSpPr/>
              <p:nvPr/>
            </p:nvSpPr>
            <p:spPr>
              <a:xfrm>
                <a:off x="7387212" y="2065464"/>
                <a:ext cx="210722" cy="140103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7A0DB95-E213-4000-8753-DD37A092CA1E}"/>
                </a:ext>
              </a:extLst>
            </p:cNvPr>
            <p:cNvSpPr/>
            <p:nvPr/>
          </p:nvSpPr>
          <p:spPr>
            <a:xfrm>
              <a:off x="7242966" y="2429371"/>
              <a:ext cx="707233" cy="140103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3B1F3BFB-5B8D-4C6F-8128-9C861E781B35}"/>
              </a:ext>
            </a:extLst>
          </p:cNvPr>
          <p:cNvGrpSpPr/>
          <p:nvPr/>
        </p:nvGrpSpPr>
        <p:grpSpPr>
          <a:xfrm>
            <a:off x="399362" y="4036733"/>
            <a:ext cx="3707778" cy="1993626"/>
            <a:chOff x="577325" y="3994099"/>
            <a:chExt cx="3707778" cy="1993626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4488801C-DF06-469A-91E0-D9CFF41E9718}"/>
                </a:ext>
              </a:extLst>
            </p:cNvPr>
            <p:cNvGrpSpPr/>
            <p:nvPr/>
          </p:nvGrpSpPr>
          <p:grpSpPr>
            <a:xfrm>
              <a:off x="577325" y="3994099"/>
              <a:ext cx="3707778" cy="1993626"/>
              <a:chOff x="577325" y="3994099"/>
              <a:chExt cx="3707778" cy="1993626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528F86EE-D5A7-47C1-89D4-00D379ACB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866" y="4098777"/>
                <a:ext cx="3655237" cy="1888948"/>
              </a:xfrm>
              <a:prstGeom prst="rect">
                <a:avLst/>
              </a:prstGeom>
            </p:spPr>
          </p:pic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6F6F552E-4DF3-46DB-81FC-79A5B9876258}"/>
                  </a:ext>
                </a:extLst>
              </p:cNvPr>
              <p:cNvSpPr/>
              <p:nvPr/>
            </p:nvSpPr>
            <p:spPr>
              <a:xfrm>
                <a:off x="577325" y="3994099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4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81E961E-1001-4CB4-9C37-3A9170793572}"/>
                </a:ext>
              </a:extLst>
            </p:cNvPr>
            <p:cNvSpPr/>
            <p:nvPr/>
          </p:nvSpPr>
          <p:spPr>
            <a:xfrm>
              <a:off x="727866" y="4841497"/>
              <a:ext cx="1139034" cy="133903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92BE3B9-0CF2-4AD0-A106-0C5D936B32F1}"/>
                </a:ext>
              </a:extLst>
            </p:cNvPr>
            <p:cNvSpPr/>
            <p:nvPr/>
          </p:nvSpPr>
          <p:spPr>
            <a:xfrm>
              <a:off x="2861129" y="4480934"/>
              <a:ext cx="346891" cy="144644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1CC5BA9-DB40-41A7-BBAF-C121B3814CF3}"/>
                </a:ext>
              </a:extLst>
            </p:cNvPr>
            <p:cNvSpPr/>
            <p:nvPr/>
          </p:nvSpPr>
          <p:spPr>
            <a:xfrm>
              <a:off x="2872959" y="4606437"/>
              <a:ext cx="1286291" cy="123819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C67F45A-4FB3-405C-8882-68B4DA790E77}"/>
              </a:ext>
            </a:extLst>
          </p:cNvPr>
          <p:cNvGrpSpPr/>
          <p:nvPr/>
        </p:nvGrpSpPr>
        <p:grpSpPr>
          <a:xfrm>
            <a:off x="4560312" y="4448446"/>
            <a:ext cx="2630384" cy="1274877"/>
            <a:chOff x="4506094" y="4171078"/>
            <a:chExt cx="2630384" cy="1274877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7F9F4D3F-7E58-477F-8183-F7C681FA2260}"/>
                </a:ext>
              </a:extLst>
            </p:cNvPr>
            <p:cNvGrpSpPr/>
            <p:nvPr/>
          </p:nvGrpSpPr>
          <p:grpSpPr>
            <a:xfrm>
              <a:off x="4506094" y="4171078"/>
              <a:ext cx="2630384" cy="1274877"/>
              <a:chOff x="4506094" y="4171078"/>
              <a:chExt cx="2630384" cy="1274877"/>
            </a:xfrm>
          </p:grpSpPr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A46C677A-FFD6-4DC4-91B5-A51737C0B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12019" y="4296930"/>
                <a:ext cx="2524459" cy="1149025"/>
              </a:xfrm>
              <a:prstGeom prst="rect">
                <a:avLst/>
              </a:prstGeom>
            </p:spPr>
          </p:pic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720A9C2C-3C62-4D90-95B6-5F6161ADE0CD}"/>
                  </a:ext>
                </a:extLst>
              </p:cNvPr>
              <p:cNvSpPr/>
              <p:nvPr/>
            </p:nvSpPr>
            <p:spPr>
              <a:xfrm>
                <a:off x="4506094" y="4171078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5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D9C60E3-DAE1-4517-BFC5-E925914FDB16}"/>
                </a:ext>
              </a:extLst>
            </p:cNvPr>
            <p:cNvSpPr/>
            <p:nvPr/>
          </p:nvSpPr>
          <p:spPr>
            <a:xfrm>
              <a:off x="6195313" y="5246713"/>
              <a:ext cx="440437" cy="138087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61093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40245"/>
            <a:ext cx="2372329" cy="816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</a:p>
        </p:txBody>
      </p: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Fiddler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3E38C13-8B50-4516-9E37-8BA11BB94FD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83AAC5F-E7C9-411A-92F1-8885371D596F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456513-1C66-4B82-A5A6-1C45DF8BCF7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5847AC-D10F-497A-A6D8-DFA536D90E46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FDA963-ABA0-4FFC-B968-1682AFE7F25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C797528-17C4-4B71-A803-74C61E235338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CBAC5B8C-E705-4FF2-B4C9-64497965A54A}"/>
              </a:ext>
            </a:extLst>
          </p:cNvPr>
          <p:cNvGrpSpPr/>
          <p:nvPr/>
        </p:nvGrpSpPr>
        <p:grpSpPr>
          <a:xfrm>
            <a:off x="170843" y="1690025"/>
            <a:ext cx="8663185" cy="1324606"/>
            <a:chOff x="275075" y="1594290"/>
            <a:chExt cx="8663185" cy="1324606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A65F1D56-E979-4F6B-B339-9074EF7C5FFB}"/>
                </a:ext>
              </a:extLst>
            </p:cNvPr>
            <p:cNvGrpSpPr/>
            <p:nvPr/>
          </p:nvGrpSpPr>
          <p:grpSpPr>
            <a:xfrm>
              <a:off x="381000" y="1771822"/>
              <a:ext cx="8557260" cy="1147074"/>
              <a:chOff x="0" y="2693406"/>
              <a:chExt cx="9906000" cy="1471188"/>
            </a:xfrm>
          </p:grpSpPr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7CC97709-AE80-491E-B364-2128E6F946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2693406"/>
                <a:ext cx="9906000" cy="1471188"/>
              </a:xfrm>
              <a:prstGeom prst="rect">
                <a:avLst/>
              </a:prstGeom>
            </p:spPr>
          </p:pic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DEE3486-F94B-49E0-84C0-439AAE2DBBBF}"/>
                  </a:ext>
                </a:extLst>
              </p:cNvPr>
              <p:cNvSpPr/>
              <p:nvPr/>
            </p:nvSpPr>
            <p:spPr>
              <a:xfrm>
                <a:off x="8615809" y="3029793"/>
                <a:ext cx="331341" cy="12615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CA631F08-4168-4BE0-BE9F-057FB3230E8B}"/>
                  </a:ext>
                </a:extLst>
              </p:cNvPr>
              <p:cNvSpPr/>
              <p:nvPr/>
            </p:nvSpPr>
            <p:spPr>
              <a:xfrm>
                <a:off x="7234698" y="3365758"/>
                <a:ext cx="353552" cy="12674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1AADDD74-6563-4A87-B3D3-73132AECFFB5}"/>
                  </a:ext>
                </a:extLst>
              </p:cNvPr>
              <p:cNvSpPr/>
              <p:nvPr/>
            </p:nvSpPr>
            <p:spPr>
              <a:xfrm>
                <a:off x="7234698" y="3644900"/>
                <a:ext cx="759952" cy="12674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E3A0B175-0CE3-4EA1-A70F-051B64B4E243}"/>
                </a:ext>
              </a:extLst>
            </p:cNvPr>
            <p:cNvSpPr/>
            <p:nvPr/>
          </p:nvSpPr>
          <p:spPr>
            <a:xfrm>
              <a:off x="275075" y="1594290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B026BF51-83FA-42D4-828B-1E7CE455662E}"/>
              </a:ext>
            </a:extLst>
          </p:cNvPr>
          <p:cNvGrpSpPr/>
          <p:nvPr/>
        </p:nvGrpSpPr>
        <p:grpSpPr>
          <a:xfrm>
            <a:off x="90428" y="5130165"/>
            <a:ext cx="7486120" cy="1256837"/>
            <a:chOff x="480727" y="5057311"/>
            <a:chExt cx="7486120" cy="1256837"/>
          </a:xfrm>
        </p:grpSpPr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C74C3FFB-5947-42A3-A4F6-AE4F20EF6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577" y="5226229"/>
              <a:ext cx="7274270" cy="1087919"/>
            </a:xfrm>
            <a:prstGeom prst="rect">
              <a:avLst/>
            </a:prstGeom>
          </p:spPr>
        </p:pic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5AD0CB88-8E13-4813-9499-DB702748E830}"/>
                </a:ext>
              </a:extLst>
            </p:cNvPr>
            <p:cNvSpPr/>
            <p:nvPr/>
          </p:nvSpPr>
          <p:spPr>
            <a:xfrm>
              <a:off x="480727" y="5057311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FA2248B9-BF95-49FC-93FB-245468288582}"/>
              </a:ext>
            </a:extLst>
          </p:cNvPr>
          <p:cNvGrpSpPr/>
          <p:nvPr/>
        </p:nvGrpSpPr>
        <p:grpSpPr>
          <a:xfrm>
            <a:off x="276768" y="3250565"/>
            <a:ext cx="3419810" cy="1730361"/>
            <a:chOff x="136680" y="3319532"/>
            <a:chExt cx="3419810" cy="1730361"/>
          </a:xfrm>
        </p:grpSpPr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A6089452-B5F9-49A9-973A-7A9F83AD059B}"/>
                </a:ext>
              </a:extLst>
            </p:cNvPr>
            <p:cNvGrpSpPr/>
            <p:nvPr/>
          </p:nvGrpSpPr>
          <p:grpSpPr>
            <a:xfrm>
              <a:off x="136680" y="3319532"/>
              <a:ext cx="3419810" cy="1730361"/>
              <a:chOff x="478715" y="2866473"/>
              <a:chExt cx="4018092" cy="2235333"/>
            </a:xfrm>
          </p:grpSpPr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DD988B4F-E3C3-4DEE-9035-6243CB6C1FAF}"/>
                  </a:ext>
                </a:extLst>
              </p:cNvPr>
              <p:cNvGrpSpPr/>
              <p:nvPr/>
            </p:nvGrpSpPr>
            <p:grpSpPr>
              <a:xfrm>
                <a:off x="724280" y="2991749"/>
                <a:ext cx="3772527" cy="2110057"/>
                <a:chOff x="1253736" y="3017533"/>
                <a:chExt cx="3772527" cy="2110057"/>
              </a:xfrm>
            </p:grpSpPr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15567937-6243-486F-B4D0-8782C7282B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3736" y="3017533"/>
                  <a:ext cx="3772527" cy="2110057"/>
                </a:xfrm>
                <a:prstGeom prst="rect">
                  <a:avLst/>
                </a:prstGeom>
              </p:spPr>
            </p:pic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F38CBB49-5AAD-48A4-A958-B9CED431EF4D}"/>
                    </a:ext>
                  </a:extLst>
                </p:cNvPr>
                <p:cNvSpPr/>
                <p:nvPr/>
              </p:nvSpPr>
              <p:spPr>
                <a:xfrm>
                  <a:off x="1925010" y="3576728"/>
                  <a:ext cx="2418390" cy="17612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98A05884-A50F-4283-BC25-CB0B5759D325}"/>
                    </a:ext>
                  </a:extLst>
                </p:cNvPr>
                <p:cNvSpPr/>
                <p:nvPr/>
              </p:nvSpPr>
              <p:spPr>
                <a:xfrm>
                  <a:off x="4212276" y="4932419"/>
                  <a:ext cx="366074" cy="17612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F8B76C2E-E30B-4144-8089-9B2942A13BDC}"/>
                  </a:ext>
                </a:extLst>
              </p:cNvPr>
              <p:cNvSpPr/>
              <p:nvPr/>
            </p:nvSpPr>
            <p:spPr>
              <a:xfrm>
                <a:off x="478715" y="2866473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DEF8B355-B210-471F-B34B-3CA3F1CA07CF}"/>
                </a:ext>
              </a:extLst>
            </p:cNvPr>
            <p:cNvSpPr/>
            <p:nvPr/>
          </p:nvSpPr>
          <p:spPr>
            <a:xfrm>
              <a:off x="1866899" y="3520281"/>
              <a:ext cx="342901" cy="1363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3669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83733"/>
            <a:ext cx="8676041" cy="543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 run/debug template</a:t>
            </a: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3321B15-FECF-4C15-9CEF-443FE1165FC2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run config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D72FE1-0C80-4584-B7C0-B35A7354165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849C551-93C7-444C-B43A-AEDCC47A74E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A1DDD3-09FA-4453-B8F1-4A7432C28AA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E44A6B-468C-4DCD-9243-D948A6D81735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E4F810-F91E-4DF8-81F0-56405F0340C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E1DF1DD-7A95-47BE-BA76-801CCEAD09D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A8950D9-6516-430B-8906-D248C3BB7A0E}"/>
              </a:ext>
            </a:extLst>
          </p:cNvPr>
          <p:cNvGrpSpPr/>
          <p:nvPr/>
        </p:nvGrpSpPr>
        <p:grpSpPr>
          <a:xfrm>
            <a:off x="564391" y="2001694"/>
            <a:ext cx="8469681" cy="624213"/>
            <a:chOff x="564391" y="2001694"/>
            <a:chExt cx="8469681" cy="624213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4553CFC-AB7D-422B-9A82-B5D98B7EEFDF}"/>
                </a:ext>
              </a:extLst>
            </p:cNvPr>
            <p:cNvGrpSpPr/>
            <p:nvPr/>
          </p:nvGrpSpPr>
          <p:grpSpPr>
            <a:xfrm>
              <a:off x="670316" y="2118748"/>
              <a:ext cx="8363756" cy="507159"/>
              <a:chOff x="615950" y="2118748"/>
              <a:chExt cx="8363756" cy="507159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A761CC13-3B42-411D-B07B-9C419ECCB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5950" y="2118748"/>
                <a:ext cx="8363756" cy="507159"/>
              </a:xfrm>
              <a:prstGeom prst="rect">
                <a:avLst/>
              </a:prstGeom>
            </p:spPr>
          </p:pic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AB65668-B7A7-445E-9FB0-FD1C9608739C}"/>
                  </a:ext>
                </a:extLst>
              </p:cNvPr>
              <p:cNvSpPr/>
              <p:nvPr/>
            </p:nvSpPr>
            <p:spPr>
              <a:xfrm>
                <a:off x="6561316" y="2118748"/>
                <a:ext cx="430034" cy="154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2ABBB8A-1D79-4D2F-922F-9CBD81F6A618}"/>
                  </a:ext>
                </a:extLst>
              </p:cNvPr>
              <p:cNvSpPr/>
              <p:nvPr/>
            </p:nvSpPr>
            <p:spPr>
              <a:xfrm>
                <a:off x="6529566" y="2471355"/>
                <a:ext cx="1153934" cy="10039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0C6C1F1-9CDF-4308-A259-CC0AC929FF56}"/>
                </a:ext>
              </a:extLst>
            </p:cNvPr>
            <p:cNvSpPr/>
            <p:nvPr/>
          </p:nvSpPr>
          <p:spPr>
            <a:xfrm>
              <a:off x="564391" y="2001694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2E7D4874-3D72-41EA-81B7-F0A3204E1954}"/>
              </a:ext>
            </a:extLst>
          </p:cNvPr>
          <p:cNvGrpSpPr/>
          <p:nvPr/>
        </p:nvGrpSpPr>
        <p:grpSpPr>
          <a:xfrm>
            <a:off x="2927456" y="2892540"/>
            <a:ext cx="2937344" cy="2282252"/>
            <a:chOff x="2897287" y="2893645"/>
            <a:chExt cx="2937344" cy="2282252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4E87ABE9-87E0-4CBC-8971-7E606C2DE652}"/>
                </a:ext>
              </a:extLst>
            </p:cNvPr>
            <p:cNvGrpSpPr/>
            <p:nvPr/>
          </p:nvGrpSpPr>
          <p:grpSpPr>
            <a:xfrm>
              <a:off x="2944208" y="3007295"/>
              <a:ext cx="2890423" cy="2168602"/>
              <a:chOff x="2944208" y="3007295"/>
              <a:chExt cx="2890423" cy="2168602"/>
            </a:xfrm>
          </p:grpSpPr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57BB3648-E057-40A2-9F6C-714DF428C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4208" y="3007295"/>
                <a:ext cx="2890423" cy="2168602"/>
              </a:xfrm>
              <a:prstGeom prst="rect">
                <a:avLst/>
              </a:prstGeom>
            </p:spPr>
          </p:pic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D4FF8497-8729-45AD-982F-C0D2A340BD09}"/>
                  </a:ext>
                </a:extLst>
              </p:cNvPr>
              <p:cNvSpPr/>
              <p:nvPr/>
            </p:nvSpPr>
            <p:spPr>
              <a:xfrm>
                <a:off x="2945206" y="4017059"/>
                <a:ext cx="814032" cy="7869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70946C65-8C02-41B6-9C4A-BD99FCF2218A}"/>
                  </a:ext>
                </a:extLst>
              </p:cNvPr>
              <p:cNvSpPr/>
              <p:nvPr/>
            </p:nvSpPr>
            <p:spPr>
              <a:xfrm>
                <a:off x="5697931" y="3696385"/>
                <a:ext cx="90094" cy="7551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B5C367CB-567E-4D6A-8192-F925F5E8AE34}"/>
                </a:ext>
              </a:extLst>
            </p:cNvPr>
            <p:cNvSpPr/>
            <p:nvPr/>
          </p:nvSpPr>
          <p:spPr>
            <a:xfrm>
              <a:off x="2897287" y="2893645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CD96DD57-2214-4A1F-9B2A-44C99695DC44}"/>
              </a:ext>
            </a:extLst>
          </p:cNvPr>
          <p:cNvGrpSpPr/>
          <p:nvPr/>
        </p:nvGrpSpPr>
        <p:grpSpPr>
          <a:xfrm>
            <a:off x="6177928" y="2892540"/>
            <a:ext cx="3090323" cy="2386920"/>
            <a:chOff x="6177928" y="2892540"/>
            <a:chExt cx="3090323" cy="2386920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BCA1771-C05D-41F9-B4CE-83E69FF82AB3}"/>
                </a:ext>
              </a:extLst>
            </p:cNvPr>
            <p:cNvGrpSpPr/>
            <p:nvPr/>
          </p:nvGrpSpPr>
          <p:grpSpPr>
            <a:xfrm>
              <a:off x="6195313" y="3007295"/>
              <a:ext cx="3072938" cy="2272165"/>
              <a:chOff x="5961134" y="2946065"/>
              <a:chExt cx="3072938" cy="2272165"/>
            </a:xfrm>
          </p:grpSpPr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378A25DF-3E98-41DE-A882-5F8C56FCFA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1134" y="2946065"/>
                <a:ext cx="3072938" cy="2268991"/>
              </a:xfrm>
              <a:prstGeom prst="rect">
                <a:avLst/>
              </a:prstGeom>
            </p:spPr>
          </p:pic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78347D9-DCF6-4BD3-8B2B-BF92E24BE2D7}"/>
                  </a:ext>
                </a:extLst>
              </p:cNvPr>
              <p:cNvSpPr/>
              <p:nvPr/>
            </p:nvSpPr>
            <p:spPr>
              <a:xfrm>
                <a:off x="6927047" y="3657039"/>
                <a:ext cx="1089828" cy="22598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B48F43A-D28C-43E5-AE19-8F322BA08845}"/>
                  </a:ext>
                </a:extLst>
              </p:cNvPr>
              <p:cNvSpPr/>
              <p:nvPr/>
            </p:nvSpPr>
            <p:spPr>
              <a:xfrm>
                <a:off x="8756651" y="5079095"/>
                <a:ext cx="219845" cy="13913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51B76C9-8F9C-454A-93FC-8ACB63ABDA5D}"/>
                  </a:ext>
                </a:extLst>
              </p:cNvPr>
              <p:cNvSpPr/>
              <p:nvPr/>
            </p:nvSpPr>
            <p:spPr>
              <a:xfrm>
                <a:off x="8166101" y="5054599"/>
                <a:ext cx="277422" cy="1636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9B0564BC-C457-4943-BD38-E9DAFF445EE2}"/>
                </a:ext>
              </a:extLst>
            </p:cNvPr>
            <p:cNvSpPr/>
            <p:nvPr/>
          </p:nvSpPr>
          <p:spPr>
            <a:xfrm>
              <a:off x="6177928" y="2892540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8A2C929-80F6-4C0C-8D26-A113308E13B0}"/>
              </a:ext>
            </a:extLst>
          </p:cNvPr>
          <p:cNvGrpSpPr/>
          <p:nvPr/>
        </p:nvGrpSpPr>
        <p:grpSpPr>
          <a:xfrm>
            <a:off x="380690" y="2843339"/>
            <a:ext cx="2367765" cy="2140209"/>
            <a:chOff x="380690" y="2843339"/>
            <a:chExt cx="2367765" cy="2140209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3CBEC783-1BDD-461E-BD75-B118FBFEADBC}"/>
                </a:ext>
              </a:extLst>
            </p:cNvPr>
            <p:cNvGrpSpPr/>
            <p:nvPr/>
          </p:nvGrpSpPr>
          <p:grpSpPr>
            <a:xfrm>
              <a:off x="380690" y="2843339"/>
              <a:ext cx="2367765" cy="2140209"/>
              <a:chOff x="380690" y="2843339"/>
              <a:chExt cx="2367765" cy="2140209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3ABB8FB6-E4C7-4993-95AD-28BAEDBCB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906" y="3052694"/>
                <a:ext cx="2238549" cy="1930854"/>
              </a:xfrm>
              <a:prstGeom prst="rect">
                <a:avLst/>
              </a:prstGeom>
            </p:spPr>
          </p:pic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D1494ECD-D6AB-44C0-82B1-63E2378BCBBC}"/>
                  </a:ext>
                </a:extLst>
              </p:cNvPr>
              <p:cNvSpPr/>
              <p:nvPr/>
            </p:nvSpPr>
            <p:spPr>
              <a:xfrm>
                <a:off x="380690" y="2843339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861018D-963C-45D0-84BA-DE25DC2729EC}"/>
                </a:ext>
              </a:extLst>
            </p:cNvPr>
            <p:cNvSpPr/>
            <p:nvPr/>
          </p:nvSpPr>
          <p:spPr>
            <a:xfrm>
              <a:off x="493762" y="4766359"/>
              <a:ext cx="522238" cy="596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8346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C3C7071D-8E34-4119-B25E-085CF98F46AD}"/>
              </a:ext>
            </a:extLst>
          </p:cNvPr>
          <p:cNvSpPr txBox="1">
            <a:spLocks/>
          </p:cNvSpPr>
          <p:nvPr/>
        </p:nvSpPr>
        <p:spPr>
          <a:xfrm>
            <a:off x="835691" y="1383733"/>
            <a:ext cx="8676041" cy="451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run/debug template</a:t>
            </a: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3321B15-FECF-4C15-9CEF-443FE1165FC2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 community run config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D72FE1-0C80-4584-B7C0-B35A7354165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849C551-93C7-444C-B43A-AEDCC47A74EC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A1DDD3-09FA-4453-B8F1-4A7432C28AA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E44A6B-468C-4DCD-9243-D948A6D81735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E4F810-F91E-4DF8-81F0-56405F0340C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E1DF1DD-7A95-47BE-BA76-801CCEAD09D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3928F99-3BDA-42AB-BC8D-04AF5C3CE8A0}"/>
              </a:ext>
            </a:extLst>
          </p:cNvPr>
          <p:cNvGrpSpPr/>
          <p:nvPr/>
        </p:nvGrpSpPr>
        <p:grpSpPr>
          <a:xfrm>
            <a:off x="564391" y="2001694"/>
            <a:ext cx="8469681" cy="624213"/>
            <a:chOff x="564391" y="2001694"/>
            <a:chExt cx="8469681" cy="624213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54553CFC-AB7D-422B-9A82-B5D98B7EEFDF}"/>
                </a:ext>
              </a:extLst>
            </p:cNvPr>
            <p:cNvGrpSpPr/>
            <p:nvPr/>
          </p:nvGrpSpPr>
          <p:grpSpPr>
            <a:xfrm>
              <a:off x="670316" y="2118748"/>
              <a:ext cx="8363756" cy="507159"/>
              <a:chOff x="615950" y="2118748"/>
              <a:chExt cx="8363756" cy="507159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A761CC13-3B42-411D-B07B-9C419ECCB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5950" y="2118748"/>
                <a:ext cx="8363756" cy="507159"/>
              </a:xfrm>
              <a:prstGeom prst="rect">
                <a:avLst/>
              </a:prstGeom>
            </p:spPr>
          </p:pic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AB65668-B7A7-445E-9FB0-FD1C9608739C}"/>
                  </a:ext>
                </a:extLst>
              </p:cNvPr>
              <p:cNvSpPr/>
              <p:nvPr/>
            </p:nvSpPr>
            <p:spPr>
              <a:xfrm>
                <a:off x="6561316" y="2118748"/>
                <a:ext cx="430034" cy="154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2ABBB8A-1D79-4D2F-922F-9CBD81F6A618}"/>
                  </a:ext>
                </a:extLst>
              </p:cNvPr>
              <p:cNvSpPr/>
              <p:nvPr/>
            </p:nvSpPr>
            <p:spPr>
              <a:xfrm>
                <a:off x="6529566" y="2471355"/>
                <a:ext cx="1153934" cy="10039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B0C6C1F1-9CDF-4308-A259-CC0AC929FF56}"/>
                </a:ext>
              </a:extLst>
            </p:cNvPr>
            <p:cNvSpPr/>
            <p:nvPr/>
          </p:nvSpPr>
          <p:spPr>
            <a:xfrm>
              <a:off x="564391" y="2001694"/>
              <a:ext cx="211850" cy="20935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8A2C929-80F6-4C0C-8D26-A113308E13B0}"/>
              </a:ext>
            </a:extLst>
          </p:cNvPr>
          <p:cNvGrpSpPr/>
          <p:nvPr/>
        </p:nvGrpSpPr>
        <p:grpSpPr>
          <a:xfrm>
            <a:off x="387837" y="2856317"/>
            <a:ext cx="2360618" cy="2127231"/>
            <a:chOff x="387837" y="2856317"/>
            <a:chExt cx="2360618" cy="2127231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3CBEC783-1BDD-461E-BD75-B118FBFEADBC}"/>
                </a:ext>
              </a:extLst>
            </p:cNvPr>
            <p:cNvGrpSpPr/>
            <p:nvPr/>
          </p:nvGrpSpPr>
          <p:grpSpPr>
            <a:xfrm>
              <a:off x="387837" y="2856317"/>
              <a:ext cx="2360618" cy="2127231"/>
              <a:chOff x="387837" y="2856317"/>
              <a:chExt cx="2360618" cy="2127231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3ABB8FB6-E4C7-4993-95AD-28BAEDBCB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906" y="3052694"/>
                <a:ext cx="2238549" cy="1930854"/>
              </a:xfrm>
              <a:prstGeom prst="rect">
                <a:avLst/>
              </a:prstGeom>
            </p:spPr>
          </p:pic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D1494ECD-D6AB-44C0-82B1-63E2378BCBBC}"/>
                  </a:ext>
                </a:extLst>
              </p:cNvPr>
              <p:cNvSpPr/>
              <p:nvPr/>
            </p:nvSpPr>
            <p:spPr>
              <a:xfrm>
                <a:off x="387837" y="2856317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861018D-963C-45D0-84BA-DE25DC2729EC}"/>
                </a:ext>
              </a:extLst>
            </p:cNvPr>
            <p:cNvSpPr/>
            <p:nvPr/>
          </p:nvSpPr>
          <p:spPr>
            <a:xfrm>
              <a:off x="493762" y="4766359"/>
              <a:ext cx="522238" cy="596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176A2F2-24FB-4AA3-845A-ED1E18D78FC0}"/>
              </a:ext>
            </a:extLst>
          </p:cNvPr>
          <p:cNvGrpSpPr/>
          <p:nvPr/>
        </p:nvGrpSpPr>
        <p:grpSpPr>
          <a:xfrm>
            <a:off x="3169593" y="2980016"/>
            <a:ext cx="2644441" cy="2180804"/>
            <a:chOff x="729766" y="2084730"/>
            <a:chExt cx="3083841" cy="2512808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720C2BD4-6A7D-42DD-B818-5DBD1441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889" y="2328546"/>
              <a:ext cx="3050718" cy="2268992"/>
            </a:xfrm>
            <a:prstGeom prst="rect">
              <a:avLst/>
            </a:prstGeom>
          </p:spPr>
        </p:pic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8846C7B3-4587-4160-9A9F-DCA7B9D17CE2}"/>
                </a:ext>
              </a:extLst>
            </p:cNvPr>
            <p:cNvGrpSpPr/>
            <p:nvPr/>
          </p:nvGrpSpPr>
          <p:grpSpPr>
            <a:xfrm>
              <a:off x="729766" y="2084730"/>
              <a:ext cx="3038795" cy="1024044"/>
              <a:chOff x="2805159" y="2717438"/>
              <a:chExt cx="3038795" cy="1024044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3B671EFC-D22D-4090-AE4B-B8B256899B15}"/>
                  </a:ext>
                </a:extLst>
              </p:cNvPr>
              <p:cNvGrpSpPr/>
              <p:nvPr/>
            </p:nvGrpSpPr>
            <p:grpSpPr>
              <a:xfrm>
                <a:off x="2838281" y="3217646"/>
                <a:ext cx="3005673" cy="523836"/>
                <a:chOff x="2838281" y="3217646"/>
                <a:chExt cx="3005673" cy="523836"/>
              </a:xfrm>
            </p:grpSpPr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94CD2213-0137-4C1C-A90F-0769B851C920}"/>
                    </a:ext>
                  </a:extLst>
                </p:cNvPr>
                <p:cNvSpPr/>
                <p:nvPr/>
              </p:nvSpPr>
              <p:spPr>
                <a:xfrm>
                  <a:off x="2838281" y="3217646"/>
                  <a:ext cx="850012" cy="7869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D5F3BB9C-E26D-40CC-AEF7-38F483584344}"/>
                    </a:ext>
                  </a:extLst>
                </p:cNvPr>
                <p:cNvSpPr/>
                <p:nvPr/>
              </p:nvSpPr>
              <p:spPr>
                <a:xfrm>
                  <a:off x="5753860" y="3669053"/>
                  <a:ext cx="90094" cy="72429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2E871990-3304-4F06-ADC7-F764772FCA9A}"/>
                  </a:ext>
                </a:extLst>
              </p:cNvPr>
              <p:cNvSpPr/>
              <p:nvPr/>
            </p:nvSpPr>
            <p:spPr>
              <a:xfrm>
                <a:off x="2805159" y="2717438"/>
                <a:ext cx="211850" cy="2093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3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872CC91-E8DD-479B-AFCB-AC2FA84C2FED}"/>
              </a:ext>
            </a:extLst>
          </p:cNvPr>
          <p:cNvGrpSpPr/>
          <p:nvPr/>
        </p:nvGrpSpPr>
        <p:grpSpPr>
          <a:xfrm>
            <a:off x="6214125" y="2931374"/>
            <a:ext cx="2724845" cy="2229446"/>
            <a:chOff x="3550756" y="1820686"/>
            <a:chExt cx="4717876" cy="3484405"/>
          </a:xfrm>
        </p:grpSpPr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6C8C1B8E-3173-4CB2-B9AC-9854EA89A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76993" y="2037561"/>
              <a:ext cx="4391639" cy="3267530"/>
            </a:xfrm>
            <a:prstGeom prst="rect">
              <a:avLst/>
            </a:prstGeom>
          </p:spPr>
        </p:pic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D9A3511B-33FD-4827-BCFA-3F3AC1B854F1}"/>
                </a:ext>
              </a:extLst>
            </p:cNvPr>
            <p:cNvSpPr/>
            <p:nvPr/>
          </p:nvSpPr>
          <p:spPr>
            <a:xfrm>
              <a:off x="5262450" y="3039582"/>
              <a:ext cx="1535526" cy="2493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B575F6C-E60E-48BB-8ED6-5D82D5F2F286}"/>
                </a:ext>
              </a:extLst>
            </p:cNvPr>
            <p:cNvSpPr/>
            <p:nvPr/>
          </p:nvSpPr>
          <p:spPr>
            <a:xfrm>
              <a:off x="7885804" y="5104202"/>
              <a:ext cx="318396" cy="1636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E68F9395-6FD5-4FC6-B22A-4BEFFE12E769}"/>
                </a:ext>
              </a:extLst>
            </p:cNvPr>
            <p:cNvSpPr/>
            <p:nvPr/>
          </p:nvSpPr>
          <p:spPr>
            <a:xfrm>
              <a:off x="7035800" y="5091027"/>
              <a:ext cx="368300" cy="1636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B782EFE4-DCFE-402E-BCCE-A5119096438A}"/>
                </a:ext>
              </a:extLst>
            </p:cNvPr>
            <p:cNvSpPr/>
            <p:nvPr/>
          </p:nvSpPr>
          <p:spPr>
            <a:xfrm>
              <a:off x="3550756" y="1820686"/>
              <a:ext cx="314540" cy="24666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1522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</a:t>
            </a:r>
            <a:endParaRPr lang="zh-TW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57353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訪問網站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https://platform.openai.com/home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註冊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的會員並登入。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若無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的會員則需進行註冊後登入。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2B6E02-7458-40AD-92C3-689557783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83" y="3075126"/>
            <a:ext cx="3641650" cy="2512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2DCE2EE-C6FC-43B1-92A9-01318DCFE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3013" y="2909611"/>
            <a:ext cx="5745504" cy="28439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橢圓 22">
            <a:extLst>
              <a:ext uri="{FF2B5EF4-FFF2-40B4-BE49-F238E27FC236}">
                <a16:creationId xmlns:a16="http://schemas.microsoft.com/office/drawing/2014/main" id="{E94B3B7B-69EA-4CFA-B4A2-C2F367CAE7D8}"/>
              </a:ext>
            </a:extLst>
          </p:cNvPr>
          <p:cNvSpPr/>
          <p:nvPr/>
        </p:nvSpPr>
        <p:spPr>
          <a:xfrm>
            <a:off x="47683" y="290961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6F3B56F-0596-4815-94CD-3D239499D28B}"/>
              </a:ext>
            </a:extLst>
          </p:cNvPr>
          <p:cNvSpPr/>
          <p:nvPr/>
        </p:nvSpPr>
        <p:spPr>
          <a:xfrm>
            <a:off x="3838996" y="275216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FC1534-B55B-4185-8A02-53343B9501B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14FE3FF-3925-43F9-AEBA-78255CD7DD7A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ADF33D-603F-4CB3-9CC3-E81AB873775E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A764F67-71AB-4FE2-9795-B8437A0B14E2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910499-1921-421D-B033-C6C5E295D7AC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CF548BF-5AF7-4F8E-BDD9-15A565509182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350315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70101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keys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側邊頁籤。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secret key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填入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的自訂義名稱。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選擇 預設專案。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secret key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6A96ED8-247A-4726-9EEE-60E21AB66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74" y="3230110"/>
            <a:ext cx="5725018" cy="2599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C0A4C8C-0A41-4166-BF49-8CC7FE1DF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10" y="2909270"/>
            <a:ext cx="3330085" cy="34638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D4014F2D-392B-4E4F-8B73-807B954C3C6C}"/>
              </a:ext>
            </a:extLst>
          </p:cNvPr>
          <p:cNvSpPr/>
          <p:nvPr/>
        </p:nvSpPr>
        <p:spPr>
          <a:xfrm>
            <a:off x="212408" y="3141576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1B88CFBE-F302-42E3-99DC-417FD877B2B4}"/>
              </a:ext>
            </a:extLst>
          </p:cNvPr>
          <p:cNvSpPr/>
          <p:nvPr/>
        </p:nvSpPr>
        <p:spPr>
          <a:xfrm>
            <a:off x="6183504" y="283179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779E549-F6E6-465A-916A-8F2E562D7D3F}"/>
              </a:ext>
            </a:extLst>
          </p:cNvPr>
          <p:cNvSpPr txBox="1"/>
          <p:nvPr/>
        </p:nvSpPr>
        <p:spPr>
          <a:xfrm>
            <a:off x="4165186" y="1374314"/>
            <a:ext cx="5054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Lab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會使用到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API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金鑰，會有額度需要計費。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若無免費額度則必須設定臨時付款方式如信用卡，用多少算多少，隨時可以取消。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54178D-AEFC-4D30-9097-560F7DE79F87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85255BC-72B2-4FFD-84DE-68D699406332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106479-EA3E-4F62-8D41-2380DF6AADD7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1966BBE-0538-48F7-AB90-8ADF0DDAFEDF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1790E1-1345-49B3-ACFC-CACE3FAE461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8EF3ED7-BFB2-4296-9E32-64A63F8E4B0A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4050891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70101"/>
            <a:ext cx="7965380" cy="497169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點選複製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並妥善保管，若遺失則需要重新申請。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右上角個人圖示。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profile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7F3E10-B863-49C7-BD0A-6E9AC1B9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49" y="2918111"/>
            <a:ext cx="3722827" cy="32149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A513A36-C018-4F7A-BB36-874853ADA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153" y="2690037"/>
            <a:ext cx="2585321" cy="35493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7" name="橢圓 26">
            <a:extLst>
              <a:ext uri="{FF2B5EF4-FFF2-40B4-BE49-F238E27FC236}">
                <a16:creationId xmlns:a16="http://schemas.microsoft.com/office/drawing/2014/main" id="{1FBCFF7D-4AA0-4F97-B604-26203C1CE9CC}"/>
              </a:ext>
            </a:extLst>
          </p:cNvPr>
          <p:cNvSpPr/>
          <p:nvPr/>
        </p:nvSpPr>
        <p:spPr>
          <a:xfrm>
            <a:off x="565770" y="2785709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B261BE9-4A73-44E5-8940-2E4D9E601F6F}"/>
              </a:ext>
            </a:extLst>
          </p:cNvPr>
          <p:cNvSpPr/>
          <p:nvPr/>
        </p:nvSpPr>
        <p:spPr>
          <a:xfrm>
            <a:off x="5657986" y="258023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B30BA9-09F9-4380-B4E2-73284A2898AC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5D6E126-52DF-4D19-B6DA-5F83291BFDA7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B7A7E8-9CF3-493D-BF81-0F9F97B434E7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853E4F6-F3A1-4D43-ACE8-D27C63365FD5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81CFFC-0B5C-465E-A0CC-30BF943E892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C209924-4513-4267-B70F-BE22A78C3874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067909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5D2B212-00BF-4D42-BE32-7CB00374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0" y="3038853"/>
            <a:ext cx="5114759" cy="2898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70101"/>
            <a:ext cx="7965380" cy="4971696"/>
          </a:xfrm>
        </p:spPr>
        <p:txBody>
          <a:bodyPr>
            <a:normAutofit/>
          </a:bodyPr>
          <a:lstStyle/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1FBCFF7D-4AA0-4F97-B604-26203C1CE9CC}"/>
              </a:ext>
            </a:extLst>
          </p:cNvPr>
          <p:cNvSpPr/>
          <p:nvPr/>
        </p:nvSpPr>
        <p:spPr>
          <a:xfrm>
            <a:off x="523240" y="2893555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15A38953-7316-4971-9DE5-571378858A68}"/>
              </a:ext>
            </a:extLst>
          </p:cNvPr>
          <p:cNvSpPr txBox="1">
            <a:spLocks/>
          </p:cNvSpPr>
          <p:nvPr/>
        </p:nvSpPr>
        <p:spPr>
          <a:xfrm>
            <a:off x="896717" y="1415103"/>
            <a:ext cx="7965380" cy="4971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確認本身帳號是否有免費額度。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若無則點選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填寫付款機制。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payment details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填入信用卡資訊點選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E6BD99-E8E7-4CF4-951D-F48487EBF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164" y="2959558"/>
            <a:ext cx="2841074" cy="33138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7D070B47-67A0-4896-8911-8507AC8F9EE8}"/>
              </a:ext>
            </a:extLst>
          </p:cNvPr>
          <p:cNvSpPr/>
          <p:nvPr/>
        </p:nvSpPr>
        <p:spPr>
          <a:xfrm>
            <a:off x="6193748" y="2897216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2813092-659B-4D03-8D96-5981DB513FAC}"/>
              </a:ext>
            </a:extLst>
          </p:cNvPr>
          <p:cNvCxnSpPr/>
          <p:nvPr/>
        </p:nvCxnSpPr>
        <p:spPr>
          <a:xfrm>
            <a:off x="2211572" y="4316819"/>
            <a:ext cx="4040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1202BC7-FB1E-4171-B576-CB99D84C4831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3F59659-0ADB-4DD3-AFF8-C42563702FBD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7760752-95C3-4E42-83B7-ACC6AB13917B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4E8419F-FCDB-4E85-9A12-8C7183B364A6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693D7E9-2715-4916-9EBE-2824F19568FB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ED318B1-455E-4C75-9746-197AC0D389C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620883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70101"/>
            <a:ext cx="7965380" cy="4971696"/>
          </a:xfrm>
        </p:spPr>
        <p:txBody>
          <a:bodyPr>
            <a:normAutofit/>
          </a:bodyPr>
          <a:lstStyle/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15A38953-7316-4971-9DE5-571378858A68}"/>
              </a:ext>
            </a:extLst>
          </p:cNvPr>
          <p:cNvSpPr txBox="1">
            <a:spLocks/>
          </p:cNvSpPr>
          <p:nvPr/>
        </p:nvSpPr>
        <p:spPr>
          <a:xfrm>
            <a:off x="1039091" y="1522501"/>
            <a:ext cx="7965380" cy="4971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設定預設儲值金額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US$ 5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。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用多少算多少，以輸入為例 </a:t>
            </a:r>
            <a:r>
              <a:rPr lang="en-US" altLang="zh-TW" sz="1200" dirty="0">
                <a:solidFill>
                  <a:srgbClr val="FF0000"/>
                </a:solidFill>
              </a:rPr>
              <a:t>: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US$2.5 / 100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萬個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 </a:t>
            </a:r>
            <a:r>
              <a:rPr lang="en-US" altLang="zh-TW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關閉自動儲值功能。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pricing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，查看收費標準。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https://openai.com/zh-Hant/api/pricing/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Contitnue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payment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  <a:r>
              <a:rPr lang="en-US" altLang="zh-TW" sz="1200" dirty="0">
                <a:solidFill>
                  <a:srgbClr val="FF0000"/>
                </a:solidFill>
              </a:rPr>
              <a:t>(</a:t>
            </a:r>
            <a:r>
              <a:rPr lang="zh-TW" altLang="en-US" sz="1200" dirty="0">
                <a:solidFill>
                  <a:srgbClr val="FF0000"/>
                </a:solidFill>
              </a:rPr>
              <a:t>以 </a:t>
            </a:r>
            <a:r>
              <a:rPr lang="en-US" altLang="zh-TW" sz="1200" dirty="0">
                <a:solidFill>
                  <a:srgbClr val="FF0000"/>
                </a:solidFill>
              </a:rPr>
              <a:t>US$</a:t>
            </a:r>
            <a:r>
              <a:rPr lang="zh-TW" altLang="en-US" sz="1200" dirty="0">
                <a:solidFill>
                  <a:srgbClr val="FF0000"/>
                </a:solidFill>
              </a:rPr>
              <a:t> </a:t>
            </a:r>
            <a:r>
              <a:rPr lang="en-US" altLang="zh-TW" sz="1200" dirty="0">
                <a:solidFill>
                  <a:srgbClr val="FF0000"/>
                </a:solidFill>
              </a:rPr>
              <a:t>5 </a:t>
            </a:r>
            <a:r>
              <a:rPr lang="zh-TW" altLang="en-US" sz="1200" dirty="0">
                <a:solidFill>
                  <a:srgbClr val="FF0000"/>
                </a:solidFill>
              </a:rPr>
              <a:t>為例，總金額是 </a:t>
            </a:r>
            <a:r>
              <a:rPr lang="en-US" altLang="zh-TW" sz="1200" dirty="0">
                <a:solidFill>
                  <a:srgbClr val="FF0000"/>
                </a:solidFill>
              </a:rPr>
              <a:t>US$</a:t>
            </a:r>
            <a:r>
              <a:rPr lang="zh-TW" altLang="en-US" sz="1200" dirty="0">
                <a:solidFill>
                  <a:srgbClr val="FF0000"/>
                </a:solidFill>
              </a:rPr>
              <a:t> </a:t>
            </a:r>
            <a:r>
              <a:rPr lang="en-US" altLang="zh-TW" sz="1200" dirty="0">
                <a:solidFill>
                  <a:srgbClr val="FF0000"/>
                </a:solidFill>
              </a:rPr>
              <a:t>5.25 </a:t>
            </a:r>
            <a:r>
              <a:rPr lang="zh-TW" altLang="en-US" sz="1200" dirty="0">
                <a:solidFill>
                  <a:srgbClr val="FF0000"/>
                </a:solidFill>
              </a:rPr>
              <a:t>含稅，</a:t>
            </a:r>
            <a:r>
              <a:rPr lang="en-US" altLang="zh-TW" sz="1200" dirty="0">
                <a:solidFill>
                  <a:srgbClr val="FF0000"/>
                </a:solidFill>
              </a:rPr>
              <a:t>NT$166</a:t>
            </a:r>
            <a:r>
              <a:rPr lang="zh-TW" altLang="en-US" sz="1200" dirty="0">
                <a:solidFill>
                  <a:srgbClr val="FF0000"/>
                </a:solidFill>
              </a:rPr>
              <a:t>台幣</a:t>
            </a:r>
            <a:r>
              <a:rPr lang="en-US" altLang="zh-TW" sz="1200" dirty="0">
                <a:solidFill>
                  <a:srgbClr val="FF0000"/>
                </a:solidFill>
              </a:rPr>
              <a:t>)</a:t>
            </a: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006478-9A9E-4923-88FE-BAD78730B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91" y="3435602"/>
            <a:ext cx="3672584" cy="24179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橢圓 22">
            <a:extLst>
              <a:ext uri="{FF2B5EF4-FFF2-40B4-BE49-F238E27FC236}">
                <a16:creationId xmlns:a16="http://schemas.microsoft.com/office/drawing/2014/main" id="{2A7C7B95-C2F4-4BEA-9F3C-FCDE1AEAFD21}"/>
              </a:ext>
            </a:extLst>
          </p:cNvPr>
          <p:cNvSpPr/>
          <p:nvPr/>
        </p:nvSpPr>
        <p:spPr>
          <a:xfrm>
            <a:off x="633491" y="3310670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4910F8D-7B6D-4D4E-B32F-82BEC4901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8114" y="3429000"/>
            <a:ext cx="3180752" cy="28020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0B0E333B-727B-46CF-83A0-0F90C95A3F7A}"/>
              </a:ext>
            </a:extLst>
          </p:cNvPr>
          <p:cNvSpPr/>
          <p:nvPr/>
        </p:nvSpPr>
        <p:spPr>
          <a:xfrm>
            <a:off x="5350153" y="3266776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BEA665-25B4-44F7-9066-0A1AEA4D310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250DCC4-038F-421D-A7FC-703CEE680170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2F712F-E06D-4DD3-A8F3-EFAF6D27FC35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9FDE6FD-A5AA-477B-9CA1-1AFA3C21D51C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A7B7AD-C5FB-4567-9634-E6F183E4586F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52F851E-380D-4A17-8EAA-BF071D4433C8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120605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54DB3-9E1F-8732-C158-A121F1B9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50" y="214061"/>
            <a:ext cx="7965380" cy="686196"/>
          </a:xfrm>
        </p:spPr>
        <p:txBody>
          <a:bodyPr/>
          <a:lstStyle/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API Key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83C7291-4994-47CD-BF50-8FABF1F1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370101"/>
            <a:ext cx="7965380" cy="4971696"/>
          </a:xfrm>
        </p:spPr>
        <p:txBody>
          <a:bodyPr>
            <a:normAutofit/>
          </a:bodyPr>
          <a:lstStyle/>
          <a:p>
            <a:pPr marL="0" lvl="1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9C8DC3E-DF36-4D83-8A64-7F4C940EC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59" y="2383151"/>
            <a:ext cx="4954900" cy="26612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內容版面配置區 2">
            <a:extLst>
              <a:ext uri="{FF2B5EF4-FFF2-40B4-BE49-F238E27FC236}">
                <a16:creationId xmlns:a16="http://schemas.microsoft.com/office/drawing/2014/main" id="{2E4E9920-4EEC-44E9-AD80-83A9F366B5DA}"/>
              </a:ext>
            </a:extLst>
          </p:cNvPr>
          <p:cNvSpPr txBox="1">
            <a:spLocks/>
          </p:cNvSpPr>
          <p:nvPr/>
        </p:nvSpPr>
        <p:spPr>
          <a:xfrm>
            <a:off x="1037142" y="1407711"/>
            <a:ext cx="7965380" cy="4971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申請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成功畫面。</a:t>
            </a: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點選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grants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有效期限。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通常有效期限為一年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B54EDAD2-F404-41F6-9EF9-E5EC1BFC4CCC}"/>
              </a:ext>
            </a:extLst>
          </p:cNvPr>
          <p:cNvSpPr/>
          <p:nvPr/>
        </p:nvSpPr>
        <p:spPr>
          <a:xfrm>
            <a:off x="484741" y="227335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59AD678-8544-4BA9-91F4-2A15BC8ED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161" y="4037278"/>
            <a:ext cx="5478809" cy="2014324"/>
          </a:xfrm>
          <a:prstGeom prst="rect">
            <a:avLst/>
          </a:prstGeom>
        </p:spPr>
      </p:pic>
      <p:sp>
        <p:nvSpPr>
          <p:cNvPr id="27" name="橢圓 26">
            <a:extLst>
              <a:ext uri="{FF2B5EF4-FFF2-40B4-BE49-F238E27FC236}">
                <a16:creationId xmlns:a16="http://schemas.microsoft.com/office/drawing/2014/main" id="{9D5A4E6F-4E10-4852-9D84-7C4137745DAF}"/>
              </a:ext>
            </a:extLst>
          </p:cNvPr>
          <p:cNvSpPr/>
          <p:nvPr/>
        </p:nvSpPr>
        <p:spPr>
          <a:xfrm>
            <a:off x="4374977" y="392747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1371A4-D284-4C2E-A3C1-7FD226F2C5D0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0C50E53-631F-48DA-AF45-735114536C88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80A337-BFF3-4B96-8E08-F1C04433881C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632CF9B-F520-41ED-A9A3-DA7E447C3C51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FBF005-520B-43E0-83DF-91FD356C74B5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52A160F-8F1C-429A-895F-DEC9CFCC1899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906421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1B5D85F-8C1A-43AD-89F9-66E13E4E4D2C}"/>
              </a:ext>
            </a:extLst>
          </p:cNvPr>
          <p:cNvGrpSpPr/>
          <p:nvPr/>
        </p:nvGrpSpPr>
        <p:grpSpPr>
          <a:xfrm>
            <a:off x="1347671" y="1602320"/>
            <a:ext cx="7049283" cy="1713813"/>
            <a:chOff x="1607688" y="1731888"/>
            <a:chExt cx="7049283" cy="1713813"/>
          </a:xfrm>
        </p:grpSpPr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C3C7071D-8E34-4119-B25E-085CF98F46AD}"/>
                </a:ext>
              </a:extLst>
            </p:cNvPr>
            <p:cNvSpPr txBox="1">
              <a:spLocks/>
            </p:cNvSpPr>
            <p:nvPr/>
          </p:nvSpPr>
          <p:spPr>
            <a:xfrm>
              <a:off x="1607688" y="1731888"/>
              <a:ext cx="7049283" cy="1713813"/>
            </a:xfrm>
            <a:prstGeom prst="rect">
              <a:avLst/>
            </a:prstGeom>
          </p:spPr>
          <p:txBody>
            <a:bodyPr vert="horz" lIns="74295" tIns="37148" rIns="74295" bIns="37148" rtlCol="0">
              <a:normAutofit lnSpcReduction="10000"/>
            </a:bodyPr>
            <a:lstStyle>
              <a:lvl1pPr marL="361950" indent="-3619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l"/>
                <a:defRPr sz="2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30238" indent="-328613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微軟正黑體" panose="020B0604030504040204" pitchFamily="34" charset="-120"/>
                <a:buChar char="─"/>
                <a:defRPr sz="24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896938" indent="-2936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165225" indent="-2603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p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1436688" indent="-2301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1660029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61853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63676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65500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開啟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 community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點選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Terminal &gt;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 Bash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執行下列指令</a:t>
              </a: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如圖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所示即為執行成功。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若發生錯誤解決不了 </a:t>
              </a:r>
              <a:r>
                <a:rPr lang="en-US" altLang="zh-TW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請課前回報</a:t>
              </a:r>
              <a:endParaRPr lang="en-US" altLang="zh-TW" sz="138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SzPct val="50000"/>
                <a:buNone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71DE4EB-3AF8-4618-94A9-B5E8F9B5F4C6}"/>
                </a:ext>
              </a:extLst>
            </p:cNvPr>
            <p:cNvSpPr/>
            <p:nvPr/>
          </p:nvSpPr>
          <p:spPr>
            <a:xfrm>
              <a:off x="1661699" y="2651469"/>
              <a:ext cx="6539812" cy="3667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$&gt;</a:t>
              </a:r>
              <a:r>
                <a:rPr lang="zh-TW" altLang="en-US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lang="es-ES" altLang="zh-TW" sz="975" dirty="0">
                  <a:solidFill>
                    <a:schemeClr val="tx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./labs/reset_restart.sh</a:t>
              </a:r>
              <a:endParaRPr lang="en-US" altLang="zh-TW" sz="975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2D34664-DC05-41DA-ABE5-FA560EA11618}"/>
              </a:ext>
            </a:extLst>
          </p:cNvPr>
          <p:cNvGrpSpPr/>
          <p:nvPr/>
        </p:nvGrpSpPr>
        <p:grpSpPr>
          <a:xfrm>
            <a:off x="1571269" y="3482740"/>
            <a:ext cx="1648217" cy="2288650"/>
            <a:chOff x="1429263" y="3250575"/>
            <a:chExt cx="1648217" cy="228865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D80C276-82D9-4A75-AB03-C9EFEA5EF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7688" y="3429000"/>
              <a:ext cx="1469792" cy="2110225"/>
            </a:xfrm>
            <a:prstGeom prst="rect">
              <a:avLst/>
            </a:prstGeom>
          </p:spPr>
        </p:pic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F352AE11-9D9C-4AC1-B193-447AE6CA647C}"/>
                </a:ext>
              </a:extLst>
            </p:cNvPr>
            <p:cNvSpPr/>
            <p:nvPr/>
          </p:nvSpPr>
          <p:spPr>
            <a:xfrm>
              <a:off x="1429263" y="3250575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1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1661699" y="321604"/>
            <a:ext cx="6471871" cy="557534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29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Pre-Workshop Setup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32F4806-F93F-4D8C-94B9-D19374F34D0F}"/>
              </a:ext>
            </a:extLst>
          </p:cNvPr>
          <p:cNvGrpSpPr/>
          <p:nvPr/>
        </p:nvGrpSpPr>
        <p:grpSpPr>
          <a:xfrm>
            <a:off x="3667389" y="3497007"/>
            <a:ext cx="3082807" cy="1423996"/>
            <a:chOff x="3808829" y="3467780"/>
            <a:chExt cx="3082807" cy="1423996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DB3C2150-8883-4F98-83B9-7FE20BDD3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4747" y="3600188"/>
              <a:ext cx="2896889" cy="1291588"/>
            </a:xfrm>
            <a:prstGeom prst="rect">
              <a:avLst/>
            </a:prstGeom>
          </p:spPr>
        </p:pic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E0C6762B-0C82-4BE2-84A0-842D78FE6097}"/>
                </a:ext>
              </a:extLst>
            </p:cNvPr>
            <p:cNvSpPr/>
            <p:nvPr/>
          </p:nvSpPr>
          <p:spPr>
            <a:xfrm>
              <a:off x="3808829" y="3467780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2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EE3A49F2-093D-4827-B293-7F1AB888828F}"/>
              </a:ext>
            </a:extLst>
          </p:cNvPr>
          <p:cNvGrpSpPr/>
          <p:nvPr/>
        </p:nvGrpSpPr>
        <p:grpSpPr>
          <a:xfrm>
            <a:off x="3674882" y="5040568"/>
            <a:ext cx="5370924" cy="632440"/>
            <a:chOff x="3890994" y="4901028"/>
            <a:chExt cx="5370924" cy="632440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9946F72F-2785-408E-8088-B123A9D9A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5430" y="5079453"/>
              <a:ext cx="5256488" cy="454015"/>
            </a:xfrm>
            <a:prstGeom prst="rect">
              <a:avLst/>
            </a:prstGeom>
          </p:spPr>
        </p:pic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ABB644C7-93D4-4E2F-951D-771586FA86FA}"/>
                </a:ext>
              </a:extLst>
            </p:cNvPr>
            <p:cNvSpPr/>
            <p:nvPr/>
          </p:nvSpPr>
          <p:spPr>
            <a:xfrm>
              <a:off x="3890994" y="4901028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3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1124D0C7-5DA3-498C-8267-9575B53DFDB9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5ABC24F-3B95-4640-AD90-4E354242FB09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D53FC1-45BD-45FB-B1CE-87FE164DFE28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A1BF740-5FFA-44E9-BDCD-3E73831732CF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3761BDE-D1D4-407B-96DB-FDFCB4CBE49F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0C67D84-26AB-4FF9-B05B-5485311ECBAE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9572893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82DB356-1E72-4094-A970-D80BF8E9A03E}"/>
              </a:ext>
            </a:extLst>
          </p:cNvPr>
          <p:cNvGrpSpPr/>
          <p:nvPr/>
        </p:nvGrpSpPr>
        <p:grpSpPr>
          <a:xfrm>
            <a:off x="1347671" y="1608945"/>
            <a:ext cx="7049283" cy="1875538"/>
            <a:chOff x="1607688" y="1731888"/>
            <a:chExt cx="7049283" cy="1875538"/>
          </a:xfrm>
        </p:grpSpPr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C3C7071D-8E34-4119-B25E-085CF98F46AD}"/>
                </a:ext>
              </a:extLst>
            </p:cNvPr>
            <p:cNvSpPr txBox="1">
              <a:spLocks/>
            </p:cNvSpPr>
            <p:nvPr/>
          </p:nvSpPr>
          <p:spPr>
            <a:xfrm>
              <a:off x="1607688" y="1731888"/>
              <a:ext cx="7049283" cy="1875538"/>
            </a:xfrm>
            <a:prstGeom prst="rect">
              <a:avLst/>
            </a:prstGeom>
          </p:spPr>
          <p:txBody>
            <a:bodyPr vert="horz" lIns="74295" tIns="37148" rIns="74295" bIns="37148" rtlCol="0">
              <a:normAutofit/>
            </a:bodyPr>
            <a:lstStyle>
              <a:lvl1pPr marL="361950" indent="-3619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l"/>
                <a:defRPr sz="2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30238" indent="-328613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微軟正黑體" panose="020B0604030504040204" pitchFamily="34" charset="-120"/>
                <a:buChar char="─"/>
                <a:defRPr sz="24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896938" indent="-2936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165225" indent="-2603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p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1436688" indent="-2301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1660029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61853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63676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65500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開啟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 community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點選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Terminal &gt;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 Bash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執行下列指令</a:t>
              </a: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如圖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所示即為執行成功。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若發生錯誤解決不了 </a:t>
              </a:r>
              <a:r>
                <a:rPr lang="en-US" altLang="zh-TW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請課前回報</a:t>
              </a:r>
              <a:endParaRPr lang="en-US" altLang="zh-TW" sz="138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SzPct val="50000"/>
                <a:buNone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71DE4EB-3AF8-4618-94A9-B5E8F9B5F4C6}"/>
                </a:ext>
              </a:extLst>
            </p:cNvPr>
            <p:cNvSpPr/>
            <p:nvPr/>
          </p:nvSpPr>
          <p:spPr>
            <a:xfrm>
              <a:off x="1661699" y="2651469"/>
              <a:ext cx="6539812" cy="3667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$&gt;</a:t>
              </a:r>
              <a:r>
                <a:rPr lang="zh-TW" altLang="en-US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lang="es-ES" altLang="zh-TW" sz="975" dirty="0">
                  <a:solidFill>
                    <a:schemeClr val="tx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./labs/reset.sh</a:t>
              </a:r>
              <a:endParaRPr lang="en-US" altLang="zh-TW" sz="975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1661699" y="450100"/>
            <a:ext cx="6471871" cy="557534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29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Pre-Workshop Setup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25E9439F-C437-4308-87D0-4186DD4D521F}"/>
              </a:ext>
            </a:extLst>
          </p:cNvPr>
          <p:cNvGrpSpPr/>
          <p:nvPr/>
        </p:nvGrpSpPr>
        <p:grpSpPr>
          <a:xfrm>
            <a:off x="1347671" y="3553553"/>
            <a:ext cx="1811689" cy="1428165"/>
            <a:chOff x="1557221" y="3505893"/>
            <a:chExt cx="1811689" cy="142816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9B7BC98-E012-40EA-BE15-8E8F24E84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7121" y="3663775"/>
              <a:ext cx="1671789" cy="1270283"/>
            </a:xfrm>
            <a:prstGeom prst="rect">
              <a:avLst/>
            </a:prstGeom>
          </p:spPr>
        </p:pic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F352AE11-9D9C-4AC1-B193-447AE6CA647C}"/>
                </a:ext>
              </a:extLst>
            </p:cNvPr>
            <p:cNvSpPr/>
            <p:nvPr/>
          </p:nvSpPr>
          <p:spPr>
            <a:xfrm>
              <a:off x="1557221" y="3505893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1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03EC3213-6734-4771-9D68-0CAC664C91A4}"/>
              </a:ext>
            </a:extLst>
          </p:cNvPr>
          <p:cNvGrpSpPr/>
          <p:nvPr/>
        </p:nvGrpSpPr>
        <p:grpSpPr>
          <a:xfrm>
            <a:off x="3495883" y="3582652"/>
            <a:ext cx="4979284" cy="1430999"/>
            <a:chOff x="3697875" y="3532967"/>
            <a:chExt cx="4979284" cy="143099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A1FFE50C-B7D7-4676-996A-0EFD2B42B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3821" y="3648979"/>
              <a:ext cx="4793338" cy="1314987"/>
            </a:xfrm>
            <a:prstGeom prst="rect">
              <a:avLst/>
            </a:prstGeom>
          </p:spPr>
        </p:pic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E0C6762B-0C82-4BE2-84A0-842D78FE6097}"/>
                </a:ext>
              </a:extLst>
            </p:cNvPr>
            <p:cNvSpPr/>
            <p:nvPr/>
          </p:nvSpPr>
          <p:spPr>
            <a:xfrm>
              <a:off x="3697875" y="3532967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2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BE4ED86A-10E9-4076-813F-73E42EE71AD8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0D3C7F7-3E34-4AF6-9025-5468276FB324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28C226-A79D-454D-92EA-43AA1BA5E582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535774B-8265-4931-9E51-E077E807CC8C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48D240A-2F7A-4002-AB8A-D62362475F44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5202E26-2D03-4E3F-8B11-AB7144E6786F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949218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55BC86D-CAC9-4DF0-BCB8-709EEB5BB068}"/>
              </a:ext>
            </a:extLst>
          </p:cNvPr>
          <p:cNvGrpSpPr/>
          <p:nvPr/>
        </p:nvGrpSpPr>
        <p:grpSpPr>
          <a:xfrm>
            <a:off x="1347671" y="1533297"/>
            <a:ext cx="7049283" cy="1771239"/>
            <a:chOff x="1607688" y="1731887"/>
            <a:chExt cx="7049283" cy="1771239"/>
          </a:xfrm>
        </p:grpSpPr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C3C7071D-8E34-4119-B25E-085CF98F46AD}"/>
                </a:ext>
              </a:extLst>
            </p:cNvPr>
            <p:cNvSpPr txBox="1">
              <a:spLocks/>
            </p:cNvSpPr>
            <p:nvPr/>
          </p:nvSpPr>
          <p:spPr>
            <a:xfrm>
              <a:off x="1607688" y="1731887"/>
              <a:ext cx="7049283" cy="1771239"/>
            </a:xfrm>
            <a:prstGeom prst="rect">
              <a:avLst/>
            </a:prstGeom>
          </p:spPr>
          <p:txBody>
            <a:bodyPr vert="horz" lIns="74295" tIns="37148" rIns="74295" bIns="37148" rtlCol="0">
              <a:normAutofit/>
            </a:bodyPr>
            <a:lstStyle>
              <a:lvl1pPr marL="361950" indent="-3619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l"/>
                <a:defRPr sz="2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1pPr>
              <a:lvl2pPr marL="630238" indent="-328613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微軟正黑體" panose="020B0604030504040204" pitchFamily="34" charset="-120"/>
                <a:buChar char="─"/>
                <a:defRPr sz="24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2pPr>
              <a:lvl3pPr marL="896938" indent="-2936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3pPr>
              <a:lvl4pPr marL="1165225" indent="-260350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anose="05000000000000000000" pitchFamily="2" charset="2"/>
                <a:buChar char="p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4pPr>
              <a:lvl5pPr marL="1436688" indent="-230188" algn="l" defTabSz="603647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lvl5pPr>
              <a:lvl6pPr marL="1660029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61853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263676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565500" indent="-150912" algn="l" defTabSz="603647" rtl="0" eaLnBrk="1" latinLnBrk="0" hangingPunct="1">
                <a:lnSpc>
                  <a:spcPct val="90000"/>
                </a:lnSpc>
                <a:spcBef>
                  <a:spcPts val="330"/>
                </a:spcBef>
                <a:buFont typeface="Arial" panose="020B0604020202020204" pitchFamily="34" charset="0"/>
                <a:buChar char="•"/>
                <a:defRPr sz="118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開啟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 community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點選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Terminal &gt;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 Bash</a:t>
              </a: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執行下列指令</a:t>
              </a: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SzPct val="50000"/>
              </a:pP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如圖</a:t>
              </a:r>
              <a:r>
                <a:rPr lang="en-US" altLang="zh-TW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TW" altLang="en-US" sz="13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所示即為執行成功。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若發生錯誤解決不了 </a:t>
              </a:r>
              <a:r>
                <a:rPr lang="en-US" altLang="zh-TW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TW" altLang="en-US" sz="138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請課前回報</a:t>
              </a:r>
              <a:endParaRPr lang="en-US" altLang="zh-TW" sz="138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SzPct val="50000"/>
                <a:buNone/>
              </a:pPr>
              <a:endParaRPr lang="en-US" altLang="zh-TW" sz="13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71DE4EB-3AF8-4618-94A9-B5E8F9B5F4C6}"/>
                </a:ext>
              </a:extLst>
            </p:cNvPr>
            <p:cNvSpPr/>
            <p:nvPr/>
          </p:nvSpPr>
          <p:spPr>
            <a:xfrm>
              <a:off x="1661699" y="2651469"/>
              <a:ext cx="6539812" cy="3667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$&gt;</a:t>
              </a:r>
              <a:r>
                <a:rPr lang="zh-TW" altLang="en-US" sz="975" dirty="0">
                  <a:solidFill>
                    <a:schemeClr val="accent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 </a:t>
              </a:r>
              <a:r>
                <a:rPr lang="es-ES" altLang="zh-TW" sz="975" dirty="0">
                  <a:solidFill>
                    <a:schemeClr val="tx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./labs/build.sh</a:t>
              </a:r>
              <a:endParaRPr lang="en-US" altLang="zh-TW" sz="975" dirty="0">
                <a:solidFill>
                  <a:schemeClr val="accent1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標題 1">
            <a:extLst>
              <a:ext uri="{FF2B5EF4-FFF2-40B4-BE49-F238E27FC236}">
                <a16:creationId xmlns:a16="http://schemas.microsoft.com/office/drawing/2014/main" id="{7E3EFBAD-7056-4770-84D0-6AE3EBBFAB40}"/>
              </a:ext>
            </a:extLst>
          </p:cNvPr>
          <p:cNvSpPr txBox="1">
            <a:spLocks/>
          </p:cNvSpPr>
          <p:nvPr/>
        </p:nvSpPr>
        <p:spPr>
          <a:xfrm>
            <a:off x="1621062" y="406634"/>
            <a:ext cx="6471871" cy="557534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29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Pre-Workshop Setup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FE05CB1-4AB3-4EFF-9628-4425D96822B4}"/>
              </a:ext>
            </a:extLst>
          </p:cNvPr>
          <p:cNvGrpSpPr/>
          <p:nvPr/>
        </p:nvGrpSpPr>
        <p:grpSpPr>
          <a:xfrm>
            <a:off x="1283715" y="3615380"/>
            <a:ext cx="2135163" cy="2278452"/>
            <a:chOff x="1456043" y="3302619"/>
            <a:chExt cx="2135163" cy="2278452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0B82E2D9-F3AA-4812-B369-61D9B65C2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0383" y="3464035"/>
              <a:ext cx="1950823" cy="2117036"/>
            </a:xfrm>
            <a:prstGeom prst="rect">
              <a:avLst/>
            </a:prstGeom>
          </p:spPr>
        </p:pic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F352AE11-9D9C-4AC1-B193-447AE6CA647C}"/>
                </a:ext>
              </a:extLst>
            </p:cNvPr>
            <p:cNvSpPr/>
            <p:nvPr/>
          </p:nvSpPr>
          <p:spPr>
            <a:xfrm>
              <a:off x="1456043" y="3302619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1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B7AAB3F-F672-496F-8C4C-73400C1194E8}"/>
              </a:ext>
            </a:extLst>
          </p:cNvPr>
          <p:cNvGrpSpPr/>
          <p:nvPr/>
        </p:nvGrpSpPr>
        <p:grpSpPr>
          <a:xfrm>
            <a:off x="4234873" y="3429000"/>
            <a:ext cx="2055107" cy="1262329"/>
            <a:chOff x="4197453" y="3326832"/>
            <a:chExt cx="2055107" cy="1262329"/>
          </a:xfrm>
        </p:grpSpPr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E0C6762B-0C82-4BE2-84A0-842D78FE6097}"/>
                </a:ext>
              </a:extLst>
            </p:cNvPr>
            <p:cNvSpPr/>
            <p:nvPr/>
          </p:nvSpPr>
          <p:spPr>
            <a:xfrm>
              <a:off x="4197453" y="3326832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2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0F4D35A3-19A0-4CED-970A-5AD651AD0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7708" y="3429000"/>
              <a:ext cx="1864852" cy="1160161"/>
            </a:xfrm>
            <a:prstGeom prst="rect">
              <a:avLst/>
            </a:prstGeom>
          </p:spPr>
        </p:pic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72409E7-6D71-4BB7-A368-22F5B0761F47}"/>
              </a:ext>
            </a:extLst>
          </p:cNvPr>
          <p:cNvGrpSpPr/>
          <p:nvPr/>
        </p:nvGrpSpPr>
        <p:grpSpPr>
          <a:xfrm>
            <a:off x="4189140" y="4870399"/>
            <a:ext cx="3035732" cy="1369571"/>
            <a:chOff x="4152764" y="4986121"/>
            <a:chExt cx="3035732" cy="1369571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3F7AF1F7-BCEE-4F5C-96FB-222B6C924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7710" y="5126159"/>
              <a:ext cx="2900786" cy="1229533"/>
            </a:xfrm>
            <a:prstGeom prst="rect">
              <a:avLst/>
            </a:prstGeom>
          </p:spPr>
        </p:pic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ABB644C7-93D4-4E2F-951D-771586FA86FA}"/>
                </a:ext>
              </a:extLst>
            </p:cNvPr>
            <p:cNvSpPr/>
            <p:nvPr/>
          </p:nvSpPr>
          <p:spPr>
            <a:xfrm>
              <a:off x="4152764" y="4986121"/>
              <a:ext cx="178425" cy="17842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75" dirty="0">
                  <a:solidFill>
                    <a:srgbClr val="3E5180"/>
                  </a:solidFill>
                </a:rPr>
                <a:t>3</a:t>
              </a:r>
              <a:endParaRPr lang="zh-TW" altLang="en-US" sz="975" dirty="0">
                <a:solidFill>
                  <a:srgbClr val="3E5180"/>
                </a:solidFill>
              </a:endParaRP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20C79705-43C7-4A57-869E-F7D1BBBCF424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CB2359C-FA04-429A-A3A1-98C0D5D31FBB}"/>
              </a:ext>
            </a:extLst>
          </p:cNvPr>
          <p:cNvSpPr txBox="1"/>
          <p:nvPr/>
        </p:nvSpPr>
        <p:spPr>
          <a:xfrm>
            <a:off x="1140176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8195240-E168-4424-89EB-5CA19B5A9EE4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5AF035E-789D-4AEE-9A0E-C614E04F313B}"/>
              </a:ext>
            </a:extLst>
          </p:cNvPr>
          <p:cNvSpPr txBox="1"/>
          <p:nvPr/>
        </p:nvSpPr>
        <p:spPr>
          <a:xfrm>
            <a:off x="3759238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F8A2D41-2F9F-45F8-B145-DB8D73D81A7B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AB71988-C3A5-4BEE-AE76-C7AA005ABA4C}"/>
              </a:ext>
            </a:extLst>
          </p:cNvPr>
          <p:cNvSpPr txBox="1"/>
          <p:nvPr/>
        </p:nvSpPr>
        <p:spPr>
          <a:xfrm>
            <a:off x="6463473" y="1038562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967993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3D69A80-4C7D-3DBE-EB36-2DD8E8BA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524" y="400186"/>
            <a:ext cx="3704818" cy="599104"/>
          </a:xfrm>
        </p:spPr>
        <p:txBody>
          <a:bodyPr/>
          <a:lstStyle/>
          <a:p>
            <a:r>
              <a:rPr lang="en-US" altLang="zh-TW" dirty="0">
                <a:solidFill>
                  <a:srgbClr val="3D538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zh-TW" altLang="en-US" dirty="0">
              <a:solidFill>
                <a:srgbClr val="3D538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0BF0995-13CC-46C9-9B56-390823875C0A}" type="slidenum">
              <a:rPr lang="zh-TW" altLang="en-US" smtClean="0"/>
              <a:pPr>
                <a:spcAft>
                  <a:spcPts val="600"/>
                </a:spcAft>
              </a:pPr>
              <a:t>37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33773B1-845F-D43C-F1CA-70761CC134E3}"/>
              </a:ext>
            </a:extLst>
          </p:cNvPr>
          <p:cNvSpPr txBox="1"/>
          <p:nvPr/>
        </p:nvSpPr>
        <p:spPr>
          <a:xfrm>
            <a:off x="4213538" y="1456028"/>
            <a:ext cx="3929743" cy="4228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1463" indent="-271463" defTabSz="603647">
              <a:spcBef>
                <a:spcPts val="1200"/>
              </a:spcBef>
              <a:buClr>
                <a:srgbClr val="1E4660"/>
              </a:buClr>
              <a:buSzPct val="100000"/>
              <a:buFont typeface="Wingdings" panose="05000000000000000000" pitchFamily="2" charset="2"/>
              <a:buChar char="l"/>
            </a:pP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4827A2D3-3C87-44FF-911A-9F8CDDA55AD8}"/>
              </a:ext>
            </a:extLst>
          </p:cNvPr>
          <p:cNvSpPr/>
          <p:nvPr/>
        </p:nvSpPr>
        <p:spPr>
          <a:xfrm>
            <a:off x="5252170" y="1456028"/>
            <a:ext cx="2390660" cy="2390660"/>
          </a:xfrm>
          <a:prstGeom prst="ellipse">
            <a:avLst/>
          </a:prstGeom>
          <a:solidFill>
            <a:srgbClr val="0D73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MCP </a:t>
            </a: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1876039D-3E7E-49CA-A29C-103A105F3C12}"/>
              </a:ext>
            </a:extLst>
          </p:cNvPr>
          <p:cNvSpPr/>
          <p:nvPr/>
        </p:nvSpPr>
        <p:spPr>
          <a:xfrm>
            <a:off x="4081543" y="3293788"/>
            <a:ext cx="2390660" cy="239066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MCP </a:t>
            </a: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170C588-446D-460D-96ED-721CE1C4A101}"/>
              </a:ext>
            </a:extLst>
          </p:cNvPr>
          <p:cNvSpPr/>
          <p:nvPr/>
        </p:nvSpPr>
        <p:spPr>
          <a:xfrm>
            <a:off x="6340208" y="3293788"/>
            <a:ext cx="2390660" cy="2390660"/>
          </a:xfrm>
          <a:prstGeom prst="ellipse">
            <a:avLst/>
          </a:prstGeom>
          <a:solidFill>
            <a:srgbClr val="C11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MCP </a:t>
            </a:r>
            <a:r>
              <a:rPr lang="zh-TW" altLang="en-US" sz="2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</a:t>
            </a:r>
          </a:p>
        </p:txBody>
      </p:sp>
      <p:sp>
        <p:nvSpPr>
          <p:cNvPr id="29" name="平行四邊形 28">
            <a:extLst>
              <a:ext uri="{FF2B5EF4-FFF2-40B4-BE49-F238E27FC236}">
                <a16:creationId xmlns:a16="http://schemas.microsoft.com/office/drawing/2014/main" id="{3B38CE78-BF35-4EB9-8288-6DFB15BF7671}"/>
              </a:ext>
            </a:extLst>
          </p:cNvPr>
          <p:cNvSpPr/>
          <p:nvPr/>
        </p:nvSpPr>
        <p:spPr>
          <a:xfrm>
            <a:off x="4533900" y="5978801"/>
            <a:ext cx="4105275" cy="189126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A1B1538-3B2A-4F9A-8BE6-67283E152176}"/>
              </a:ext>
            </a:extLst>
          </p:cNvPr>
          <p:cNvSpPr txBox="1"/>
          <p:nvPr/>
        </p:nvSpPr>
        <p:spPr>
          <a:xfrm>
            <a:off x="4406288" y="5798595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1" dirty="0"/>
              <a:t>From Concept → Deployment → Hands-on</a:t>
            </a:r>
            <a:endParaRPr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848595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對角線條紋 1">
            <a:extLst>
              <a:ext uri="{FF2B5EF4-FFF2-40B4-BE49-F238E27FC236}">
                <a16:creationId xmlns:a16="http://schemas.microsoft.com/office/drawing/2014/main" id="{61072177-004F-443D-896C-3CE57EB963E7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介紹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D03204C-FA24-4EDA-A25C-E2132DDABBA2}"/>
              </a:ext>
            </a:extLst>
          </p:cNvPr>
          <p:cNvSpPr/>
          <p:nvPr/>
        </p:nvSpPr>
        <p:spPr>
          <a:xfrm>
            <a:off x="4440306" y="4121779"/>
            <a:ext cx="4429125" cy="3581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90D3D0B5-E73E-459A-A3E3-1418ACFBADB0}"/>
              </a:ext>
            </a:extLst>
          </p:cNvPr>
          <p:cNvSpPr/>
          <p:nvPr/>
        </p:nvSpPr>
        <p:spPr>
          <a:xfrm>
            <a:off x="4918277" y="3056846"/>
            <a:ext cx="381000" cy="381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F21E7CA-9F08-4B46-9452-5EAA0F8088F7}"/>
              </a:ext>
            </a:extLst>
          </p:cNvPr>
          <p:cNvCxnSpPr>
            <a:cxnSpLocks/>
            <a:stCxn id="40" idx="0"/>
            <a:endCxn id="33" idx="4"/>
          </p:cNvCxnSpPr>
          <p:nvPr/>
        </p:nvCxnSpPr>
        <p:spPr>
          <a:xfrm flipV="1">
            <a:off x="4864814" y="3437846"/>
            <a:ext cx="243963" cy="3964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827EB69-3087-4F4C-91EA-8F74016F0B95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5088266" y="3784919"/>
            <a:ext cx="203208" cy="29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5195DAD1-F889-44E1-BE75-FAFF31555F84}"/>
              </a:ext>
            </a:extLst>
          </p:cNvPr>
          <p:cNvSpPr/>
          <p:nvPr/>
        </p:nvSpPr>
        <p:spPr>
          <a:xfrm>
            <a:off x="4697741" y="3898794"/>
            <a:ext cx="390525" cy="35817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A7EDE12B-66B1-4067-B1D2-26B37F2C1BE5}"/>
              </a:ext>
            </a:extLst>
          </p:cNvPr>
          <p:cNvCxnSpPr>
            <a:cxnSpLocks/>
          </p:cNvCxnSpPr>
          <p:nvPr/>
        </p:nvCxnSpPr>
        <p:spPr>
          <a:xfrm>
            <a:off x="4582863" y="3845554"/>
            <a:ext cx="619443" cy="9525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C7CD97D1-3246-4C08-A49E-2F596D723529}"/>
              </a:ext>
            </a:extLst>
          </p:cNvPr>
          <p:cNvCxnSpPr>
            <a:cxnSpLocks/>
          </p:cNvCxnSpPr>
          <p:nvPr/>
        </p:nvCxnSpPr>
        <p:spPr>
          <a:xfrm flipV="1">
            <a:off x="5189870" y="3429000"/>
            <a:ext cx="10563" cy="327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0ECDF3E1-8FF0-4B02-BECD-3746FAF31C56}"/>
              </a:ext>
            </a:extLst>
          </p:cNvPr>
          <p:cNvCxnSpPr>
            <a:cxnSpLocks/>
          </p:cNvCxnSpPr>
          <p:nvPr/>
        </p:nvCxnSpPr>
        <p:spPr>
          <a:xfrm>
            <a:off x="4983661" y="3614406"/>
            <a:ext cx="206209" cy="1486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弧形 39">
            <a:extLst>
              <a:ext uri="{FF2B5EF4-FFF2-40B4-BE49-F238E27FC236}">
                <a16:creationId xmlns:a16="http://schemas.microsoft.com/office/drawing/2014/main" id="{C505BF54-25D0-4DEB-9044-D5D505FF96D0}"/>
              </a:ext>
            </a:extLst>
          </p:cNvPr>
          <p:cNvSpPr/>
          <p:nvPr/>
        </p:nvSpPr>
        <p:spPr>
          <a:xfrm>
            <a:off x="4855411" y="3771850"/>
            <a:ext cx="490290" cy="172195"/>
          </a:xfrm>
          <a:prstGeom prst="arc">
            <a:avLst>
              <a:gd name="adj1" fmla="val 11143247"/>
              <a:gd name="adj2" fmla="val 20747757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2933486-7E12-4026-BABB-9E363CC76306}"/>
              </a:ext>
            </a:extLst>
          </p:cNvPr>
          <p:cNvSpPr txBox="1"/>
          <p:nvPr/>
        </p:nvSpPr>
        <p:spPr>
          <a:xfrm rot="1396287">
            <a:off x="5120593" y="2525117"/>
            <a:ext cx="161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srgbClr val="FFC000"/>
                </a:solidFill>
                <a:latin typeface="Arial Black" panose="020B0A04020102020204" pitchFamily="34" charset="0"/>
              </a:rPr>
              <a:t>?</a:t>
            </a:r>
            <a:endParaRPr lang="zh-TW" altLang="en-US" sz="3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D8C3334-A040-45CA-880C-4B38AB65FE92}"/>
              </a:ext>
            </a:extLst>
          </p:cNvPr>
          <p:cNvCxnSpPr>
            <a:cxnSpLocks/>
          </p:cNvCxnSpPr>
          <p:nvPr/>
        </p:nvCxnSpPr>
        <p:spPr>
          <a:xfrm>
            <a:off x="7603067" y="3661125"/>
            <a:ext cx="220133" cy="67822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>
            <a:extLst>
              <a:ext uri="{FF2B5EF4-FFF2-40B4-BE49-F238E27FC236}">
                <a16:creationId xmlns:a16="http://schemas.microsoft.com/office/drawing/2014/main" id="{A9592118-1101-47ED-A355-DB2CD4072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566">
            <a:off x="5960772" y="2620575"/>
            <a:ext cx="1616850" cy="161685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5725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的痛點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A6B670EC-2534-4403-A8A7-DA2FC08BD7E1}"/>
              </a:ext>
            </a:extLst>
          </p:cNvPr>
          <p:cNvSpPr txBox="1">
            <a:spLocks/>
          </p:cNvSpPr>
          <p:nvPr/>
        </p:nvSpPr>
        <p:spPr>
          <a:xfrm>
            <a:off x="875933" y="1448616"/>
            <a:ext cx="7965380" cy="51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50000"/>
              <a:buNone/>
            </a:pP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很強，但為什麼還無法真正幫你完成工作？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50000"/>
              <a:buFont typeface="微軟正黑體" panose="020B0604030504040204" pitchFamily="34" charset="-12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Font typeface="Wingdings" panose="05000000000000000000" pitchFamily="2" charset="2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6AE23E30-9477-4891-8B2E-7BF0ED64578A}"/>
              </a:ext>
            </a:extLst>
          </p:cNvPr>
          <p:cNvSpPr txBox="1">
            <a:spLocks/>
          </p:cNvSpPr>
          <p:nvPr/>
        </p:nvSpPr>
        <p:spPr>
          <a:xfrm>
            <a:off x="812356" y="2118221"/>
            <a:ext cx="8644847" cy="7932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50000"/>
              <a:buNone/>
            </a:pP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要連公司系統、雲端服務、內部資料時，</a:t>
            </a: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SzPct val="50000"/>
              <a:buNone/>
            </a:pP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為什麼整合總是又慢又複雜？</a:t>
            </a: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9F31E911-7595-4ECB-9043-F823E3083DF6}"/>
              </a:ext>
            </a:extLst>
          </p:cNvPr>
          <p:cNvSpPr txBox="1">
            <a:spLocks/>
          </p:cNvSpPr>
          <p:nvPr/>
        </p:nvSpPr>
        <p:spPr>
          <a:xfrm>
            <a:off x="736593" y="2899241"/>
            <a:ext cx="8794945" cy="79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50000"/>
              <a:buNone/>
            </a:pP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當工具越來越多，為什麼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反而變慢、成本變高、效果變差？</a:t>
            </a:r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F379426F-1FC7-4F39-BABF-A847D6ED9897}"/>
              </a:ext>
            </a:extLst>
          </p:cNvPr>
          <p:cNvSpPr txBox="1">
            <a:spLocks/>
          </p:cNvSpPr>
          <p:nvPr/>
        </p:nvSpPr>
        <p:spPr>
          <a:xfrm>
            <a:off x="509694" y="3646552"/>
            <a:ext cx="8432813" cy="7932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50000"/>
              <a:buNone/>
            </a:pPr>
            <a:r>
              <a:rPr lang="zh-TW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因為缺少標準化的連接協定</a:t>
            </a:r>
            <a:endParaRPr lang="en-US" altLang="zh-TW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SzPct val="50000"/>
              <a:buNone/>
            </a:pPr>
            <a:br>
              <a:rPr lang="en-US" altLang="zh-TW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C2FB3BC-2124-49CC-9E3B-34BD225C779E}"/>
              </a:ext>
            </a:extLst>
          </p:cNvPr>
          <p:cNvSpPr txBox="1"/>
          <p:nvPr/>
        </p:nvSpPr>
        <p:spPr>
          <a:xfrm>
            <a:off x="-1543956" y="4424744"/>
            <a:ext cx="12593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</a:t>
            </a:r>
            <a:r>
              <a:rPr lang="en-US" altLang="zh-TW" sz="4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odel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</a:t>
            </a:r>
            <a:r>
              <a:rPr lang="en-US" altLang="zh-TW" sz="4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ontext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Protocol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ADE411-90B8-4E99-A01B-621E5AA109A4}"/>
              </a:ext>
            </a:extLst>
          </p:cNvPr>
          <p:cNvSpPr txBox="1"/>
          <p:nvPr/>
        </p:nvSpPr>
        <p:spPr>
          <a:xfrm>
            <a:off x="754170" y="5384012"/>
            <a:ext cx="101964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就像 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AI 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世界的 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USB-C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，插上去就能連接各種工具與資料來源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B24556-C203-4547-B4B6-3E12908CAAB3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5B6C3EA-52D9-42AC-BA7A-C34E0399D679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D9625C-8483-44FD-8943-FC346BD1CB8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D2BA323-4F1A-438E-B6EF-28B20840B9F0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0D8B55-1892-4815-A14A-8E97B439FBB3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C4D6E7A-597F-49D9-A7E7-FE2A560880D1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94003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Agent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連結三大工具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4BC76944-D86C-489F-97F5-9EF70373D49D}"/>
              </a:ext>
            </a:extLst>
          </p:cNvPr>
          <p:cNvSpPr txBox="1">
            <a:spLocks/>
          </p:cNvSpPr>
          <p:nvPr/>
        </p:nvSpPr>
        <p:spPr>
          <a:xfrm>
            <a:off x="875932" y="1448616"/>
            <a:ext cx="7976519" cy="480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50000"/>
              <a:buNone/>
            </a:pP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FD0B11C-8791-492C-B7CC-7596FCC871EF}"/>
              </a:ext>
            </a:extLst>
          </p:cNvPr>
          <p:cNvSpPr txBox="1"/>
          <p:nvPr/>
        </p:nvSpPr>
        <p:spPr>
          <a:xfrm>
            <a:off x="848289" y="1406633"/>
            <a:ext cx="9565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3647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</a:pP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Anthropic 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工程師 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David Soria Parra 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AI Engineer 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大會提到 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3DD5D81-2B4E-438F-8E13-4A70EF7A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94" y="2092110"/>
            <a:ext cx="7793170" cy="3961529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BE28FD-750D-43B2-8915-0D85953946D7}"/>
              </a:ext>
            </a:extLst>
          </p:cNvPr>
          <p:cNvSpPr txBox="1"/>
          <p:nvPr/>
        </p:nvSpPr>
        <p:spPr>
          <a:xfrm>
            <a:off x="2572913" y="6165358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https://www.youtube.com/watch?v=v3Fr2JR47KA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1CEA67-73ED-4621-8012-F0B287BCF10C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4FC1DCB-991D-4024-9FE7-30B92D971BFE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C4ECA5-5809-4BD3-B916-6A9EB14C036C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B1A3B8A-9E89-4853-95B2-757054E3228F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7E49FE-2B69-444F-B7B3-BC036DB00638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1FE10CC-D41D-42EC-A4B7-D94969B2EB8B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673882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61C4F093-3AB3-4B52-92AB-DAA735430FFC}"/>
              </a:ext>
            </a:extLst>
          </p:cNvPr>
          <p:cNvSpPr txBox="1">
            <a:spLocks/>
          </p:cNvSpPr>
          <p:nvPr/>
        </p:nvSpPr>
        <p:spPr>
          <a:xfrm>
            <a:off x="875932" y="1448616"/>
            <a:ext cx="7976519" cy="480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協定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(Protocol) 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就是一套大家共識的規範規則，大家用相同的字詞、格式和排列順序作為標準，成為大家的共同語言，方便不同系統和裝置之間的順利通訊。</a:t>
            </a: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例子</a:t>
            </a:r>
            <a:r>
              <a:rPr lang="en-US" altLang="zh-TW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網站的通訊協定 </a:t>
            </a:r>
            <a:r>
              <a:rPr lang="en-US" altLang="zh-TW" sz="2500" b="1" dirty="0">
                <a:latin typeface="+mn-lt"/>
                <a:cs typeface="Times New Roman" panose="02020603050405020304" pitchFamily="18" charset="0"/>
              </a:rPr>
              <a:t>(communication protocol)</a:t>
            </a:r>
            <a:r>
              <a:rPr lang="zh-TW" altLang="en-US" sz="2500" b="1" dirty="0">
                <a:latin typeface="+mn-lt"/>
                <a:cs typeface="Times New Roman" panose="02020603050405020304" pitchFamily="18" charset="0"/>
              </a:rPr>
              <a:t>  </a:t>
            </a:r>
            <a:endParaRPr lang="en-US" altLang="zh-TW" sz="25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E240F9-090A-4BFF-BE12-A1DED6FCB224}"/>
              </a:ext>
            </a:extLst>
          </p:cNvPr>
          <p:cNvSpPr/>
          <p:nvPr/>
        </p:nvSpPr>
        <p:spPr>
          <a:xfrm>
            <a:off x="1072024" y="4814914"/>
            <a:ext cx="3114261" cy="622852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b="1" dirty="0">
                <a:solidFill>
                  <a:sysClr val="windowText" lastClr="000000"/>
                </a:solidFill>
              </a:rPr>
              <a:t>[protocol]://[host]</a:t>
            </a:r>
            <a:endParaRPr lang="zh-TW" altLang="en-US" sz="30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113A3B-FE0E-41FE-B00F-AD62C09F55D5}"/>
              </a:ext>
            </a:extLst>
          </p:cNvPr>
          <p:cNvSpPr/>
          <p:nvPr/>
        </p:nvSpPr>
        <p:spPr>
          <a:xfrm>
            <a:off x="5517219" y="4814914"/>
            <a:ext cx="3388044" cy="622852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b="1" dirty="0">
                <a:solidFill>
                  <a:sysClr val="windowText" lastClr="000000"/>
                </a:solidFill>
              </a:rPr>
              <a:t>https</a:t>
            </a:r>
            <a:r>
              <a:rPr lang="en-US" altLang="zh-TW" sz="3000" b="1" dirty="0">
                <a:solidFill>
                  <a:srgbClr val="FF0000"/>
                </a:solidFill>
              </a:rPr>
              <a:t>://</a:t>
            </a:r>
            <a:r>
              <a:rPr lang="en-US" altLang="zh-TW" sz="3000" b="1" dirty="0">
                <a:solidFill>
                  <a:srgbClr val="1174B8"/>
                </a:solidFill>
              </a:rPr>
              <a:t>github.com</a:t>
            </a:r>
            <a:endParaRPr lang="zh-TW" altLang="en-US" sz="3000" b="1" dirty="0">
              <a:solidFill>
                <a:srgbClr val="1174B8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DF2FA9E-C1F6-4C9B-8420-AAED509C5B31}"/>
              </a:ext>
            </a:extLst>
          </p:cNvPr>
          <p:cNvSpPr txBox="1"/>
          <p:nvPr/>
        </p:nvSpPr>
        <p:spPr>
          <a:xfrm>
            <a:off x="1322303" y="3851821"/>
            <a:ext cx="81349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為什麼網站可以被大家認得和存取</a:t>
            </a:r>
            <a:r>
              <a:rPr lang="en-US" altLang="zh-TW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因為有 </a:t>
            </a:r>
            <a:r>
              <a:rPr lang="en-US" altLang="zh-TW" sz="2500" b="1" dirty="0">
                <a:ea typeface="微軟正黑體" panose="020B0604030504040204" pitchFamily="34" charset="-120"/>
                <a:cs typeface="Times New Roman" panose="02020603050405020304" pitchFamily="18" charset="0"/>
              </a:rPr>
              <a:t>Protocol</a:t>
            </a:r>
            <a:r>
              <a:rPr lang="zh-TW" altLang="en-US" sz="2500" b="1" dirty="0"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500" b="1" dirty="0"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04B63FF-F758-4917-B00C-91AE8B63D578}"/>
              </a:ext>
            </a:extLst>
          </p:cNvPr>
          <p:cNvSpPr/>
          <p:nvPr/>
        </p:nvSpPr>
        <p:spPr>
          <a:xfrm>
            <a:off x="4577785" y="4950285"/>
            <a:ext cx="640258" cy="31713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B713AE-82EA-4DBE-A795-3CE6DE7F21A1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7739512-5C6C-49FF-8608-793135A1030B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8DD4FE-DBBC-455B-9EA6-E839D2464DED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1D84879-AA47-4142-A75B-896CE25C8008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F84CAD-A78F-454A-ABCC-B04EC758D01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8D8FAAF-119C-4511-BDA2-14C3677FFE02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887277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00131"/>
            <a:ext cx="429306" cy="270289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88FD2A2-6472-4B2F-B242-4FB392C3848F}"/>
              </a:ext>
            </a:extLst>
          </p:cNvPr>
          <p:cNvSpPr txBox="1"/>
          <p:nvPr/>
        </p:nvSpPr>
        <p:spPr>
          <a:xfrm>
            <a:off x="756664" y="1431647"/>
            <a:ext cx="79653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SzPct val="50000"/>
              <a:buNone/>
            </a:pP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例子</a:t>
            </a:r>
            <a:r>
              <a:rPr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的通訊協定 </a:t>
            </a:r>
            <a:r>
              <a:rPr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(protocol)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8F3EFD-D11D-4367-9F25-5388290B2211}"/>
              </a:ext>
            </a:extLst>
          </p:cNvPr>
          <p:cNvSpPr/>
          <p:nvPr/>
        </p:nvSpPr>
        <p:spPr>
          <a:xfrm>
            <a:off x="315150" y="3181981"/>
            <a:ext cx="4218813" cy="3164541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tools/list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[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{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"name": "</a:t>
            </a:r>
            <a:r>
              <a:rPr lang="en-US" altLang="zh-TW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queryLeave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",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"description": "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查詢剩餘假別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},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{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"name": "</a:t>
            </a:r>
            <a:r>
              <a:rPr lang="en-US" altLang="zh-TW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applyLeave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",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"description": "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送出請假申請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}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]</a:t>
            </a:r>
            <a:endParaRPr lang="zh-TW" altLang="en-US" dirty="0">
              <a:solidFill>
                <a:sysClr val="windowText" lastClr="000000"/>
              </a:solidFill>
              <a:latin typeface="Consolas" panose="020B0609020204030204" pitchFamily="49" charset="0"/>
              <a:cs typeface="Tahoma" panose="020B060403050404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A7F028-2F4F-4DC6-AA46-94E1E94CC1E4}"/>
              </a:ext>
            </a:extLst>
          </p:cNvPr>
          <p:cNvSpPr/>
          <p:nvPr/>
        </p:nvSpPr>
        <p:spPr>
          <a:xfrm>
            <a:off x="6419111" y="3099859"/>
            <a:ext cx="3315760" cy="3164541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tools/call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{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"name": "</a:t>
            </a:r>
            <a:r>
              <a:rPr lang="en-US" altLang="zh-TW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applyLeave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",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"arguments": {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"date": "</a:t>
            </a:r>
            <a:r>
              <a:rPr lang="en-US" altLang="zh-TW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2026-04-23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",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  "type": "</a:t>
            </a:r>
            <a:r>
              <a:rPr lang="zh-TW" alt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特休</a:t>
            </a:r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"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  }</a:t>
            </a:r>
          </a:p>
          <a:p>
            <a:r>
              <a:rPr lang="en-US" altLang="zh-TW" dirty="0">
                <a:solidFill>
                  <a:sysClr val="windowText" lastClr="000000"/>
                </a:solidFill>
                <a:latin typeface="Consolas" panose="020B0609020204030204" pitchFamily="49" charset="0"/>
                <a:cs typeface="Tahoma" panose="020B0604030504040204" pitchFamily="34" charset="0"/>
              </a:rPr>
              <a:t>}</a:t>
            </a:r>
            <a:endParaRPr lang="zh-TW" altLang="en-US" dirty="0">
              <a:solidFill>
                <a:sysClr val="windowText" lastClr="000000"/>
              </a:solidFill>
              <a:latin typeface="Consolas" panose="020B0609020204030204" pitchFamily="49" charset="0"/>
              <a:cs typeface="Tahoma" panose="020B060403050404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EDF2FF9-EF68-443D-AE80-6D3A333BE1E2}"/>
              </a:ext>
            </a:extLst>
          </p:cNvPr>
          <p:cNvSpPr txBox="1"/>
          <p:nvPr/>
        </p:nvSpPr>
        <p:spPr>
          <a:xfrm>
            <a:off x="7014552" y="2701649"/>
            <a:ext cx="24426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TW" altLang="en-US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選擇工具並呼叫</a:t>
            </a:r>
            <a:endParaRPr lang="zh-TW" altLang="en-US" sz="2000" dirty="0"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11BD0AB-D0B7-4F6B-B6F1-5D51C158484B}"/>
              </a:ext>
            </a:extLst>
          </p:cNvPr>
          <p:cNvSpPr txBox="1"/>
          <p:nvPr/>
        </p:nvSpPr>
        <p:spPr>
          <a:xfrm>
            <a:off x="756664" y="2708558"/>
            <a:ext cx="39371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Server</a:t>
            </a:r>
            <a:r>
              <a:rPr lang="zh-TW" altLang="en-US" sz="20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宣告可用工具</a:t>
            </a:r>
            <a:endParaRPr lang="zh-TW" altLang="en-US" sz="2000" dirty="0"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697120B-E864-458E-AC77-3DED54AC53F1}"/>
              </a:ext>
            </a:extLst>
          </p:cNvPr>
          <p:cNvSpPr txBox="1"/>
          <p:nvPr/>
        </p:nvSpPr>
        <p:spPr>
          <a:xfrm>
            <a:off x="1157379" y="2032063"/>
            <a:ext cx="81349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為什麼 </a:t>
            </a:r>
            <a:r>
              <a:rPr lang="en-US" altLang="zh-TW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知道怎麼使用 </a:t>
            </a:r>
            <a:r>
              <a:rPr lang="en-US" altLang="zh-TW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工具</a:t>
            </a:r>
            <a:r>
              <a:rPr lang="en-US" altLang="zh-TW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r>
              <a:rPr lang="zh-TW" altLang="en-US" sz="2500" dirty="0">
                <a:ea typeface="微軟正黑體" panose="020B0604030504040204" pitchFamily="34" charset="-120"/>
                <a:cs typeface="Times New Roman" panose="02020603050405020304" pitchFamily="18" charset="0"/>
              </a:rPr>
              <a:t> 因為有 </a:t>
            </a:r>
            <a:r>
              <a:rPr lang="en-US" altLang="zh-TW" sz="2500" b="1" dirty="0">
                <a:ea typeface="微軟正黑體" panose="020B0604030504040204" pitchFamily="34" charset="-120"/>
                <a:cs typeface="Times New Roman" panose="02020603050405020304" pitchFamily="18" charset="0"/>
              </a:rPr>
              <a:t>Protocol</a:t>
            </a:r>
            <a:r>
              <a:rPr lang="zh-TW" altLang="en-US" sz="2500" b="1" dirty="0"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500" b="1" dirty="0"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F225C72-1EC6-491C-87A3-883E1330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092" y="3977602"/>
            <a:ext cx="1113684" cy="1829043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86D97504-0BD4-4847-B06E-8DB630529C9D}"/>
              </a:ext>
            </a:extLst>
          </p:cNvPr>
          <p:cNvSpPr txBox="1"/>
          <p:nvPr/>
        </p:nvSpPr>
        <p:spPr>
          <a:xfrm>
            <a:off x="4739354" y="3479243"/>
            <a:ext cx="8134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FF0000"/>
                </a:solidFill>
                <a:ea typeface="微軟正黑體" panose="020B0604030504040204" pitchFamily="34" charset="-120"/>
                <a:cs typeface="Times New Roman" panose="02020603050405020304" pitchFamily="18" charset="0"/>
              </a:rPr>
              <a:t>MCP =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3A3418-8ED8-4C36-A1A4-CEDAAE462F1A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E6309B3-2C36-4245-8B6C-DB41E91FE399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F0C099-21D5-4515-80E1-BD6986419A70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A5AE08-D1A7-4728-967F-AD24F641C759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1E7E9D-192E-4F09-8D08-CB078C9D77FC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2EF71A8-9368-4C64-A66C-64D25F5E6ED8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523494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FF8D73-4DC1-697A-54BA-0F98DC8FF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7"/>
            <a:ext cx="7965380" cy="1703634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全名為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Context Protocol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模型上下文協定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月由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 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母公司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推出，提供標準化方式，讓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可存取外部資源或工具。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透過提供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上下文指示，讓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決定使用哪些工具、按什麼順序及如何將工作流程連結在一起以完成任務。</a:t>
            </a: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是什麼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AI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世界的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954731C-5DF8-4839-A847-6E4E44812C37}"/>
              </a:ext>
            </a:extLst>
          </p:cNvPr>
          <p:cNvSpPr txBox="1"/>
          <p:nvPr/>
        </p:nvSpPr>
        <p:spPr>
          <a:xfrm>
            <a:off x="994416" y="5783581"/>
            <a:ext cx="822247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統一連接規格 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;  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一次對接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到處能用 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; 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不只 </a:t>
            </a:r>
            <a:r>
              <a:rPr lang="en-US" altLang="zh-TW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Anthropic</a:t>
            </a:r>
            <a:r>
              <a:rPr lang="zh-TW" altLang="en-US" sz="25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593CFE-1B4E-46DA-B927-67B50F87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313" y="3034967"/>
            <a:ext cx="6268187" cy="2696612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EF22123-C8AD-4A97-807A-9C496EF8CF0B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F10233D-DE3B-4D75-9AC4-81E9DA0E157F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996672-E5BE-4A2A-9D59-0890CFBEAAB8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45E7A97-8C1D-4148-958E-638588FB907C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351DB6-27E8-4CC3-A9A5-C7C6673ED9C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8406DEA-81B0-4C54-8A53-1C096250044A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8254050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400131"/>
            <a:ext cx="429306" cy="270289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分層架構示意圖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54E357F-A911-4DBA-B814-07E257F12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48" y="1455581"/>
            <a:ext cx="7768917" cy="434886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FDC77DCA-965D-4555-AC05-74AB4F44BF6E}"/>
              </a:ext>
            </a:extLst>
          </p:cNvPr>
          <p:cNvSpPr txBox="1"/>
          <p:nvPr/>
        </p:nvSpPr>
        <p:spPr>
          <a:xfrm>
            <a:off x="1171206" y="5994372"/>
            <a:ext cx="8734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https://modelcontextprotocol.info/zh-tw/blog/understanding-mcp-protocol/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2C40A1-FF38-424A-B0B1-9AC7B7850645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E779D9-F984-4471-90D7-4DE43778E591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76D792-A326-42E0-9C17-E2372790ACFC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0CDA1D-BABF-4D07-AD28-C7E2D2BE35AA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B83054-F02B-4157-8DB7-061545B52B18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FFBF84-74E3-4B8B-9D15-595470CFE98B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450454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技術演進時間線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E6402D8-0648-4DEC-82CC-D90F912B2AEA}"/>
              </a:ext>
            </a:extLst>
          </p:cNvPr>
          <p:cNvCxnSpPr>
            <a:cxnSpLocks/>
          </p:cNvCxnSpPr>
          <p:nvPr/>
        </p:nvCxnSpPr>
        <p:spPr>
          <a:xfrm flipV="1">
            <a:off x="241300" y="3123751"/>
            <a:ext cx="9455956" cy="28674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菱形 24">
            <a:extLst>
              <a:ext uri="{FF2B5EF4-FFF2-40B4-BE49-F238E27FC236}">
                <a16:creationId xmlns:a16="http://schemas.microsoft.com/office/drawing/2014/main" id="{D662C202-E744-4A54-9076-96BA9F5916FC}"/>
              </a:ext>
            </a:extLst>
          </p:cNvPr>
          <p:cNvSpPr/>
          <p:nvPr/>
        </p:nvSpPr>
        <p:spPr>
          <a:xfrm>
            <a:off x="1339595" y="3040193"/>
            <a:ext cx="169200" cy="170620"/>
          </a:xfrm>
          <a:prstGeom prst="diamond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rgbClr val="1174B8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5EAB71B-1810-432E-B715-8423169F3C87}"/>
              </a:ext>
            </a:extLst>
          </p:cNvPr>
          <p:cNvSpPr txBox="1"/>
          <p:nvPr/>
        </p:nvSpPr>
        <p:spPr>
          <a:xfrm>
            <a:off x="442725" y="2145442"/>
            <a:ext cx="1996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各自 </a:t>
            </a:r>
            <a:endParaRPr lang="en-US" altLang="zh-TW" sz="2000" b="1" dirty="0">
              <a:solidFill>
                <a:srgbClr val="3D5383"/>
              </a:solidFill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Function Call</a:t>
            </a:r>
            <a:endParaRPr lang="zh-TW" altLang="en-US" sz="2000" b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5545596-5E95-4DA6-A504-0930B88AD19A}"/>
              </a:ext>
            </a:extLst>
          </p:cNvPr>
          <p:cNvSpPr txBox="1"/>
          <p:nvPr/>
        </p:nvSpPr>
        <p:spPr>
          <a:xfrm>
            <a:off x="2491396" y="2106781"/>
            <a:ext cx="14904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Framework</a:t>
            </a:r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 </a:t>
            </a:r>
            <a:endParaRPr lang="en-US" altLang="zh-TW" sz="2000" b="1" dirty="0">
              <a:solidFill>
                <a:srgbClr val="3D5383"/>
              </a:solidFill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統一嘗試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9E0055D-C5FC-415A-A723-39A2B2ABEBA4}"/>
              </a:ext>
            </a:extLst>
          </p:cNvPr>
          <p:cNvSpPr txBox="1"/>
          <p:nvPr/>
        </p:nvSpPr>
        <p:spPr>
          <a:xfrm>
            <a:off x="4199193" y="2124203"/>
            <a:ext cx="1757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Anthropic</a:t>
            </a:r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開源 </a:t>
            </a:r>
            <a:endParaRPr lang="en-US" altLang="zh-TW" sz="2000" b="1" dirty="0">
              <a:solidFill>
                <a:srgbClr val="3D5383"/>
              </a:solidFill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MCP 1.0</a:t>
            </a:r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版本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6EC788B-2DE3-44FC-BBE4-C1512CA816E4}"/>
              </a:ext>
            </a:extLst>
          </p:cNvPr>
          <p:cNvSpPr txBox="1"/>
          <p:nvPr/>
        </p:nvSpPr>
        <p:spPr>
          <a:xfrm>
            <a:off x="6298203" y="2359246"/>
            <a:ext cx="2810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生態爆發</a:t>
            </a:r>
          </a:p>
        </p:txBody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A1517095-DDCC-48D2-9AF4-D56C22008FE2}"/>
              </a:ext>
            </a:extLst>
          </p:cNvPr>
          <p:cNvSpPr/>
          <p:nvPr/>
        </p:nvSpPr>
        <p:spPr>
          <a:xfrm>
            <a:off x="3171141" y="3040193"/>
            <a:ext cx="169200" cy="170620"/>
          </a:xfrm>
          <a:prstGeom prst="diamond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rgbClr val="1174B8"/>
              </a:solidFill>
            </a:endParaRPr>
          </a:p>
        </p:txBody>
      </p:sp>
      <p:sp>
        <p:nvSpPr>
          <p:cNvPr id="46" name="菱形 45">
            <a:extLst>
              <a:ext uri="{FF2B5EF4-FFF2-40B4-BE49-F238E27FC236}">
                <a16:creationId xmlns:a16="http://schemas.microsoft.com/office/drawing/2014/main" id="{E8E7F4C3-2311-492E-9008-54EBB82A5D10}"/>
              </a:ext>
            </a:extLst>
          </p:cNvPr>
          <p:cNvSpPr/>
          <p:nvPr/>
        </p:nvSpPr>
        <p:spPr>
          <a:xfrm rot="21260149">
            <a:off x="6788985" y="3034827"/>
            <a:ext cx="169200" cy="170620"/>
          </a:xfrm>
          <a:prstGeom prst="diamond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1174B8"/>
              </a:solidFill>
            </a:endParaRPr>
          </a:p>
        </p:txBody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2FB76531-6CB7-48C0-8368-AD437C3FF893}"/>
              </a:ext>
            </a:extLst>
          </p:cNvPr>
          <p:cNvSpPr/>
          <p:nvPr/>
        </p:nvSpPr>
        <p:spPr>
          <a:xfrm>
            <a:off x="4982450" y="3047747"/>
            <a:ext cx="169200" cy="170620"/>
          </a:xfrm>
          <a:prstGeom prst="diamond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1174B8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A5363E7D-138F-4241-863D-6148B5175420}"/>
              </a:ext>
            </a:extLst>
          </p:cNvPr>
          <p:cNvSpPr txBox="1"/>
          <p:nvPr/>
        </p:nvSpPr>
        <p:spPr>
          <a:xfrm>
            <a:off x="837379" y="3341558"/>
            <a:ext cx="199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3D5383"/>
                </a:solidFill>
                <a:ea typeface="微軟正黑體" panose="020B0604030504040204" pitchFamily="34" charset="-120"/>
              </a:rPr>
              <a:t>Before 2023</a:t>
            </a:r>
            <a:endParaRPr lang="zh-TW" altLang="en-US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93E4E0D-6C9A-4E2B-9529-0A8B3B57FA12}"/>
              </a:ext>
            </a:extLst>
          </p:cNvPr>
          <p:cNvSpPr txBox="1"/>
          <p:nvPr/>
        </p:nvSpPr>
        <p:spPr>
          <a:xfrm>
            <a:off x="2953867" y="3380349"/>
            <a:ext cx="199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2023</a:t>
            </a:r>
            <a:endParaRPr lang="zh-TW" altLang="en-US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DC7DA15-05B4-4641-96D5-EED3161EA50B}"/>
              </a:ext>
            </a:extLst>
          </p:cNvPr>
          <p:cNvSpPr txBox="1"/>
          <p:nvPr/>
        </p:nvSpPr>
        <p:spPr>
          <a:xfrm>
            <a:off x="6473118" y="3343687"/>
            <a:ext cx="199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2025/Q1</a:t>
            </a:r>
            <a:endParaRPr lang="zh-TW" altLang="en-US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500CD52-FF34-41F2-8167-BD0A37C727C9}"/>
              </a:ext>
            </a:extLst>
          </p:cNvPr>
          <p:cNvSpPr txBox="1"/>
          <p:nvPr/>
        </p:nvSpPr>
        <p:spPr>
          <a:xfrm>
            <a:off x="4606451" y="3343687"/>
            <a:ext cx="199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2024/11</a:t>
            </a:r>
            <a:endParaRPr lang="zh-TW" altLang="en-US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5" name="菱形 54">
            <a:extLst>
              <a:ext uri="{FF2B5EF4-FFF2-40B4-BE49-F238E27FC236}">
                <a16:creationId xmlns:a16="http://schemas.microsoft.com/office/drawing/2014/main" id="{943A1020-4B4E-4ADA-B586-98EB9E123F15}"/>
              </a:ext>
            </a:extLst>
          </p:cNvPr>
          <p:cNvSpPr/>
          <p:nvPr/>
        </p:nvSpPr>
        <p:spPr>
          <a:xfrm>
            <a:off x="8413620" y="3034827"/>
            <a:ext cx="169200" cy="170620"/>
          </a:xfrm>
          <a:prstGeom prst="diamond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rgbClr val="1174B8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1B44C53-D22C-4058-ABC9-EA57B4A3FF02}"/>
              </a:ext>
            </a:extLst>
          </p:cNvPr>
          <p:cNvSpPr txBox="1"/>
          <p:nvPr/>
        </p:nvSpPr>
        <p:spPr>
          <a:xfrm>
            <a:off x="8201902" y="3355919"/>
            <a:ext cx="1996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2026</a:t>
            </a:r>
            <a:endParaRPr lang="zh-TW" altLang="en-US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78227ED-AC85-4813-AE2D-E8236223562C}"/>
              </a:ext>
            </a:extLst>
          </p:cNvPr>
          <p:cNvSpPr txBox="1"/>
          <p:nvPr/>
        </p:nvSpPr>
        <p:spPr>
          <a:xfrm>
            <a:off x="7794675" y="2299330"/>
            <a:ext cx="2810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Agent </a:t>
            </a:r>
            <a:r>
              <a:rPr lang="zh-TW" altLang="en-US" sz="2000" b="1" dirty="0">
                <a:solidFill>
                  <a:srgbClr val="3D5383"/>
                </a:solidFill>
                <a:ea typeface="微軟正黑體" panose="020B0604030504040204" pitchFamily="34" charset="-120"/>
              </a:rPr>
              <a:t>時代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13BE268-2547-417B-963E-5FBC12B7A090}"/>
              </a:ext>
            </a:extLst>
          </p:cNvPr>
          <p:cNvSpPr txBox="1"/>
          <p:nvPr/>
        </p:nvSpPr>
        <p:spPr>
          <a:xfrm>
            <a:off x="348669" y="4499737"/>
            <a:ext cx="17680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各自開發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F3874C55-A99C-4E45-A243-800BAB41E650}"/>
              </a:ext>
            </a:extLst>
          </p:cNvPr>
          <p:cNvSpPr txBox="1"/>
          <p:nvPr/>
        </p:nvSpPr>
        <p:spPr>
          <a:xfrm>
            <a:off x="7878560" y="4419996"/>
            <a:ext cx="17680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全面連結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70217B5-A525-4EE7-8E25-37B67ADAB26B}"/>
              </a:ext>
            </a:extLst>
          </p:cNvPr>
          <p:cNvSpPr txBox="1"/>
          <p:nvPr/>
        </p:nvSpPr>
        <p:spPr>
          <a:xfrm>
            <a:off x="4134925" y="4470566"/>
            <a:ext cx="17680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統一標準</a:t>
            </a:r>
          </a:p>
        </p:txBody>
      </p:sp>
      <p:sp>
        <p:nvSpPr>
          <p:cNvPr id="65" name="箭號: 向右 64">
            <a:extLst>
              <a:ext uri="{FF2B5EF4-FFF2-40B4-BE49-F238E27FC236}">
                <a16:creationId xmlns:a16="http://schemas.microsoft.com/office/drawing/2014/main" id="{952DFB46-875D-4DEC-B840-188CC4FD48A5}"/>
              </a:ext>
            </a:extLst>
          </p:cNvPr>
          <p:cNvSpPr/>
          <p:nvPr/>
        </p:nvSpPr>
        <p:spPr>
          <a:xfrm>
            <a:off x="2727156" y="4583780"/>
            <a:ext cx="613186" cy="30372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7" name="箭號: 向右 66">
            <a:extLst>
              <a:ext uri="{FF2B5EF4-FFF2-40B4-BE49-F238E27FC236}">
                <a16:creationId xmlns:a16="http://schemas.microsoft.com/office/drawing/2014/main" id="{3C24B670-71A8-424D-8F18-DCE904764FE5}"/>
              </a:ext>
            </a:extLst>
          </p:cNvPr>
          <p:cNvSpPr/>
          <p:nvPr/>
        </p:nvSpPr>
        <p:spPr>
          <a:xfrm>
            <a:off x="6586619" y="4545131"/>
            <a:ext cx="613186" cy="30372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48B54DB-18EC-49BF-AF15-1F1EC2FDEAC5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2A348A9-32ED-48FD-9661-12271A3C64D0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147224B-A69D-4E86-96E3-F9B0131798DD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D80DCA7-6DEC-40A4-86A8-59D0BFD10B2B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A05BFCA-A85F-4350-B86E-39F73E17253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818697D-D04E-4A83-92E0-2800A1415409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769342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3" name="標題 1">
            <a:extLst>
              <a:ext uri="{FF2B5EF4-FFF2-40B4-BE49-F238E27FC236}">
                <a16:creationId xmlns:a16="http://schemas.microsoft.com/office/drawing/2014/main" id="{76E79DA9-9CF5-4868-86D1-58042C2097DC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產品發展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D5AA1663-4AAE-4DBA-9464-C37594B34ADA}"/>
              </a:ext>
            </a:extLst>
          </p:cNvPr>
          <p:cNvCxnSpPr>
            <a:cxnSpLocks/>
          </p:cNvCxnSpPr>
          <p:nvPr/>
        </p:nvCxnSpPr>
        <p:spPr>
          <a:xfrm>
            <a:off x="1051620" y="1778000"/>
            <a:ext cx="7965380" cy="4368800"/>
          </a:xfrm>
          <a:prstGeom prst="line">
            <a:avLst/>
          </a:prstGeom>
          <a:ln w="28575">
            <a:solidFill>
              <a:srgbClr val="3D538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DD458698-F740-44F7-A487-A5DF72814E1A}"/>
              </a:ext>
            </a:extLst>
          </p:cNvPr>
          <p:cNvSpPr/>
          <p:nvPr/>
        </p:nvSpPr>
        <p:spPr>
          <a:xfrm>
            <a:off x="1013520" y="1701623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1174B8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B152637-C332-4AAF-A2E7-9E7D9519E28D}"/>
              </a:ext>
            </a:extLst>
          </p:cNvPr>
          <p:cNvSpPr txBox="1"/>
          <p:nvPr/>
        </p:nvSpPr>
        <p:spPr>
          <a:xfrm>
            <a:off x="1220820" y="1520543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開源 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(Open-sourced)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C5B8DFB-2F9E-4DE9-A22E-2C2BFC966685}"/>
              </a:ext>
            </a:extLst>
          </p:cNvPr>
          <p:cNvSpPr txBox="1"/>
          <p:nvPr/>
        </p:nvSpPr>
        <p:spPr>
          <a:xfrm>
            <a:off x="2665363" y="2260105"/>
            <a:ext cx="4216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支援遠端伺服器 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(Remote Servers)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A201FD3-E73A-4EC1-82C7-6A21273AF143}"/>
              </a:ext>
            </a:extLst>
          </p:cNvPr>
          <p:cNvSpPr txBox="1"/>
          <p:nvPr/>
        </p:nvSpPr>
        <p:spPr>
          <a:xfrm>
            <a:off x="4167381" y="3009569"/>
            <a:ext cx="2810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授權機制 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(Authorization)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3AEB00A-878A-4DA6-96C5-9E88D6E8E764}"/>
              </a:ext>
            </a:extLst>
          </p:cNvPr>
          <p:cNvSpPr txBox="1"/>
          <p:nvPr/>
        </p:nvSpPr>
        <p:spPr>
          <a:xfrm>
            <a:off x="6646394" y="4459331"/>
            <a:ext cx="2810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任務機制 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(Tasks)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E0B29C0-FA17-404F-BA62-D7B9509DCF9F}"/>
              </a:ext>
            </a:extLst>
          </p:cNvPr>
          <p:cNvSpPr txBox="1"/>
          <p:nvPr/>
        </p:nvSpPr>
        <p:spPr>
          <a:xfrm>
            <a:off x="7649695" y="5133661"/>
            <a:ext cx="2810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</a:t>
            </a:r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應用程式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 (MCP Apps)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9174135-DFDA-47AD-B527-2D4545FFAAE1}"/>
              </a:ext>
            </a:extLst>
          </p:cNvPr>
          <p:cNvSpPr txBox="1"/>
          <p:nvPr/>
        </p:nvSpPr>
        <p:spPr>
          <a:xfrm>
            <a:off x="5297909" y="3723972"/>
            <a:ext cx="28108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引導式互動</a:t>
            </a:r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(Elicitation)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252FCC44-5AA9-4B23-917B-3803A8563D46}"/>
              </a:ext>
            </a:extLst>
          </p:cNvPr>
          <p:cNvSpPr/>
          <p:nvPr/>
        </p:nvSpPr>
        <p:spPr>
          <a:xfrm>
            <a:off x="7919811" y="5502589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EE48FE4E-244E-4FD3-98A5-0BE63A1476D7}"/>
              </a:ext>
            </a:extLst>
          </p:cNvPr>
          <p:cNvSpPr/>
          <p:nvPr/>
        </p:nvSpPr>
        <p:spPr>
          <a:xfrm>
            <a:off x="2364924" y="2462957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128BF0FC-9F39-483F-868B-1C84923FFC54}"/>
              </a:ext>
            </a:extLst>
          </p:cNvPr>
          <p:cNvSpPr/>
          <p:nvPr/>
        </p:nvSpPr>
        <p:spPr>
          <a:xfrm>
            <a:off x="3796628" y="3247424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45A83561-7F00-442D-A7E0-B3E8F56467BC}"/>
              </a:ext>
            </a:extLst>
          </p:cNvPr>
          <p:cNvSpPr/>
          <p:nvPr/>
        </p:nvSpPr>
        <p:spPr>
          <a:xfrm>
            <a:off x="5059669" y="3904993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2EAE61FA-9859-485F-9928-2565BE908ABD}"/>
              </a:ext>
            </a:extLst>
          </p:cNvPr>
          <p:cNvSpPr/>
          <p:nvPr/>
        </p:nvSpPr>
        <p:spPr>
          <a:xfrm>
            <a:off x="6409307" y="4654457"/>
            <a:ext cx="169200" cy="170620"/>
          </a:xfrm>
          <a:prstGeom prst="ellipse">
            <a:avLst/>
          </a:prstGeom>
          <a:solidFill>
            <a:srgbClr val="1174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645BFA9-62E3-4CD9-A275-54657349987B}"/>
              </a:ext>
            </a:extLst>
          </p:cNvPr>
          <p:cNvSpPr txBox="1"/>
          <p:nvPr/>
        </p:nvSpPr>
        <p:spPr>
          <a:xfrm>
            <a:off x="400320" y="1936940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>
                <a:solidFill>
                  <a:srgbClr val="3D5383"/>
                </a:solidFill>
                <a:ea typeface="微軟正黑體" panose="020B0604030504040204" pitchFamily="34" charset="-120"/>
              </a:rPr>
              <a:t>2024/11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5247F461-AA38-419B-9321-E2F670777C5E}"/>
              </a:ext>
            </a:extLst>
          </p:cNvPr>
          <p:cNvSpPr txBox="1"/>
          <p:nvPr/>
        </p:nvSpPr>
        <p:spPr>
          <a:xfrm>
            <a:off x="1667184" y="2633577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2025/03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422EBDE-45AD-44F0-A9E3-C59AFAD05E65}"/>
              </a:ext>
            </a:extLst>
          </p:cNvPr>
          <p:cNvSpPr txBox="1"/>
          <p:nvPr/>
        </p:nvSpPr>
        <p:spPr>
          <a:xfrm>
            <a:off x="3014132" y="3423446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2025/06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FC71AE84-7B90-4352-B1E1-153665CAE81A}"/>
              </a:ext>
            </a:extLst>
          </p:cNvPr>
          <p:cNvSpPr txBox="1"/>
          <p:nvPr/>
        </p:nvSpPr>
        <p:spPr>
          <a:xfrm>
            <a:off x="4446012" y="4150845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2025/09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7F21BB12-0701-4E9A-B298-2A9B3F918B73}"/>
              </a:ext>
            </a:extLst>
          </p:cNvPr>
          <p:cNvSpPr txBox="1"/>
          <p:nvPr/>
        </p:nvSpPr>
        <p:spPr>
          <a:xfrm>
            <a:off x="5653338" y="4894569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2025/12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4317D39-6362-42E6-9AAB-71EDC4D1AB86}"/>
              </a:ext>
            </a:extLst>
          </p:cNvPr>
          <p:cNvSpPr txBox="1"/>
          <p:nvPr/>
        </p:nvSpPr>
        <p:spPr>
          <a:xfrm>
            <a:off x="7110539" y="5661996"/>
            <a:ext cx="1996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i="1" dirty="0">
                <a:solidFill>
                  <a:srgbClr val="3D5383"/>
                </a:solidFill>
                <a:ea typeface="微軟正黑體" panose="020B0604030504040204" pitchFamily="34" charset="-120"/>
              </a:rPr>
              <a:t>2026/Q1</a:t>
            </a:r>
            <a:endParaRPr lang="zh-TW" altLang="en-US" sz="1500" i="1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6585CFD5-20BC-4EB1-96E7-11EB3685614D}"/>
              </a:ext>
            </a:extLst>
          </p:cNvPr>
          <p:cNvSpPr txBox="1"/>
          <p:nvPr/>
        </p:nvSpPr>
        <p:spPr>
          <a:xfrm>
            <a:off x="189636" y="5597854"/>
            <a:ext cx="6788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ea typeface="微軟正黑體" panose="020B0604030504040204" pitchFamily="34" charset="-120"/>
              </a:rPr>
              <a:t>Hundreds of clients · Thousands of servers · one spec</a:t>
            </a:r>
          </a:p>
          <a:p>
            <a:r>
              <a:rPr lang="zh-TW" altLang="en-US" sz="2000" b="1" dirty="0">
                <a:ea typeface="微軟正黑體" panose="020B0604030504040204" pitchFamily="34" charset="-120"/>
              </a:rPr>
              <a:t>數百個 </a:t>
            </a:r>
            <a:r>
              <a:rPr lang="en-US" altLang="zh-TW" sz="2000" b="1" dirty="0">
                <a:ea typeface="微軟正黑體" panose="020B0604030504040204" pitchFamily="34" charset="-120"/>
              </a:rPr>
              <a:t>Client 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2000" b="1" dirty="0">
                <a:ea typeface="微軟正黑體" panose="020B0604030504040204" pitchFamily="34" charset="-120"/>
              </a:rPr>
              <a:t>數千個 </a:t>
            </a:r>
            <a:r>
              <a:rPr lang="en-US" altLang="zh-TW" sz="2000" b="1" dirty="0">
                <a:ea typeface="微軟正黑體" panose="020B0604030504040204" pitchFamily="34" charset="-120"/>
              </a:rPr>
              <a:t>Server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sz="2000" b="1" dirty="0">
                <a:ea typeface="微軟正黑體" panose="020B0604030504040204" pitchFamily="34" charset="-120"/>
              </a:rPr>
              <a:t> </a:t>
            </a:r>
            <a:r>
              <a:rPr lang="zh-TW" altLang="en-US" sz="2000" b="1" dirty="0">
                <a:ea typeface="微軟正黑體" panose="020B0604030504040204" pitchFamily="34" charset="-120"/>
              </a:rPr>
              <a:t>同一套規格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A97BD63-1838-4B60-962C-B2570ABE0507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1E15938-B9A9-4358-BC78-12431C56EFEF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82973F2-7C6F-4D05-9C4E-A92F1B8A3DAE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AF0C04A5-51B3-450E-B9CA-01E128E3243B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09F60F7-9668-4F63-874A-CA4813E4423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F32F59B-55B3-43A9-A065-AB78CF3117C6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4327934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09" y="160621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官方網站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470A850-F1AC-4183-9A16-1110203F187E}"/>
              </a:ext>
            </a:extLst>
          </p:cNvPr>
          <p:cNvSpPr txBox="1"/>
          <p:nvPr/>
        </p:nvSpPr>
        <p:spPr>
          <a:xfrm>
            <a:off x="1831752" y="6066281"/>
            <a:ext cx="6514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hlinkClick r:id="rId3"/>
              </a:rPr>
              <a:t>https://modelcontextprotocol.io/docs/getting-started/intro</a:t>
            </a:r>
            <a:endParaRPr lang="zh-TW" altLang="en-US" sz="20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BE3C4BA-C1DB-49C1-BEDD-D087D30AB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93" y="1411753"/>
            <a:ext cx="9310013" cy="460843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FD866C5-E931-4F1B-ACC2-9B15DE27154F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24FBF53-B5D2-4E7A-84D2-DB3E52C9B021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83BE33-F6D8-4085-9BBF-9DE8430A7C57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03766CB-E42F-4138-BF03-56B0FE563170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6C1F8A-3669-41D2-9DDD-DD34F326B0CE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D95133B-17BD-4CB8-A34C-69DEDEB051C9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7960244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75" y="138280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Github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470A850-F1AC-4183-9A16-1110203F187E}"/>
              </a:ext>
            </a:extLst>
          </p:cNvPr>
          <p:cNvSpPr txBox="1"/>
          <p:nvPr/>
        </p:nvSpPr>
        <p:spPr>
          <a:xfrm>
            <a:off x="2620225" y="5975971"/>
            <a:ext cx="6514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hlinkClick r:id="rId3"/>
              </a:rPr>
              <a:t>https://github.com/modelcontextprotocol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ED4F18-A1CF-4791-9298-9323CCFBD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45" y="1407265"/>
            <a:ext cx="8816109" cy="442669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6931DE5-DFA4-4C13-B568-CB12E551A582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C2E06CB-D60E-4DE3-9DEC-B92C590718B9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C26DE4-9456-474C-9B5F-7C93DD69C91B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93C22A4-8955-4370-9BD8-19A2C3FDBE92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7FD2E3-4F3E-4FDD-BE25-E7289B4CBA6C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D89B013-A44F-4B6E-8E29-0CFF581668F5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7465191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73" y="186135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示意圖</a:t>
            </a:r>
            <a:endParaRPr lang="zh-TW" alt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49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D8F5D5D-0CA3-4FD8-8935-C2ECCE90637A}"/>
              </a:ext>
            </a:extLst>
          </p:cNvPr>
          <p:cNvSpPr/>
          <p:nvPr/>
        </p:nvSpPr>
        <p:spPr>
          <a:xfrm>
            <a:off x="3774071" y="3325522"/>
            <a:ext cx="2276854" cy="492978"/>
          </a:xfrm>
          <a:prstGeom prst="roundRect">
            <a:avLst>
              <a:gd name="adj" fmla="val 32619"/>
            </a:avLst>
          </a:prstGeom>
          <a:solidFill>
            <a:schemeClr val="bg1"/>
          </a:solidFill>
          <a:ln w="28575">
            <a:solidFill>
              <a:srgbClr val="354677"/>
            </a:solidFill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MCP Protocol</a:t>
            </a:r>
            <a:endParaRPr lang="zh-TW" altLang="en-US" sz="2000" b="1" dirty="0">
              <a:solidFill>
                <a:srgbClr val="354677"/>
              </a:solidFill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5133862-35F4-42E2-98A8-348F907F4E10}"/>
              </a:ext>
            </a:extLst>
          </p:cNvPr>
          <p:cNvSpPr/>
          <p:nvPr/>
        </p:nvSpPr>
        <p:spPr>
          <a:xfrm>
            <a:off x="3769536" y="4289717"/>
            <a:ext cx="2276854" cy="492978"/>
          </a:xfrm>
          <a:prstGeom prst="roundRect">
            <a:avLst>
              <a:gd name="adj" fmla="val 32619"/>
            </a:avLst>
          </a:prstGeom>
          <a:solidFill>
            <a:schemeClr val="bg1"/>
          </a:solidFill>
          <a:ln w="28575">
            <a:solidFill>
              <a:srgbClr val="354677"/>
            </a:solidFill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solidFill>
                  <a:srgbClr val="354677"/>
                </a:solidFill>
                <a:ea typeface="微軟正黑體" panose="020B0604030504040204" pitchFamily="34" charset="-120"/>
              </a:rPr>
              <a:t>MCP </a:t>
            </a:r>
            <a:r>
              <a:rPr lang="en-US" altLang="zh-TW" sz="20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Server</a:t>
            </a:r>
            <a:endParaRPr lang="zh-TW" altLang="en-US" sz="2000" b="1" dirty="0">
              <a:solidFill>
                <a:srgbClr val="354677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EFFECAE-33B4-40C2-92D6-94ADA5221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036" y="1566622"/>
            <a:ext cx="846560" cy="970216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C2F27C6-760E-4852-9752-F869822EF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865" y="5500847"/>
            <a:ext cx="952633" cy="724001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378D750F-DE35-439E-BFC1-21EA9A6982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413"/>
          <a:stretch/>
        </p:blipFill>
        <p:spPr>
          <a:xfrm>
            <a:off x="2975675" y="5526247"/>
            <a:ext cx="1124107" cy="67915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528E886-08C4-4B53-A85E-2B49605FDF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9" t="5237" r="-529" b="1855"/>
          <a:stretch/>
        </p:blipFill>
        <p:spPr>
          <a:xfrm>
            <a:off x="4618966" y="5533023"/>
            <a:ext cx="600159" cy="654956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84D8A110-6E7F-42D5-A582-B5B1CF437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289" y="5522685"/>
            <a:ext cx="1038370" cy="695422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9084AAAB-E091-482A-B30D-E51F4BEF8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4378" y="5493103"/>
            <a:ext cx="981212" cy="714475"/>
          </a:xfrm>
          <a:prstGeom prst="rect">
            <a:avLst/>
          </a:prstGeom>
        </p:spPr>
      </p:pic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D52F3F63-804A-4A37-A627-DB8CA5B66D55}"/>
              </a:ext>
            </a:extLst>
          </p:cNvPr>
          <p:cNvCxnSpPr>
            <a:cxnSpLocks/>
          </p:cNvCxnSpPr>
          <p:nvPr/>
        </p:nvCxnSpPr>
        <p:spPr>
          <a:xfrm>
            <a:off x="3034883" y="2005829"/>
            <a:ext cx="737242" cy="0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6E000D9-E32A-4DD0-BA5E-FF09DFBEBE45}"/>
              </a:ext>
            </a:extLst>
          </p:cNvPr>
          <p:cNvCxnSpPr>
            <a:cxnSpLocks/>
          </p:cNvCxnSpPr>
          <p:nvPr/>
        </p:nvCxnSpPr>
        <p:spPr>
          <a:xfrm>
            <a:off x="4907963" y="3802883"/>
            <a:ext cx="973" cy="471217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77A221C3-4789-47F2-9D65-0BBF7D8EBE1B}"/>
              </a:ext>
            </a:extLst>
          </p:cNvPr>
          <p:cNvCxnSpPr>
            <a:cxnSpLocks/>
          </p:cNvCxnSpPr>
          <p:nvPr/>
        </p:nvCxnSpPr>
        <p:spPr>
          <a:xfrm flipH="1">
            <a:off x="3034882" y="2200525"/>
            <a:ext cx="734654" cy="0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933041B2-5202-4677-A70F-70C6676A64EB}"/>
              </a:ext>
            </a:extLst>
          </p:cNvPr>
          <p:cNvCxnSpPr>
            <a:cxnSpLocks/>
          </p:cNvCxnSpPr>
          <p:nvPr/>
        </p:nvCxnSpPr>
        <p:spPr>
          <a:xfrm rot="5400000">
            <a:off x="3172997" y="3782815"/>
            <a:ext cx="718152" cy="2751781"/>
          </a:xfrm>
          <a:prstGeom prst="bentConnector3">
            <a:avLst/>
          </a:prstGeom>
          <a:solidFill>
            <a:schemeClr val="bg1"/>
          </a:solidFill>
          <a:ln w="28575">
            <a:solidFill>
              <a:srgbClr val="354677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8497FF91-50DA-4B84-AC6F-CF3C176C73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11242" y="3787882"/>
            <a:ext cx="730463" cy="2737021"/>
          </a:xfrm>
          <a:prstGeom prst="bentConnector3">
            <a:avLst/>
          </a:prstGeom>
          <a:solidFill>
            <a:schemeClr val="bg1"/>
          </a:solidFill>
          <a:ln w="28575">
            <a:solidFill>
              <a:srgbClr val="354677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D606C83C-E409-4B9B-B5F6-2E7C1F12B13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537729" y="5155835"/>
            <a:ext cx="0" cy="370412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E30DF62E-DDD7-4B90-A363-4E4FEF91675D}"/>
              </a:ext>
            </a:extLst>
          </p:cNvPr>
          <p:cNvCxnSpPr>
            <a:cxnSpLocks/>
          </p:cNvCxnSpPr>
          <p:nvPr/>
        </p:nvCxnSpPr>
        <p:spPr>
          <a:xfrm>
            <a:off x="4907963" y="5075275"/>
            <a:ext cx="0" cy="457748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04BDEBF7-BA3A-430A-8DB0-AF5ABFAE44B4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6276474" y="5171075"/>
            <a:ext cx="0" cy="351610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1AD8E80C-348F-4292-8E7E-16347BCBB3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7429" y="1603759"/>
            <a:ext cx="865592" cy="915212"/>
          </a:xfrm>
          <a:prstGeom prst="rect">
            <a:avLst/>
          </a:prstGeom>
        </p:spPr>
      </p:pic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258ACE00-760F-469E-B016-1A1278AE4BBE}"/>
              </a:ext>
            </a:extLst>
          </p:cNvPr>
          <p:cNvCxnSpPr>
            <a:cxnSpLocks/>
          </p:cNvCxnSpPr>
          <p:nvPr/>
        </p:nvCxnSpPr>
        <p:spPr>
          <a:xfrm>
            <a:off x="6058417" y="2005829"/>
            <a:ext cx="737242" cy="0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4ADAFC79-C0FE-4721-8421-EEFD9382476D}"/>
              </a:ext>
            </a:extLst>
          </p:cNvPr>
          <p:cNvCxnSpPr>
            <a:cxnSpLocks/>
          </p:cNvCxnSpPr>
          <p:nvPr/>
        </p:nvCxnSpPr>
        <p:spPr>
          <a:xfrm flipH="1">
            <a:off x="6061005" y="2200525"/>
            <a:ext cx="734654" cy="0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76C92486-506C-4C0D-ADB7-00AA5677B95A}"/>
              </a:ext>
            </a:extLst>
          </p:cNvPr>
          <p:cNvSpPr/>
          <p:nvPr/>
        </p:nvSpPr>
        <p:spPr>
          <a:xfrm>
            <a:off x="3718168" y="1603759"/>
            <a:ext cx="2350501" cy="1080000"/>
          </a:xfrm>
          <a:prstGeom prst="roundRect">
            <a:avLst>
              <a:gd name="adj" fmla="val 32619"/>
            </a:avLst>
          </a:prstGeom>
          <a:solidFill>
            <a:schemeClr val="bg1"/>
          </a:solidFill>
          <a:ln w="28575">
            <a:solidFill>
              <a:srgbClr val="354677"/>
            </a:solidFill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MCP Host</a:t>
            </a:r>
            <a:endParaRPr lang="zh-TW" altLang="en-US" sz="2000" b="1" dirty="0">
              <a:solidFill>
                <a:srgbClr val="354677"/>
              </a:solidFill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6CB5B5-4B4F-46D5-B77B-6584332CEA07}"/>
              </a:ext>
            </a:extLst>
          </p:cNvPr>
          <p:cNvSpPr/>
          <p:nvPr/>
        </p:nvSpPr>
        <p:spPr>
          <a:xfrm>
            <a:off x="4307384" y="2165336"/>
            <a:ext cx="1215744" cy="326228"/>
          </a:xfrm>
          <a:prstGeom prst="rect">
            <a:avLst/>
          </a:prstGeom>
          <a:solidFill>
            <a:schemeClr val="bg1"/>
          </a:solidFill>
          <a:ln w="28575">
            <a:solidFill>
              <a:srgbClr val="354677"/>
            </a:solidFill>
            <a:extLst>
              <a:ext uri="{C807C97D-BFC1-408E-A445-0C87EB9F89A2}">
                <ask:lineSketchStyleProps xmlns:ask="http://schemas.microsoft.com/office/drawing/2018/sketchyshapes" sd="4272903059">
                  <a:custGeom>
                    <a:avLst/>
                    <a:gdLst>
                      <a:gd name="connsiteX0" fmla="*/ 0 w 1755913"/>
                      <a:gd name="connsiteY0" fmla="*/ 191729 h 587782"/>
                      <a:gd name="connsiteX1" fmla="*/ 191729 w 1755913"/>
                      <a:gd name="connsiteY1" fmla="*/ 0 h 587782"/>
                      <a:gd name="connsiteX2" fmla="*/ 621765 w 1755913"/>
                      <a:gd name="connsiteY2" fmla="*/ 0 h 587782"/>
                      <a:gd name="connsiteX3" fmla="*/ 1038076 w 1755913"/>
                      <a:gd name="connsiteY3" fmla="*/ 0 h 587782"/>
                      <a:gd name="connsiteX4" fmla="*/ 1564184 w 1755913"/>
                      <a:gd name="connsiteY4" fmla="*/ 0 h 587782"/>
                      <a:gd name="connsiteX5" fmla="*/ 1755913 w 1755913"/>
                      <a:gd name="connsiteY5" fmla="*/ 191729 h 587782"/>
                      <a:gd name="connsiteX6" fmla="*/ 1755913 w 1755913"/>
                      <a:gd name="connsiteY6" fmla="*/ 396053 h 587782"/>
                      <a:gd name="connsiteX7" fmla="*/ 1564184 w 1755913"/>
                      <a:gd name="connsiteY7" fmla="*/ 587782 h 587782"/>
                      <a:gd name="connsiteX8" fmla="*/ 1106699 w 1755913"/>
                      <a:gd name="connsiteY8" fmla="*/ 587782 h 587782"/>
                      <a:gd name="connsiteX9" fmla="*/ 635489 w 1755913"/>
                      <a:gd name="connsiteY9" fmla="*/ 587782 h 587782"/>
                      <a:gd name="connsiteX10" fmla="*/ 191729 w 1755913"/>
                      <a:gd name="connsiteY10" fmla="*/ 587782 h 587782"/>
                      <a:gd name="connsiteX11" fmla="*/ 0 w 1755913"/>
                      <a:gd name="connsiteY11" fmla="*/ 396053 h 587782"/>
                      <a:gd name="connsiteX12" fmla="*/ 0 w 1755913"/>
                      <a:gd name="connsiteY12" fmla="*/ 191729 h 587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55913" h="587782" fill="none" extrusionOk="0">
                        <a:moveTo>
                          <a:pt x="0" y="191729"/>
                        </a:moveTo>
                        <a:cubicBezTo>
                          <a:pt x="-5778" y="64015"/>
                          <a:pt x="86869" y="-7456"/>
                          <a:pt x="191729" y="0"/>
                        </a:cubicBezTo>
                        <a:cubicBezTo>
                          <a:pt x="337225" y="-990"/>
                          <a:pt x="437000" y="24643"/>
                          <a:pt x="621765" y="0"/>
                        </a:cubicBezTo>
                        <a:cubicBezTo>
                          <a:pt x="806530" y="-24643"/>
                          <a:pt x="915931" y="43393"/>
                          <a:pt x="1038076" y="0"/>
                        </a:cubicBezTo>
                        <a:cubicBezTo>
                          <a:pt x="1160221" y="-43393"/>
                          <a:pt x="1406429" y="44103"/>
                          <a:pt x="1564184" y="0"/>
                        </a:cubicBezTo>
                        <a:cubicBezTo>
                          <a:pt x="1655167" y="13318"/>
                          <a:pt x="1736754" y="103667"/>
                          <a:pt x="1755913" y="191729"/>
                        </a:cubicBezTo>
                        <a:cubicBezTo>
                          <a:pt x="1757445" y="285446"/>
                          <a:pt x="1745280" y="318441"/>
                          <a:pt x="1755913" y="396053"/>
                        </a:cubicBezTo>
                        <a:cubicBezTo>
                          <a:pt x="1757628" y="517817"/>
                          <a:pt x="1656194" y="577768"/>
                          <a:pt x="1564184" y="587782"/>
                        </a:cubicBezTo>
                        <a:cubicBezTo>
                          <a:pt x="1372849" y="623685"/>
                          <a:pt x="1214890" y="543751"/>
                          <a:pt x="1106699" y="587782"/>
                        </a:cubicBezTo>
                        <a:cubicBezTo>
                          <a:pt x="998508" y="631813"/>
                          <a:pt x="827880" y="586790"/>
                          <a:pt x="635489" y="587782"/>
                        </a:cubicBezTo>
                        <a:cubicBezTo>
                          <a:pt x="443098" y="588774"/>
                          <a:pt x="390062" y="583206"/>
                          <a:pt x="191729" y="587782"/>
                        </a:cubicBezTo>
                        <a:cubicBezTo>
                          <a:pt x="99517" y="580048"/>
                          <a:pt x="-1955" y="505738"/>
                          <a:pt x="0" y="396053"/>
                        </a:cubicBezTo>
                        <a:cubicBezTo>
                          <a:pt x="-18525" y="314918"/>
                          <a:pt x="20643" y="255142"/>
                          <a:pt x="0" y="191729"/>
                        </a:cubicBezTo>
                        <a:close/>
                      </a:path>
                      <a:path w="1755913" h="587782" stroke="0" extrusionOk="0">
                        <a:moveTo>
                          <a:pt x="0" y="191729"/>
                        </a:moveTo>
                        <a:cubicBezTo>
                          <a:pt x="-2040" y="77308"/>
                          <a:pt x="86985" y="8958"/>
                          <a:pt x="191729" y="0"/>
                        </a:cubicBezTo>
                        <a:cubicBezTo>
                          <a:pt x="319887" y="-43713"/>
                          <a:pt x="408146" y="35341"/>
                          <a:pt x="608040" y="0"/>
                        </a:cubicBezTo>
                        <a:cubicBezTo>
                          <a:pt x="807934" y="-35341"/>
                          <a:pt x="832501" y="6278"/>
                          <a:pt x="1038076" y="0"/>
                        </a:cubicBezTo>
                        <a:cubicBezTo>
                          <a:pt x="1243651" y="-6278"/>
                          <a:pt x="1404928" y="35633"/>
                          <a:pt x="1564184" y="0"/>
                        </a:cubicBezTo>
                        <a:cubicBezTo>
                          <a:pt x="1661480" y="-19754"/>
                          <a:pt x="1753722" y="86487"/>
                          <a:pt x="1755913" y="191729"/>
                        </a:cubicBezTo>
                        <a:cubicBezTo>
                          <a:pt x="1758844" y="269265"/>
                          <a:pt x="1736718" y="338977"/>
                          <a:pt x="1755913" y="396053"/>
                        </a:cubicBezTo>
                        <a:cubicBezTo>
                          <a:pt x="1761794" y="497384"/>
                          <a:pt x="1666301" y="591423"/>
                          <a:pt x="1564184" y="587782"/>
                        </a:cubicBezTo>
                        <a:cubicBezTo>
                          <a:pt x="1396846" y="629527"/>
                          <a:pt x="1198394" y="546423"/>
                          <a:pt x="1092974" y="587782"/>
                        </a:cubicBezTo>
                        <a:cubicBezTo>
                          <a:pt x="987554" y="629141"/>
                          <a:pt x="839868" y="546110"/>
                          <a:pt x="608040" y="587782"/>
                        </a:cubicBezTo>
                        <a:cubicBezTo>
                          <a:pt x="376212" y="629454"/>
                          <a:pt x="311990" y="585786"/>
                          <a:pt x="191729" y="587782"/>
                        </a:cubicBezTo>
                        <a:cubicBezTo>
                          <a:pt x="75856" y="574527"/>
                          <a:pt x="-11829" y="496567"/>
                          <a:pt x="0" y="396053"/>
                        </a:cubicBezTo>
                        <a:cubicBezTo>
                          <a:pt x="-13239" y="349937"/>
                          <a:pt x="3018" y="293167"/>
                          <a:pt x="0" y="1917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MCP</a:t>
            </a:r>
            <a:r>
              <a:rPr lang="zh-TW" altLang="en-US" sz="15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500" b="1" dirty="0">
                <a:solidFill>
                  <a:srgbClr val="354677"/>
                </a:solidFill>
                <a:ea typeface="微軟正黑體" panose="020B0604030504040204" pitchFamily="34" charset="-120"/>
              </a:rPr>
              <a:t>Client</a:t>
            </a:r>
            <a:endParaRPr lang="zh-TW" altLang="en-US" sz="1500" b="1" dirty="0">
              <a:solidFill>
                <a:srgbClr val="354677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91618111-41DB-48ED-834A-34FC9AEEEDD2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 flipH="1">
            <a:off x="4912498" y="2491564"/>
            <a:ext cx="2758" cy="833958"/>
          </a:xfrm>
          <a:prstGeom prst="straightConnector1">
            <a:avLst/>
          </a:prstGeom>
          <a:ln w="28575"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A3751E4A-82BB-49DE-9372-A0839DB8FA6D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80CF0EF-AE37-466E-A94E-2D5123441A46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567C9C4-BD8C-401D-A022-8203620DCE83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6F59305-0F02-4631-B36A-6F07C1FC90BB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D7EBD62-B4E6-420D-A065-B86B93E4E75D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998C575-B88E-4B2B-BE91-D776010781C9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0957956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163307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Host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3E4A0B28-9B99-4A53-B2EA-6E20AEB0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480057"/>
            <a:ext cx="7965380" cy="4515593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創建與管理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的應用程式或執行環境。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提供使用者操作介面，接收使用者指令與顯示結果。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常見的例子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Desktop</a:t>
            </a:r>
          </a:p>
          <a:p>
            <a:pPr lvl="1"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</a:p>
          <a:p>
            <a:pPr lvl="1"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App</a:t>
            </a: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企業內部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平台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應用類型 </a:t>
            </a: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應用後端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桌面應用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應用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B47FA5-728F-407E-99E2-7D0D9965F296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0D5C54-46AB-4DA7-817A-046DBDC34664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C3B3C4-4C6B-453C-BF04-425F09DFDBF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86BD219-3E7E-4D50-B778-3CE404B650C9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6A7C3E-B7A9-45E4-A738-63BC3B78D2D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E51BBE3-1218-439D-A4F6-BF8ECADA4815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560021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17" y="197117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Client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3E4A0B28-9B99-4A53-B2EA-6E20AEB0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480057"/>
            <a:ext cx="7965380" cy="4515593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協定的客戶端元件。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負責與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保持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連線之協定用戶端。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讓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得知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有哪些工具可以使用。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若回覆需要使用某些工具，則調用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對應之工具。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將執行結果回傳給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容易與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Host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混為一談。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F07190-FDED-40DD-837E-110C09C27274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E65128C-053A-4B75-A32D-05B7A0162B4B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AC196F-4F01-4E2B-883D-0853DABE1995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F22DA0C-C557-43AF-B98C-3BF4E9CA2B08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786526-E9ED-4B0F-80C6-D5DBD6F2890A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0A0EA72-EC38-4DEE-99BC-B1D7F120F4C3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41934250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10" y="176154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3E4A0B28-9B99-4A53-B2EA-6E20AEB0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480057"/>
            <a:ext cx="8581270" cy="4515593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可用工具資訊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調用工具接口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可串接資料庫</a:t>
            </a:r>
            <a:r>
              <a:rPr lang="zh-TW" altLang="en-US" sz="1700" dirty="0">
                <a:cs typeface="Times New Roman" panose="02020603050405020304" pitchFamily="18" charset="0"/>
              </a:rPr>
              <a:t>、</a:t>
            </a:r>
            <a:r>
              <a:rPr lang="en-US" altLang="zh-TW" sz="1700" dirty="0">
                <a:cs typeface="Times New Roman" panose="02020603050405020304" pitchFamily="18" charset="0"/>
              </a:rPr>
              <a:t>API</a:t>
            </a:r>
            <a:r>
              <a:rPr lang="zh-TW" altLang="en-US" sz="1700" dirty="0">
                <a:cs typeface="Times New Roman" panose="02020603050405020304" pitchFamily="18" charset="0"/>
              </a:rPr>
              <a:t> 、檔案系統、企業內部系統等</a:t>
            </a:r>
            <a:endParaRPr lang="en-US" altLang="zh-TW" sz="1700" dirty="0"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常見傳輸方式</a:t>
            </a:r>
            <a:endParaRPr lang="en-US" altLang="zh-TW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STDIO</a:t>
            </a:r>
            <a:endParaRPr lang="en-US" altLang="zh-TW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本機程序通訊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Host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同機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適合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/ IDE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外掛整合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架構簡單</a:t>
            </a:r>
            <a:r>
              <a:rPr lang="zh-TW" altLang="en-US" sz="1600" dirty="0">
                <a:cs typeface="Times New Roman" panose="02020603050405020304" pitchFamily="18" charset="0"/>
              </a:rPr>
              <a:t>、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延遲低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</a:t>
            </a:r>
            <a:r>
              <a: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(HTTP)</a:t>
            </a: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遠端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服務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建議加入安全性檢查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EA9CF-0EF2-4498-BCA6-63BEC93A853B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7FAB8E9-DAC8-4E6C-A61A-98B89CD5E6DA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13CC4B-5A9A-4B94-9ABB-C30630C181A1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D7D7F57-FC44-41EA-A91F-A2CD4E072226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F08572-EDDF-472D-B8A3-616718240C8B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1B50DE0-9B09-4168-8418-16D333DC9114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754E4461-BE00-470B-9E31-BD62B33CBB05}"/>
              </a:ext>
            </a:extLst>
          </p:cNvPr>
          <p:cNvSpPr txBox="1">
            <a:spLocks/>
          </p:cNvSpPr>
          <p:nvPr/>
        </p:nvSpPr>
        <p:spPr>
          <a:xfrm>
            <a:off x="4743633" y="3161374"/>
            <a:ext cx="4713570" cy="2364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50000"/>
            </a:pPr>
            <a:r>
              <a:rPr lang="en-US" altLang="zh-TW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Streamable</a:t>
            </a:r>
            <a:endParaRPr lang="en-US" altLang="zh-TW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支援雙向串流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即時互動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適合長時間任務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即時回應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(AI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逐步輸出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可即時接收進度與部分結果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基於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streaming / WebSocket</a:t>
            </a:r>
          </a:p>
        </p:txBody>
      </p:sp>
    </p:spTree>
    <p:extLst>
      <p:ext uri="{BB962C8B-B14F-4D97-AF65-F5344CB8AC3E}">
        <p14:creationId xmlns:p14="http://schemas.microsoft.com/office/powerpoint/2010/main" val="14799977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17" y="161581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架構圖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475F81-3243-4845-8130-DD8F785E2B9C}"/>
              </a:ext>
            </a:extLst>
          </p:cNvPr>
          <p:cNvSpPr/>
          <p:nvPr/>
        </p:nvSpPr>
        <p:spPr>
          <a:xfrm>
            <a:off x="896717" y="2020767"/>
            <a:ext cx="7965380" cy="2727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450207-969A-4BEC-93B2-ACF59EFE96D5}"/>
              </a:ext>
            </a:extLst>
          </p:cNvPr>
          <p:cNvSpPr txBox="1"/>
          <p:nvPr/>
        </p:nvSpPr>
        <p:spPr>
          <a:xfrm>
            <a:off x="3813587" y="1991828"/>
            <a:ext cx="19457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u="sng" dirty="0">
                <a:solidFill>
                  <a:srgbClr val="4A5A85"/>
                </a:solidFill>
                <a:ea typeface="微軟正黑體" panose="020B0604030504040204" pitchFamily="34" charset="-120"/>
              </a:rPr>
              <a:t>Your Computer</a:t>
            </a:r>
            <a:endParaRPr lang="zh-TW" altLang="en-US" sz="1500" b="1" u="sng" dirty="0">
              <a:solidFill>
                <a:srgbClr val="4A5A85"/>
              </a:solidFill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703E87-0416-4AF3-ABDF-FED8A1FD1FBF}"/>
              </a:ext>
            </a:extLst>
          </p:cNvPr>
          <p:cNvSpPr/>
          <p:nvPr/>
        </p:nvSpPr>
        <p:spPr>
          <a:xfrm>
            <a:off x="1248345" y="3050535"/>
            <a:ext cx="1787651" cy="10555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Host with </a:t>
            </a:r>
          </a:p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Client</a:t>
            </a:r>
          </a:p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(Claude, IDEs, Tools)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5F56D9-DAFB-4F60-B63C-E598409F917B}"/>
              </a:ext>
            </a:extLst>
          </p:cNvPr>
          <p:cNvSpPr/>
          <p:nvPr/>
        </p:nvSpPr>
        <p:spPr>
          <a:xfrm>
            <a:off x="5244312" y="2565016"/>
            <a:ext cx="1308971" cy="557923"/>
          </a:xfrm>
          <a:prstGeom prst="rect">
            <a:avLst/>
          </a:prstGeom>
          <a:solidFill>
            <a:srgbClr val="BFE4FF"/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 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2AC3AC-25D2-4B67-8BE8-A80604306D26}"/>
              </a:ext>
            </a:extLst>
          </p:cNvPr>
          <p:cNvSpPr/>
          <p:nvPr/>
        </p:nvSpPr>
        <p:spPr>
          <a:xfrm>
            <a:off x="5244312" y="3299343"/>
            <a:ext cx="1326902" cy="557923"/>
          </a:xfrm>
          <a:prstGeom prst="rect">
            <a:avLst/>
          </a:prstGeom>
          <a:solidFill>
            <a:srgbClr val="BFE4FF"/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 B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49341A-4AEB-4FCD-8AD0-17003F3F41D1}"/>
              </a:ext>
            </a:extLst>
          </p:cNvPr>
          <p:cNvSpPr/>
          <p:nvPr/>
        </p:nvSpPr>
        <p:spPr>
          <a:xfrm>
            <a:off x="5244312" y="3961013"/>
            <a:ext cx="1308971" cy="557923"/>
          </a:xfrm>
          <a:prstGeom prst="rect">
            <a:avLst/>
          </a:prstGeom>
          <a:solidFill>
            <a:srgbClr val="BFE4FF"/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 C</a:t>
            </a:r>
          </a:p>
        </p:txBody>
      </p:sp>
      <p:sp>
        <p:nvSpPr>
          <p:cNvPr id="23" name="流程圖: 磁碟 22">
            <a:extLst>
              <a:ext uri="{FF2B5EF4-FFF2-40B4-BE49-F238E27FC236}">
                <a16:creationId xmlns:a16="http://schemas.microsoft.com/office/drawing/2014/main" id="{F9C0C2D0-07AB-4825-A514-CAF086D8A6C1}"/>
              </a:ext>
            </a:extLst>
          </p:cNvPr>
          <p:cNvSpPr/>
          <p:nvPr/>
        </p:nvSpPr>
        <p:spPr>
          <a:xfrm>
            <a:off x="7122260" y="2501350"/>
            <a:ext cx="1326902" cy="70280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Local</a:t>
            </a:r>
          </a:p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Data Source A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24" name="流程圖: 磁碟 23">
            <a:extLst>
              <a:ext uri="{FF2B5EF4-FFF2-40B4-BE49-F238E27FC236}">
                <a16:creationId xmlns:a16="http://schemas.microsoft.com/office/drawing/2014/main" id="{204F36A1-CCD3-4DE3-9291-17D20FCE9A8E}"/>
              </a:ext>
            </a:extLst>
          </p:cNvPr>
          <p:cNvSpPr/>
          <p:nvPr/>
        </p:nvSpPr>
        <p:spPr>
          <a:xfrm>
            <a:off x="7122260" y="3259586"/>
            <a:ext cx="1326902" cy="630365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Local</a:t>
            </a:r>
          </a:p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Data Source A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9" name="接點: 弧形 8">
            <a:extLst>
              <a:ext uri="{FF2B5EF4-FFF2-40B4-BE49-F238E27FC236}">
                <a16:creationId xmlns:a16="http://schemas.microsoft.com/office/drawing/2014/main" id="{5B13642B-A344-4D32-8B49-C04094B5EDED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3035996" y="2843978"/>
            <a:ext cx="2208316" cy="734327"/>
          </a:xfrm>
          <a:prstGeom prst="curvedConnector3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接點: 弧形 11">
            <a:extLst>
              <a:ext uri="{FF2B5EF4-FFF2-40B4-BE49-F238E27FC236}">
                <a16:creationId xmlns:a16="http://schemas.microsoft.com/office/drawing/2014/main" id="{ABFE7D76-2E0E-46D5-862D-0B48162C563F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3035996" y="3578305"/>
            <a:ext cx="2208316" cy="661670"/>
          </a:xfrm>
          <a:prstGeom prst="curvedConnector3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5E1917D-911A-4464-9EA8-C87B0A1EB876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035996" y="3578305"/>
            <a:ext cx="2208316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040C9C6A-E0D3-4D54-86FA-CD80179B9402}"/>
              </a:ext>
            </a:extLst>
          </p:cNvPr>
          <p:cNvCxnSpPr>
            <a:stCxn id="20" idx="3"/>
            <a:endCxn id="23" idx="2"/>
          </p:cNvCxnSpPr>
          <p:nvPr/>
        </p:nvCxnSpPr>
        <p:spPr>
          <a:xfrm>
            <a:off x="6553283" y="2843978"/>
            <a:ext cx="568977" cy="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8590AF7-D1A7-4697-8755-47069F1EA559}"/>
              </a:ext>
            </a:extLst>
          </p:cNvPr>
          <p:cNvCxnSpPr>
            <a:cxnSpLocks/>
            <a:stCxn id="21" idx="3"/>
            <a:endCxn id="24" idx="2"/>
          </p:cNvCxnSpPr>
          <p:nvPr/>
        </p:nvCxnSpPr>
        <p:spPr>
          <a:xfrm flipV="1">
            <a:off x="6571214" y="3574769"/>
            <a:ext cx="551046" cy="3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993D3275-FFBB-4A45-A193-F2C8F0B21AB5}"/>
              </a:ext>
            </a:extLst>
          </p:cNvPr>
          <p:cNvSpPr/>
          <p:nvPr/>
        </p:nvSpPr>
        <p:spPr>
          <a:xfrm>
            <a:off x="3813587" y="2933743"/>
            <a:ext cx="1107937" cy="202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MCP</a:t>
            </a:r>
            <a:r>
              <a:rPr lang="zh-TW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>
                <a:solidFill>
                  <a:sysClr val="windowText" lastClr="000000"/>
                </a:solidFill>
              </a:rPr>
              <a:t>Protocol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AD82555-388C-4B9A-86F3-889E41CAB80A}"/>
              </a:ext>
            </a:extLst>
          </p:cNvPr>
          <p:cNvSpPr/>
          <p:nvPr/>
        </p:nvSpPr>
        <p:spPr>
          <a:xfrm>
            <a:off x="3822643" y="3997665"/>
            <a:ext cx="1107937" cy="202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MCP</a:t>
            </a:r>
            <a:r>
              <a:rPr lang="zh-TW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>
                <a:solidFill>
                  <a:sysClr val="windowText" lastClr="000000"/>
                </a:solidFill>
              </a:rPr>
              <a:t>Protocol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8ED4B37-B90E-4312-A7E3-64680AEAC09A}"/>
              </a:ext>
            </a:extLst>
          </p:cNvPr>
          <p:cNvSpPr/>
          <p:nvPr/>
        </p:nvSpPr>
        <p:spPr>
          <a:xfrm>
            <a:off x="3824563" y="3465704"/>
            <a:ext cx="1107937" cy="202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MCP</a:t>
            </a:r>
            <a:r>
              <a:rPr lang="zh-TW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zh-TW" sz="1200" dirty="0">
                <a:solidFill>
                  <a:sysClr val="windowText" lastClr="000000"/>
                </a:solidFill>
              </a:rPr>
              <a:t>Protocol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9F4091E-858B-47C5-AEA2-F38C65C2BF0D}"/>
              </a:ext>
            </a:extLst>
          </p:cNvPr>
          <p:cNvSpPr/>
          <p:nvPr/>
        </p:nvSpPr>
        <p:spPr>
          <a:xfrm>
            <a:off x="6962109" y="4885449"/>
            <a:ext cx="1901356" cy="1232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2" name="流程圖: 磁碟 51">
            <a:extLst>
              <a:ext uri="{FF2B5EF4-FFF2-40B4-BE49-F238E27FC236}">
                <a16:creationId xmlns:a16="http://schemas.microsoft.com/office/drawing/2014/main" id="{08FC28B2-169C-4205-A1CD-B41FE0D19000}"/>
              </a:ext>
            </a:extLst>
          </p:cNvPr>
          <p:cNvSpPr/>
          <p:nvPr/>
        </p:nvSpPr>
        <p:spPr>
          <a:xfrm>
            <a:off x="7278121" y="5280201"/>
            <a:ext cx="1326902" cy="702808"/>
          </a:xfrm>
          <a:prstGeom prst="flowChartMagneticDisk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Remote</a:t>
            </a:r>
          </a:p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Service C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35142CA-451A-4D0E-A7F4-13A79C095356}"/>
              </a:ext>
            </a:extLst>
          </p:cNvPr>
          <p:cNvSpPr txBox="1"/>
          <p:nvPr/>
        </p:nvSpPr>
        <p:spPr>
          <a:xfrm>
            <a:off x="6962109" y="4879912"/>
            <a:ext cx="19457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u="sng" dirty="0">
                <a:solidFill>
                  <a:srgbClr val="4A5A85"/>
                </a:solidFill>
                <a:ea typeface="微軟正黑體" panose="020B0604030504040204" pitchFamily="34" charset="-120"/>
              </a:rPr>
              <a:t>Internet</a:t>
            </a:r>
            <a:endParaRPr lang="zh-TW" altLang="en-US" sz="1500" b="1" u="sng" dirty="0">
              <a:solidFill>
                <a:srgbClr val="4A5A85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55" name="接點: 弧形 54">
            <a:extLst>
              <a:ext uri="{FF2B5EF4-FFF2-40B4-BE49-F238E27FC236}">
                <a16:creationId xmlns:a16="http://schemas.microsoft.com/office/drawing/2014/main" id="{8F971C94-D688-468F-B01D-4711021424D6}"/>
              </a:ext>
            </a:extLst>
          </p:cNvPr>
          <p:cNvCxnSpPr>
            <a:stCxn id="52" idx="2"/>
            <a:endCxn id="22" idx="3"/>
          </p:cNvCxnSpPr>
          <p:nvPr/>
        </p:nvCxnSpPr>
        <p:spPr>
          <a:xfrm rot="10800000">
            <a:off x="6553283" y="4239975"/>
            <a:ext cx="724838" cy="1391630"/>
          </a:xfrm>
          <a:prstGeom prst="curvedConnector3">
            <a:avLst/>
          </a:prstGeom>
          <a:ln>
            <a:solidFill>
              <a:srgbClr val="3D538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AD54D897-214B-4632-B296-F9A8A0F8DFFB}"/>
              </a:ext>
            </a:extLst>
          </p:cNvPr>
          <p:cNvSpPr/>
          <p:nvPr/>
        </p:nvSpPr>
        <p:spPr>
          <a:xfrm>
            <a:off x="6657520" y="4425339"/>
            <a:ext cx="830857" cy="206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Web APIs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7" name="內容版面配置區 2">
            <a:extLst>
              <a:ext uri="{FF2B5EF4-FFF2-40B4-BE49-F238E27FC236}">
                <a16:creationId xmlns:a16="http://schemas.microsoft.com/office/drawing/2014/main" id="{646EB149-3D64-4099-918A-76EF00B78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480057"/>
            <a:ext cx="7965380" cy="4515593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可以存取 </a:t>
            </a:r>
            <a:r>
              <a:rPr lang="zh-TW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本地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與 </a:t>
            </a:r>
            <a:r>
              <a:rPr lang="zh-TW" alt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遠端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資料源</a:t>
            </a:r>
            <a:endParaRPr lang="zh-TW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AC6CD0-263F-4A82-8F9D-4F61FB095ACC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4923F7F-C163-4C6C-9379-2964AC22169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FD2D18-7FB2-4CE3-AEE1-18B0CDFA1DFF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396A526-DABC-4F60-A072-AFA325E5E7E3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48E2E5-FDDE-4AAD-8259-3EF1408028EA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6E7EA23-98E8-4D9E-91B8-432B34F75153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471276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17" y="185337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架構圖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475F81-3243-4845-8130-DD8F785E2B9C}"/>
              </a:ext>
            </a:extLst>
          </p:cNvPr>
          <p:cNvSpPr/>
          <p:nvPr/>
        </p:nvSpPr>
        <p:spPr>
          <a:xfrm>
            <a:off x="1597388" y="2972341"/>
            <a:ext cx="6833415" cy="26115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7" name="內容版面配置區 2">
            <a:extLst>
              <a:ext uri="{FF2B5EF4-FFF2-40B4-BE49-F238E27FC236}">
                <a16:creationId xmlns:a16="http://schemas.microsoft.com/office/drawing/2014/main" id="{646EB149-3D64-4099-918A-76EF00B78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411927"/>
            <a:ext cx="7965380" cy="60525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，比例為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51F7AE-AD3E-4FCE-8D70-93D17FF4F1FA}"/>
              </a:ext>
            </a:extLst>
          </p:cNvPr>
          <p:cNvSpPr/>
          <p:nvPr/>
        </p:nvSpPr>
        <p:spPr>
          <a:xfrm>
            <a:off x="1718958" y="3047523"/>
            <a:ext cx="2239617" cy="2419700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450207-969A-4BEC-93B2-ACF59EFE96D5}"/>
              </a:ext>
            </a:extLst>
          </p:cNvPr>
          <p:cNvSpPr txBox="1"/>
          <p:nvPr/>
        </p:nvSpPr>
        <p:spPr>
          <a:xfrm>
            <a:off x="1846032" y="3009731"/>
            <a:ext cx="19457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u="sng" dirty="0">
                <a:solidFill>
                  <a:srgbClr val="4A5A85"/>
                </a:solidFill>
                <a:ea typeface="微軟正黑體" panose="020B0604030504040204" pitchFamily="34" charset="-120"/>
              </a:rPr>
              <a:t>Host</a:t>
            </a:r>
            <a:endParaRPr lang="zh-TW" altLang="en-US" sz="1500" b="1" u="sng" dirty="0">
              <a:solidFill>
                <a:srgbClr val="4A5A85"/>
              </a:solidFill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703E87-0416-4AF3-ABDF-FED8A1FD1FBF}"/>
              </a:ext>
            </a:extLst>
          </p:cNvPr>
          <p:cNvSpPr/>
          <p:nvPr/>
        </p:nvSpPr>
        <p:spPr>
          <a:xfrm>
            <a:off x="1946059" y="3440671"/>
            <a:ext cx="1787651" cy="699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Client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38262A9-C971-4735-AC87-6650E431BE76}"/>
              </a:ext>
            </a:extLst>
          </p:cNvPr>
          <p:cNvSpPr/>
          <p:nvPr/>
        </p:nvSpPr>
        <p:spPr>
          <a:xfrm>
            <a:off x="1953129" y="4646243"/>
            <a:ext cx="1787651" cy="699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Client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08CDC6-EC9F-4FFD-80F3-3C0C83B773F3}"/>
              </a:ext>
            </a:extLst>
          </p:cNvPr>
          <p:cNvSpPr/>
          <p:nvPr/>
        </p:nvSpPr>
        <p:spPr>
          <a:xfrm>
            <a:off x="5995614" y="3062737"/>
            <a:ext cx="2239617" cy="1156914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E18F40-DE67-4EC1-B314-9E9459A17CAA}"/>
              </a:ext>
            </a:extLst>
          </p:cNvPr>
          <p:cNvSpPr/>
          <p:nvPr/>
        </p:nvSpPr>
        <p:spPr>
          <a:xfrm>
            <a:off x="5995614" y="4354254"/>
            <a:ext cx="2239617" cy="1073213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D1903BF-57AA-4BE6-84A0-447D5F268F73}"/>
              </a:ext>
            </a:extLst>
          </p:cNvPr>
          <p:cNvSpPr txBox="1"/>
          <p:nvPr/>
        </p:nvSpPr>
        <p:spPr>
          <a:xfrm>
            <a:off x="6142527" y="3043046"/>
            <a:ext cx="19457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u="sng" dirty="0">
                <a:solidFill>
                  <a:srgbClr val="4A5A85"/>
                </a:solidFill>
                <a:ea typeface="微軟正黑體" panose="020B0604030504040204" pitchFamily="34" charset="-120"/>
              </a:rPr>
              <a:t>Server Process</a:t>
            </a:r>
            <a:endParaRPr lang="zh-TW" altLang="en-US" sz="1500" b="1" u="sng" dirty="0">
              <a:solidFill>
                <a:srgbClr val="4A5A85"/>
              </a:solidFill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FAA63BB2-14B9-484E-B59D-F0BBAE85A834}"/>
              </a:ext>
            </a:extLst>
          </p:cNvPr>
          <p:cNvSpPr txBox="1"/>
          <p:nvPr/>
        </p:nvSpPr>
        <p:spPr>
          <a:xfrm>
            <a:off x="6142527" y="4324979"/>
            <a:ext cx="194579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00" b="1" u="sng" dirty="0">
                <a:solidFill>
                  <a:srgbClr val="4A5A85"/>
                </a:solidFill>
                <a:ea typeface="微軟正黑體" panose="020B0604030504040204" pitchFamily="34" charset="-120"/>
              </a:rPr>
              <a:t>Server Process</a:t>
            </a:r>
            <a:endParaRPr lang="zh-TW" altLang="en-US" sz="1500" b="1" u="sng" dirty="0">
              <a:solidFill>
                <a:srgbClr val="4A5A85"/>
              </a:solidFill>
              <a:ea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29FCA4-93CD-4BB8-A5FA-E070E39DFDEA}"/>
              </a:ext>
            </a:extLst>
          </p:cNvPr>
          <p:cNvSpPr/>
          <p:nvPr/>
        </p:nvSpPr>
        <p:spPr>
          <a:xfrm>
            <a:off x="6221596" y="3539181"/>
            <a:ext cx="1787651" cy="48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8401B0-590D-44A6-B488-A4CCF6EA2FC9}"/>
              </a:ext>
            </a:extLst>
          </p:cNvPr>
          <p:cNvSpPr/>
          <p:nvPr/>
        </p:nvSpPr>
        <p:spPr>
          <a:xfrm>
            <a:off x="6235831" y="4745074"/>
            <a:ext cx="1787651" cy="4863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</a:t>
            </a:r>
            <a:endParaRPr lang="zh-TW" altLang="en-US" sz="15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8ECF243B-617B-49FF-B27D-7D20774E8382}"/>
              </a:ext>
            </a:extLst>
          </p:cNvPr>
          <p:cNvCxnSpPr>
            <a:stCxn id="19" idx="3"/>
            <a:endCxn id="45" idx="1"/>
          </p:cNvCxnSpPr>
          <p:nvPr/>
        </p:nvCxnSpPr>
        <p:spPr>
          <a:xfrm flipV="1">
            <a:off x="3733710" y="3782376"/>
            <a:ext cx="2487886" cy="8211"/>
          </a:xfrm>
          <a:prstGeom prst="straightConnector1">
            <a:avLst/>
          </a:prstGeom>
          <a:ln>
            <a:solidFill>
              <a:srgbClr val="3D538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372CFD4-9D2F-4CDA-82C5-E897BC63CA4E}"/>
              </a:ext>
            </a:extLst>
          </p:cNvPr>
          <p:cNvCxnSpPr>
            <a:stCxn id="40" idx="3"/>
            <a:endCxn id="46" idx="1"/>
          </p:cNvCxnSpPr>
          <p:nvPr/>
        </p:nvCxnSpPr>
        <p:spPr>
          <a:xfrm flipV="1">
            <a:off x="3740780" y="4988269"/>
            <a:ext cx="2495051" cy="7890"/>
          </a:xfrm>
          <a:prstGeom prst="straightConnector1">
            <a:avLst/>
          </a:prstGeom>
          <a:ln>
            <a:solidFill>
              <a:srgbClr val="3D538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887471FD-9FBE-421C-9334-AC242FC735E0}"/>
              </a:ext>
            </a:extLst>
          </p:cNvPr>
          <p:cNvSpPr/>
          <p:nvPr/>
        </p:nvSpPr>
        <p:spPr>
          <a:xfrm>
            <a:off x="4353519" y="3622038"/>
            <a:ext cx="1277762" cy="320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Transport Layer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4EE5933-B6DD-4651-BC82-E7BFA2C4E4B8}"/>
              </a:ext>
            </a:extLst>
          </p:cNvPr>
          <p:cNvSpPr/>
          <p:nvPr/>
        </p:nvSpPr>
        <p:spPr>
          <a:xfrm>
            <a:off x="4333283" y="4808882"/>
            <a:ext cx="1277762" cy="320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ysClr val="windowText" lastClr="000000"/>
                </a:solidFill>
              </a:rPr>
              <a:t>Transport Layer</a:t>
            </a:r>
            <a:endParaRPr lang="zh-TW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081D6E-A833-4262-A4AF-47C48C12793E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163B2E8-B271-46A8-BE92-4B8E6BC070CB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6269E5-5E90-4893-AC1E-08573A652D45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580A8B1-A927-4471-9773-C3A10513C639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A8A5655-77C0-446F-93C8-38E7DAB46B5C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2F64CD4-0DE7-4DF3-BB17-1DC1180FBF8B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4445366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17" y="211085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生命週期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DD2164E-DF2F-47DB-B4C0-3E8E629D05C7}"/>
              </a:ext>
            </a:extLst>
          </p:cNvPr>
          <p:cNvCxnSpPr>
            <a:cxnSpLocks/>
            <a:stCxn id="50" idx="2"/>
            <a:endCxn id="56" idx="0"/>
          </p:cNvCxnSpPr>
          <p:nvPr/>
        </p:nvCxnSpPr>
        <p:spPr>
          <a:xfrm>
            <a:off x="8709481" y="2821173"/>
            <a:ext cx="8518" cy="1952223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9CC4B54-F1A3-43D3-832A-DA09BACD857C}"/>
              </a:ext>
            </a:extLst>
          </p:cNvPr>
          <p:cNvCxnSpPr>
            <a:stCxn id="48" idx="2"/>
            <a:endCxn id="55" idx="0"/>
          </p:cNvCxnSpPr>
          <p:nvPr/>
        </p:nvCxnSpPr>
        <p:spPr>
          <a:xfrm>
            <a:off x="6875765" y="2821174"/>
            <a:ext cx="0" cy="1952222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E259B30-4542-4B3F-B43A-E8F271A0DCD4}"/>
              </a:ext>
            </a:extLst>
          </p:cNvPr>
          <p:cNvSpPr txBox="1"/>
          <p:nvPr/>
        </p:nvSpPr>
        <p:spPr>
          <a:xfrm>
            <a:off x="6169905" y="2544175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Client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1F12612-D953-4900-AC45-08082F576D01}"/>
              </a:ext>
            </a:extLst>
          </p:cNvPr>
          <p:cNvSpPr txBox="1"/>
          <p:nvPr/>
        </p:nvSpPr>
        <p:spPr>
          <a:xfrm>
            <a:off x="8003621" y="2544174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1063093-1A1D-416B-B6B8-2DAD8D76B700}"/>
              </a:ext>
            </a:extLst>
          </p:cNvPr>
          <p:cNvSpPr txBox="1"/>
          <p:nvPr/>
        </p:nvSpPr>
        <p:spPr>
          <a:xfrm>
            <a:off x="6237297" y="4207703"/>
            <a:ext cx="316121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Connection ready for use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97767CD-9D50-45C4-9A85-E3C4CEF2DACE}"/>
              </a:ext>
            </a:extLst>
          </p:cNvPr>
          <p:cNvSpPr txBox="1"/>
          <p:nvPr/>
        </p:nvSpPr>
        <p:spPr>
          <a:xfrm>
            <a:off x="6169905" y="4773396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Client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A8069FC-8DB6-498B-AF8E-547C3449F671}"/>
              </a:ext>
            </a:extLst>
          </p:cNvPr>
          <p:cNvSpPr txBox="1"/>
          <p:nvPr/>
        </p:nvSpPr>
        <p:spPr>
          <a:xfrm>
            <a:off x="8012139" y="4773396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Server</a:t>
            </a:r>
            <a:endParaRPr lang="zh-TW" altLang="en-US" dirty="0"/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178E78E1-6A36-4856-847D-FE8890C58DC2}"/>
              </a:ext>
            </a:extLst>
          </p:cNvPr>
          <p:cNvCxnSpPr>
            <a:cxnSpLocks/>
          </p:cNvCxnSpPr>
          <p:nvPr/>
        </p:nvCxnSpPr>
        <p:spPr>
          <a:xfrm>
            <a:off x="6875765" y="3225093"/>
            <a:ext cx="1828305" cy="618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A09156E-5D7A-440A-91A0-2A672F9F70E4}"/>
              </a:ext>
            </a:extLst>
          </p:cNvPr>
          <p:cNvSpPr txBox="1"/>
          <p:nvPr/>
        </p:nvSpPr>
        <p:spPr>
          <a:xfrm>
            <a:off x="7222473" y="2948094"/>
            <a:ext cx="145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D5383"/>
                </a:solidFill>
              </a:rPr>
              <a:t>Initialize request</a:t>
            </a:r>
            <a:endParaRPr lang="zh-TW" altLang="en-US" sz="1200" dirty="0">
              <a:solidFill>
                <a:srgbClr val="3D5383"/>
              </a:solidFill>
            </a:endParaRP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633382A4-1ABF-4773-90F9-E6EEE8B72854}"/>
              </a:ext>
            </a:extLst>
          </p:cNvPr>
          <p:cNvCxnSpPr>
            <a:cxnSpLocks/>
          </p:cNvCxnSpPr>
          <p:nvPr/>
        </p:nvCxnSpPr>
        <p:spPr>
          <a:xfrm flipH="1">
            <a:off x="6875765" y="3616428"/>
            <a:ext cx="1834932" cy="0"/>
          </a:xfrm>
          <a:prstGeom prst="straightConnector1">
            <a:avLst/>
          </a:prstGeom>
          <a:ln>
            <a:solidFill>
              <a:srgbClr val="3D538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6402249-6C65-48D7-A437-496058191771}"/>
              </a:ext>
            </a:extLst>
          </p:cNvPr>
          <p:cNvSpPr txBox="1"/>
          <p:nvPr/>
        </p:nvSpPr>
        <p:spPr>
          <a:xfrm>
            <a:off x="7193419" y="3351590"/>
            <a:ext cx="14562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D5383"/>
                </a:solidFill>
              </a:rPr>
              <a:t>Initialize response</a:t>
            </a:r>
            <a:endParaRPr lang="zh-TW" altLang="en-US" sz="1200" dirty="0">
              <a:solidFill>
                <a:srgbClr val="3D5383"/>
              </a:solidFill>
            </a:endParaRPr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04DD61D4-C8EC-4C31-A1B1-EC4015050A98}"/>
              </a:ext>
            </a:extLst>
          </p:cNvPr>
          <p:cNvCxnSpPr>
            <a:cxnSpLocks/>
          </p:cNvCxnSpPr>
          <p:nvPr/>
        </p:nvCxnSpPr>
        <p:spPr>
          <a:xfrm>
            <a:off x="6875765" y="4000412"/>
            <a:ext cx="1834932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7FFE9E65-E36C-4822-84C1-3B867347A6E3}"/>
              </a:ext>
            </a:extLst>
          </p:cNvPr>
          <p:cNvSpPr txBox="1"/>
          <p:nvPr/>
        </p:nvSpPr>
        <p:spPr>
          <a:xfrm>
            <a:off x="7136336" y="3749299"/>
            <a:ext cx="145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D5383"/>
                </a:solidFill>
              </a:rPr>
              <a:t>Initialize notification</a:t>
            </a:r>
            <a:endParaRPr lang="zh-TW" altLang="en-US" sz="1200" dirty="0">
              <a:solidFill>
                <a:srgbClr val="3D5383"/>
              </a:solidFill>
            </a:endParaRPr>
          </a:p>
        </p:txBody>
      </p:sp>
      <p:sp>
        <p:nvSpPr>
          <p:cNvPr id="87" name="內容版面配置區 2">
            <a:extLst>
              <a:ext uri="{FF2B5EF4-FFF2-40B4-BE49-F238E27FC236}">
                <a16:creationId xmlns:a16="http://schemas.microsoft.com/office/drawing/2014/main" id="{B229B665-5F17-410E-B0CE-31A9FFFB5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933" y="1365861"/>
            <a:ext cx="7965380" cy="5377943"/>
          </a:xfrm>
        </p:spPr>
        <p:txBody>
          <a:bodyPr>
            <a:normAutofit/>
          </a:bodyPr>
          <a:lstStyle/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客戶端發送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帶有協定版本和功能的請求。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伺服器以其協定版本和功能回應。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客戶端發送 </a:t>
            </a:r>
            <a:r>
              <a:rPr lang="en-US" altLang="zh-T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initialized </a:t>
            </a: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通知作為確認。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開始正常訊息交換</a:t>
            </a: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訊息交換</a:t>
            </a:r>
            <a:endParaRPr lang="en-US" altLang="zh-TW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初始化後，支持以下模式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請求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客戶端或伺服器發送請求，對方回應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通知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任何一方發送單向訊息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終止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任何一方都可以終止連線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透過以下方式乾淨關機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close()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傳輸斷開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錯誤條件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E49F57-4FA5-489F-A60B-6FFC5C4916F8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6355F18-3E22-4047-98C9-E5BD6B0D10F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9B1BA6-F6A5-433A-91CF-961652FD043D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910993C-9AE8-4109-8376-6FE9BFD7015D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A1687D-21E4-44BC-AAAB-7921EFCFF269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27E5BD5-C154-4032-80F6-37670180AC72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8779083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實際運作過程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DD2164E-DF2F-47DB-B4C0-3E8E629D05C7}"/>
              </a:ext>
            </a:extLst>
          </p:cNvPr>
          <p:cNvCxnSpPr>
            <a:cxnSpLocks/>
            <a:stCxn id="50" idx="2"/>
            <a:endCxn id="56" idx="0"/>
          </p:cNvCxnSpPr>
          <p:nvPr/>
        </p:nvCxnSpPr>
        <p:spPr>
          <a:xfrm>
            <a:off x="3168933" y="1684297"/>
            <a:ext cx="8518" cy="4416023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9CC4B54-F1A3-43D3-832A-DA09BACD857C}"/>
              </a:ext>
            </a:extLst>
          </p:cNvPr>
          <p:cNvCxnSpPr>
            <a:stCxn id="48" idx="2"/>
            <a:endCxn id="55" idx="0"/>
          </p:cNvCxnSpPr>
          <p:nvPr/>
        </p:nvCxnSpPr>
        <p:spPr>
          <a:xfrm>
            <a:off x="1335217" y="1684298"/>
            <a:ext cx="0" cy="4416022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E259B30-4542-4B3F-B43A-E8F271A0DCD4}"/>
              </a:ext>
            </a:extLst>
          </p:cNvPr>
          <p:cNvSpPr txBox="1"/>
          <p:nvPr/>
        </p:nvSpPr>
        <p:spPr>
          <a:xfrm>
            <a:off x="629357" y="1407299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USER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1F12612-D953-4900-AC45-08082F576D01}"/>
              </a:ext>
            </a:extLst>
          </p:cNvPr>
          <p:cNvSpPr txBox="1"/>
          <p:nvPr/>
        </p:nvSpPr>
        <p:spPr>
          <a:xfrm>
            <a:off x="2463073" y="1407298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HOST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97767CD-9D50-45C4-9A85-E3C4CEF2DACE}"/>
              </a:ext>
            </a:extLst>
          </p:cNvPr>
          <p:cNvSpPr txBox="1"/>
          <p:nvPr/>
        </p:nvSpPr>
        <p:spPr>
          <a:xfrm>
            <a:off x="629357" y="6100320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USER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A8069FC-8DB6-498B-AF8E-547C3449F671}"/>
              </a:ext>
            </a:extLst>
          </p:cNvPr>
          <p:cNvSpPr txBox="1"/>
          <p:nvPr/>
        </p:nvSpPr>
        <p:spPr>
          <a:xfrm>
            <a:off x="2471591" y="6100320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HOST</a:t>
            </a:r>
            <a:endParaRPr lang="zh-TW" altLang="en-US" dirty="0"/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178E78E1-6A36-4856-847D-FE8890C58DC2}"/>
              </a:ext>
            </a:extLst>
          </p:cNvPr>
          <p:cNvCxnSpPr>
            <a:cxnSpLocks/>
          </p:cNvCxnSpPr>
          <p:nvPr/>
        </p:nvCxnSpPr>
        <p:spPr>
          <a:xfrm>
            <a:off x="1335217" y="2024717"/>
            <a:ext cx="1828305" cy="618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A09156E-5D7A-440A-91A0-2A672F9F70E4}"/>
              </a:ext>
            </a:extLst>
          </p:cNvPr>
          <p:cNvSpPr txBox="1"/>
          <p:nvPr/>
        </p:nvSpPr>
        <p:spPr>
          <a:xfrm>
            <a:off x="1734203" y="1760418"/>
            <a:ext cx="145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輸入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prompt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11842E59-180B-46BC-A6BD-52401E7D43BD}"/>
              </a:ext>
            </a:extLst>
          </p:cNvPr>
          <p:cNvCxnSpPr>
            <a:cxnSpLocks/>
            <a:stCxn id="31" idx="2"/>
            <a:endCxn id="40" idx="0"/>
          </p:cNvCxnSpPr>
          <p:nvPr/>
        </p:nvCxnSpPr>
        <p:spPr>
          <a:xfrm>
            <a:off x="4969965" y="1684297"/>
            <a:ext cx="8518" cy="4416023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3F3E85D-62B4-43EE-815F-34D83155E674}"/>
              </a:ext>
            </a:extLst>
          </p:cNvPr>
          <p:cNvSpPr txBox="1"/>
          <p:nvPr/>
        </p:nvSpPr>
        <p:spPr>
          <a:xfrm>
            <a:off x="4264105" y="1407298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Client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A40E90D-E833-4C3F-9D27-7F14E98247E8}"/>
              </a:ext>
            </a:extLst>
          </p:cNvPr>
          <p:cNvSpPr txBox="1"/>
          <p:nvPr/>
        </p:nvSpPr>
        <p:spPr>
          <a:xfrm>
            <a:off x="4272623" y="6100320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Client</a:t>
            </a:r>
            <a:endParaRPr lang="zh-TW" altLang="en-US" dirty="0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86509E2C-019C-4B66-9FA3-1AEE17F898B2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6739988" y="1667364"/>
            <a:ext cx="8518" cy="4416023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C46665D-6D6F-4767-8A72-9493DD8FF1BC}"/>
              </a:ext>
            </a:extLst>
          </p:cNvPr>
          <p:cNvSpPr txBox="1"/>
          <p:nvPr/>
        </p:nvSpPr>
        <p:spPr>
          <a:xfrm>
            <a:off x="6034128" y="1390365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LLM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83E2DF8-7DA4-4971-A18E-EAF600E3C9F5}"/>
              </a:ext>
            </a:extLst>
          </p:cNvPr>
          <p:cNvSpPr txBox="1"/>
          <p:nvPr/>
        </p:nvSpPr>
        <p:spPr>
          <a:xfrm>
            <a:off x="6042646" y="6083387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LLM</a:t>
            </a:r>
            <a:endParaRPr lang="zh-TW" altLang="en-US" dirty="0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D1090869-9910-4432-8161-EFC02040F436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8395743" y="1667364"/>
            <a:ext cx="8518" cy="4416023"/>
          </a:xfrm>
          <a:prstGeom prst="line">
            <a:avLst/>
          </a:prstGeom>
          <a:ln>
            <a:solidFill>
              <a:srgbClr val="3D53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B72DC03-5070-4787-A6D5-46F24138E181}"/>
              </a:ext>
            </a:extLst>
          </p:cNvPr>
          <p:cNvSpPr txBox="1"/>
          <p:nvPr/>
        </p:nvSpPr>
        <p:spPr>
          <a:xfrm>
            <a:off x="7689883" y="1390365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 Server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7CB7084-5EE4-4B35-82AD-21D61A17EF56}"/>
              </a:ext>
            </a:extLst>
          </p:cNvPr>
          <p:cNvSpPr txBox="1"/>
          <p:nvPr/>
        </p:nvSpPr>
        <p:spPr>
          <a:xfrm>
            <a:off x="7698401" y="6083387"/>
            <a:ext cx="1411720" cy="276999"/>
          </a:xfrm>
          <a:prstGeom prst="rect">
            <a:avLst/>
          </a:prstGeom>
          <a:solidFill>
            <a:schemeClr val="accent6">
              <a:lumMod val="9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 Server</a:t>
            </a:r>
            <a:endParaRPr lang="zh-TW" altLang="en-US" dirty="0"/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901D27B2-2263-4766-A1EC-B1C2B047A93B}"/>
              </a:ext>
            </a:extLst>
          </p:cNvPr>
          <p:cNvCxnSpPr>
            <a:cxnSpLocks/>
          </p:cNvCxnSpPr>
          <p:nvPr/>
        </p:nvCxnSpPr>
        <p:spPr>
          <a:xfrm>
            <a:off x="3164056" y="2301716"/>
            <a:ext cx="1828305" cy="618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A74E63A-5355-4063-B9B2-DD9D799763BE}"/>
              </a:ext>
            </a:extLst>
          </p:cNvPr>
          <p:cNvSpPr txBox="1"/>
          <p:nvPr/>
        </p:nvSpPr>
        <p:spPr>
          <a:xfrm>
            <a:off x="3456552" y="2037417"/>
            <a:ext cx="1456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提交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user prompt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F598AEBC-ADF8-495F-B484-38FA8D85C904}"/>
              </a:ext>
            </a:extLst>
          </p:cNvPr>
          <p:cNvCxnSpPr>
            <a:cxnSpLocks/>
          </p:cNvCxnSpPr>
          <p:nvPr/>
        </p:nvCxnSpPr>
        <p:spPr>
          <a:xfrm>
            <a:off x="4953899" y="2637671"/>
            <a:ext cx="1786089" cy="1270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C916E6B-3EE9-481E-A740-1B5C43B13DEA}"/>
              </a:ext>
            </a:extLst>
          </p:cNvPr>
          <p:cNvSpPr txBox="1"/>
          <p:nvPr/>
        </p:nvSpPr>
        <p:spPr>
          <a:xfrm>
            <a:off x="5026258" y="1818079"/>
            <a:ext cx="1456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提交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user prompt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及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MCP Server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提供之工具資訊及定義回傳格式</a:t>
            </a: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63C6A55-0CBD-48AA-A87E-1B68B727134A}"/>
              </a:ext>
            </a:extLst>
          </p:cNvPr>
          <p:cNvCxnSpPr>
            <a:cxnSpLocks/>
          </p:cNvCxnSpPr>
          <p:nvPr/>
        </p:nvCxnSpPr>
        <p:spPr>
          <a:xfrm flipH="1">
            <a:off x="4973702" y="3200061"/>
            <a:ext cx="1761505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8975772A-5149-4A28-9693-59FE2F5168B9}"/>
              </a:ext>
            </a:extLst>
          </p:cNvPr>
          <p:cNvSpPr txBox="1"/>
          <p:nvPr/>
        </p:nvSpPr>
        <p:spPr>
          <a:xfrm>
            <a:off x="5028858" y="2746297"/>
            <a:ext cx="159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依照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user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提出問題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,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回傳需要調用之工具</a:t>
            </a:r>
          </a:p>
        </p:txBody>
      </p: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196866DF-B485-4EC0-803F-4EEB9645A087}"/>
              </a:ext>
            </a:extLst>
          </p:cNvPr>
          <p:cNvCxnSpPr>
            <a:cxnSpLocks/>
          </p:cNvCxnSpPr>
          <p:nvPr/>
        </p:nvCxnSpPr>
        <p:spPr>
          <a:xfrm flipV="1">
            <a:off x="4994549" y="3704144"/>
            <a:ext cx="3401194" cy="873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E7A326C3-DB08-432E-9A5F-51FD0CA5F920}"/>
              </a:ext>
            </a:extLst>
          </p:cNvPr>
          <p:cNvSpPr txBox="1"/>
          <p:nvPr/>
        </p:nvSpPr>
        <p:spPr>
          <a:xfrm>
            <a:off x="5846943" y="3465245"/>
            <a:ext cx="1596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調用 </a:t>
            </a:r>
            <a:r>
              <a:rPr lang="en-US" altLang="zh-TW" sz="1200" dirty="0" err="1">
                <a:solidFill>
                  <a:srgbClr val="3D5383"/>
                </a:solidFill>
                <a:ea typeface="微軟正黑體" panose="020B0604030504040204" pitchFamily="34" charset="-120"/>
              </a:rPr>
              <a:t>llm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指定之工具</a:t>
            </a:r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EE8AE051-7ED8-46C4-BA14-3F38D99DAA56}"/>
              </a:ext>
            </a:extLst>
          </p:cNvPr>
          <p:cNvCxnSpPr>
            <a:cxnSpLocks/>
          </p:cNvCxnSpPr>
          <p:nvPr/>
        </p:nvCxnSpPr>
        <p:spPr>
          <a:xfrm flipH="1">
            <a:off x="4992362" y="4224528"/>
            <a:ext cx="3403381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2F837D00-9D88-4578-BE8C-8ABFBCF3BF1B}"/>
              </a:ext>
            </a:extLst>
          </p:cNvPr>
          <p:cNvSpPr txBox="1"/>
          <p:nvPr/>
        </p:nvSpPr>
        <p:spPr>
          <a:xfrm>
            <a:off x="5846943" y="3985629"/>
            <a:ext cx="1596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工具執行與回傳結果</a:t>
            </a: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63DE69E-4F6C-4608-AE52-7BC2384FFED4}"/>
              </a:ext>
            </a:extLst>
          </p:cNvPr>
          <p:cNvCxnSpPr>
            <a:cxnSpLocks/>
          </p:cNvCxnSpPr>
          <p:nvPr/>
        </p:nvCxnSpPr>
        <p:spPr>
          <a:xfrm flipV="1">
            <a:off x="5011166" y="4855776"/>
            <a:ext cx="1759831" cy="1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BACF2F6-DF97-439E-A613-09E88CD06574}"/>
              </a:ext>
            </a:extLst>
          </p:cNvPr>
          <p:cNvSpPr txBox="1"/>
          <p:nvPr/>
        </p:nvSpPr>
        <p:spPr>
          <a:xfrm>
            <a:off x="5072020" y="4402426"/>
            <a:ext cx="1573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將工具調用結果當作 </a:t>
            </a:r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提交 </a:t>
            </a:r>
            <a:r>
              <a:rPr lang="en-US" altLang="zh-TW" sz="1200" dirty="0" err="1">
                <a:solidFill>
                  <a:srgbClr val="3D5383"/>
                </a:solidFill>
                <a:ea typeface="微軟正黑體" panose="020B0604030504040204" pitchFamily="34" charset="-120"/>
              </a:rPr>
              <a:t>llm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54515B46-F806-4466-B5A8-D1A501EE9706}"/>
              </a:ext>
            </a:extLst>
          </p:cNvPr>
          <p:cNvCxnSpPr>
            <a:cxnSpLocks/>
          </p:cNvCxnSpPr>
          <p:nvPr/>
        </p:nvCxnSpPr>
        <p:spPr>
          <a:xfrm flipH="1">
            <a:off x="4978483" y="5354828"/>
            <a:ext cx="1765764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468A62A9-C530-4547-9E45-1C0B35A1BCD6}"/>
              </a:ext>
            </a:extLst>
          </p:cNvPr>
          <p:cNvSpPr txBox="1"/>
          <p:nvPr/>
        </p:nvSpPr>
        <p:spPr>
          <a:xfrm>
            <a:off x="5490816" y="5125680"/>
            <a:ext cx="831188" cy="274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回傳結果</a:t>
            </a:r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FB7F3927-D62E-49B3-A2B7-184D496E847D}"/>
              </a:ext>
            </a:extLst>
          </p:cNvPr>
          <p:cNvCxnSpPr>
            <a:cxnSpLocks/>
          </p:cNvCxnSpPr>
          <p:nvPr/>
        </p:nvCxnSpPr>
        <p:spPr>
          <a:xfrm flipH="1">
            <a:off x="3173192" y="5659628"/>
            <a:ext cx="1796773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7FA9D6D1-4A66-4E3C-A3D8-9E2D2A13F3F2}"/>
              </a:ext>
            </a:extLst>
          </p:cNvPr>
          <p:cNvSpPr txBox="1"/>
          <p:nvPr/>
        </p:nvSpPr>
        <p:spPr>
          <a:xfrm>
            <a:off x="3682004" y="5418328"/>
            <a:ext cx="831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顯示結果</a:t>
            </a:r>
          </a:p>
        </p:txBody>
      </p: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BC4DC328-7817-401A-94E2-BAC400C70569}"/>
              </a:ext>
            </a:extLst>
          </p:cNvPr>
          <p:cNvCxnSpPr>
            <a:cxnSpLocks/>
          </p:cNvCxnSpPr>
          <p:nvPr/>
        </p:nvCxnSpPr>
        <p:spPr>
          <a:xfrm flipH="1">
            <a:off x="1351284" y="5951475"/>
            <a:ext cx="1796773" cy="0"/>
          </a:xfrm>
          <a:prstGeom prst="straightConnector1">
            <a:avLst/>
          </a:prstGeom>
          <a:ln>
            <a:solidFill>
              <a:srgbClr val="3D53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483DE384-DAE1-432C-97F5-A9D9683AC6B0}"/>
              </a:ext>
            </a:extLst>
          </p:cNvPr>
          <p:cNvSpPr txBox="1"/>
          <p:nvPr/>
        </p:nvSpPr>
        <p:spPr>
          <a:xfrm>
            <a:off x="1860096" y="5710175"/>
            <a:ext cx="831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看到結果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A38E67-7A15-464B-882F-E93553104BFD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4AFD4E52-ECE2-44A6-B573-B8B5C71D8F4A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4EB486A-E810-42A8-AE9D-BC88445D0426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7CA2462-D88E-4892-AA11-DAE9523DE553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6C4B1C4-54B5-4087-AAA6-339E817069E6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AD5D3F2C-5866-4D34-A803-4C2697D4E6D6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40165785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SDK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5F1734CE-D417-4248-AE37-5F2EA5C7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10" y="1290843"/>
            <a:ext cx="7965380" cy="5377943"/>
          </a:xfrm>
        </p:spPr>
        <p:txBody>
          <a:bodyPr>
            <a:normAutofit/>
          </a:bodyPr>
          <a:lstStyle/>
          <a:p>
            <a:pPr marL="0" indent="0">
              <a:buSzPct val="50000"/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官方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SDK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https://github.com/modelcontextprotocol/java-sdk</a:t>
            </a:r>
            <a:endParaRPr lang="en-US" altLang="zh-TW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FF780E-9C3A-4A7A-B5AB-60E8E0BE1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091" y="1903202"/>
            <a:ext cx="7170631" cy="434290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A9CE4A1-0367-4E05-9AF8-F3199DB6EC2D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CBADFD3-A188-4B10-AEF6-833F010FF743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5CAEA5-9EB7-4856-9022-D7732A704BF9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F28565C-2D3A-4B93-98FB-97FA0F209AD9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81188C-D67A-45F5-A6F8-D08AE59EBB7A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FC371F-505F-4312-9446-2D4539698B84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7215808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Starter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5F1734CE-D417-4248-AE37-5F2EA5C7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09" y="1290843"/>
            <a:ext cx="7965381" cy="2694417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官方提供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Starter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MCP Server Starter</a:t>
            </a:r>
          </a:p>
          <a:p>
            <a:pPr marL="0" indent="0">
              <a:buSzPct val="50000"/>
              <a:buNone/>
            </a:pPr>
            <a:r>
              <a:rPr lang="en-US" altLang="zh-TW" sz="15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https://docs.spring.io/spring-ai/reference/api/mcp/mcp-server-boot-starter-docs.html</a:t>
            </a:r>
            <a:endParaRPr lang="en-US" altLang="zh-TW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AI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官方範例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https://github.com/spring-projects/spring-ai-examples/tree/main/model-context-protocol/client-</a:t>
            </a:r>
          </a:p>
          <a:p>
            <a:pPr marL="0" indent="0">
              <a:buSzPct val="50000"/>
              <a:buNone/>
            </a:pPr>
            <a:r>
              <a:rPr lang="en-US" altLang="zh-TW" sz="15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starter/starter-default-client</a:t>
            </a:r>
            <a:endParaRPr lang="en-US" altLang="zh-TW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AI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官方範例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https://github.com/spring-projects/spring-ai-examples/tree/main/model-context-protocol/weather/starter-webflux-server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62FD9F-EFF0-432F-AAAF-70775B81DEBE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603F1D5-940A-4C3A-B6AA-D6D75B6C7286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B9B678-E4AB-42DB-9F9B-5FA63AE901B4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5B6E477-DBFA-411D-AF0D-04534FCC29CA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D3C9B5-D71D-437D-89C9-69CD35E4664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1657D63-B355-4AE2-BF33-C8D74C2FA54E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543444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Server Debug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5F1734CE-D417-4248-AE37-5F2EA5C7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09" y="1290844"/>
            <a:ext cx="7965381" cy="2370224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官方提供之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工具連結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https://github.com/modelcontextprotocol/inspector</a:t>
            </a:r>
            <a:endParaRPr lang="en-US" altLang="zh-TW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與目標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UI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供填入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串接資訊。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可直接調用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可用工具，並傳入工具需要之參數。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建議用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模式啟動，方便程式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E1AE938-7B6D-4AAA-A35E-81C0ACA32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92" y="3661068"/>
            <a:ext cx="4871586" cy="25734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557C5AC8-57DF-4C96-8363-DA5F2C843113}"/>
              </a:ext>
            </a:extLst>
          </p:cNvPr>
          <p:cNvSpPr txBox="1"/>
          <p:nvPr/>
        </p:nvSpPr>
        <p:spPr>
          <a:xfrm>
            <a:off x="448798" y="3757185"/>
            <a:ext cx="4136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啟動指令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npx</a:t>
            </a:r>
            <a:r>
              <a:rPr lang="en-US" altLang="zh-TW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@modelcontextprotocol/inspector</a:t>
            </a:r>
            <a:endParaRPr lang="zh-TW" altLang="en-US" sz="20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E718DF-8E3B-4934-B716-5E4CE7F425A4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1CBF6EE-23E9-44E0-A01E-0253525BEA8D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0D726A-1FB7-40CF-83FF-B97DD1311087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E194B85-D5FB-4AD8-889E-EA55F14E047E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AA4DF8-88B4-4C88-8E87-64F96533C001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FB4F957-ECB3-4572-B761-98ECBD72E9DF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39165162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Demo with Cline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71DB48D-2235-494B-B01C-9F1D44FC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219" y="2848822"/>
            <a:ext cx="4323328" cy="3803697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C82B8F73-2B5B-4391-B269-EF14EB80DA9F}"/>
              </a:ext>
            </a:extLst>
          </p:cNvPr>
          <p:cNvSpPr txBox="1"/>
          <p:nvPr/>
        </p:nvSpPr>
        <p:spPr>
          <a:xfrm>
            <a:off x="795644" y="1413753"/>
            <a:ext cx="805642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3647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</a:pP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透過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Cline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實現以下兩個情境 </a:t>
            </a:r>
            <a:r>
              <a:rPr lang="en-US" altLang="zh-TW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20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defTabSz="603647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</a:pP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請在我的 </a:t>
            </a:r>
            <a:r>
              <a:rPr lang="en-US" altLang="zh-TW" sz="15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-test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資料夾中建立一個名為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hello.txt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的檔案，內容寫上：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測試成功！</a:t>
            </a:r>
            <a:endParaRPr lang="en-US" altLang="zh-TW" sz="15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 defTabSz="603647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</a:pP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請使用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web-browser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工具訪問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/>
              </a:rPr>
              <a:t>https://modelcontextprotocol.io/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，幫我總結這個網頁的核心概念，然後把總結內容儲存在 </a:t>
            </a:r>
            <a:r>
              <a:rPr lang="en-US" altLang="zh-TW" sz="15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-test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資料夾下一個名為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mcp_summary.md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的檔案中。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A8A604-C293-4936-803D-174180F6223B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84CC4AF-489C-4349-9AE9-8C69F45C5F0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9853A2-594C-468D-A11B-4929B317EDE4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8C4E751-A828-4042-9F4C-0FEA82D66E83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E030F8-ACF6-4C38-A88B-EF82B24798E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197A6A2-4510-4048-AADF-EE31EBB60A80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25568059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C4AEB81-EEDC-4355-943F-B618362A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91" y="237036"/>
            <a:ext cx="7965380" cy="68619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Demo with Cline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zh-TW" altLang="en-US" sz="1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C6B7E-EFBC-40FB-8E9B-FBC8020D0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1DE714-2AD2-4D85-B754-5AB3D755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C3676E-E374-4B32-801E-879164F2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0" y="1508330"/>
            <a:ext cx="4540338" cy="3054634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6C7E6BE-E36A-420E-8193-15EE09E34B0B}"/>
              </a:ext>
            </a:extLst>
          </p:cNvPr>
          <p:cNvCxnSpPr/>
          <p:nvPr/>
        </p:nvCxnSpPr>
        <p:spPr>
          <a:xfrm flipH="1">
            <a:off x="2953512" y="1993392"/>
            <a:ext cx="2221992" cy="1645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54A12D-0071-4C65-A6C0-3E90945F5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322" y="2377269"/>
            <a:ext cx="5142449" cy="318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D521946-21A2-4CDB-B201-C273D0BBC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68" y="4846327"/>
            <a:ext cx="4676174" cy="1468051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AE26DE01-CD4C-42B3-8FB7-79B0F2726543}"/>
              </a:ext>
            </a:extLst>
          </p:cNvPr>
          <p:cNvSpPr/>
          <p:nvPr/>
        </p:nvSpPr>
        <p:spPr>
          <a:xfrm>
            <a:off x="229270" y="1398530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D208CFF-7BFD-4C45-89E9-9727C4B0D234}"/>
              </a:ext>
            </a:extLst>
          </p:cNvPr>
          <p:cNvSpPr/>
          <p:nvPr/>
        </p:nvSpPr>
        <p:spPr>
          <a:xfrm>
            <a:off x="4476522" y="2274496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B72DCA9-82A5-401E-9456-4219B44A3159}"/>
              </a:ext>
            </a:extLst>
          </p:cNvPr>
          <p:cNvSpPr/>
          <p:nvPr/>
        </p:nvSpPr>
        <p:spPr>
          <a:xfrm>
            <a:off x="300568" y="472928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50EDA2-20C3-4171-95E0-BC757FAEF8BB}"/>
              </a:ext>
            </a:extLst>
          </p:cNvPr>
          <p:cNvSpPr/>
          <p:nvPr/>
        </p:nvSpPr>
        <p:spPr>
          <a:xfrm>
            <a:off x="520168" y="5861304"/>
            <a:ext cx="1016024" cy="347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989B1C-CB14-4008-B152-3B5F0A24A189}"/>
              </a:ext>
            </a:extLst>
          </p:cNvPr>
          <p:cNvSpPr/>
          <p:nvPr/>
        </p:nvSpPr>
        <p:spPr>
          <a:xfrm>
            <a:off x="890931" y="10532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E4C85B4-1892-453B-AAB4-EA0BA037427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53C38A-32AF-4CDD-ADD7-FE029A139B89}"/>
              </a:ext>
            </a:extLst>
          </p:cNvPr>
          <p:cNvSpPr/>
          <p:nvPr/>
        </p:nvSpPr>
        <p:spPr>
          <a:xfrm>
            <a:off x="3549313" y="1051039"/>
            <a:ext cx="2646000" cy="170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96D6E13-1F56-4C7D-B4BA-7002A5BEC5BD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介紹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6D3257-6642-4B2F-82CB-7EF788FE0FB2}"/>
              </a:ext>
            </a:extLst>
          </p:cNvPr>
          <p:cNvSpPr/>
          <p:nvPr/>
        </p:nvSpPr>
        <p:spPr>
          <a:xfrm>
            <a:off x="6195313" y="1050573"/>
            <a:ext cx="2646000" cy="170775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1B2FA4B-B57E-41F9-876E-91E67D991983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實作</a:t>
            </a:r>
          </a:p>
        </p:txBody>
      </p:sp>
    </p:spTree>
    <p:extLst>
      <p:ext uri="{BB962C8B-B14F-4D97-AF65-F5344CB8AC3E}">
        <p14:creationId xmlns:p14="http://schemas.microsoft.com/office/powerpoint/2010/main" val="10530813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3"/>
            <a:ext cx="7187424" cy="5269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01-spring-ai-chat-gpt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套件與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熟悉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MCP client &amp;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</a:t>
            </a:r>
          </a:p>
          <a:p>
            <a:pPr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spring security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相關套件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整合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認證授權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04-copilot-mcp-with-spring-ai-mcp-server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copilot plugin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串接自行撰寫之轉帳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05-mcp-inspector-debug-spring-ai-mcp-server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inspector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7D46B9C3-58D5-4AE4-89C2-92FB475E871A}"/>
              </a:ext>
            </a:extLst>
          </p:cNvPr>
          <p:cNvSpPr/>
          <p:nvPr/>
        </p:nvSpPr>
        <p:spPr>
          <a:xfrm>
            <a:off x="3552630" y="205367"/>
            <a:ext cx="5479143" cy="723900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7760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63</a:t>
            </a:fld>
            <a:endParaRPr lang="zh-TW" altLang="en-US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D061CB7A-2BBC-428A-BE66-8BF60CB47DD7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Lab01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套件引用與架構說明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EC9CE9-5967-4FE5-8D91-68377CAC0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6" y="2044700"/>
            <a:ext cx="5459717" cy="1008122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998E2B41-ADF4-4395-BEB4-F2D68AF15025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129BD49-13C0-46EA-8269-5164AD14C8B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E668F68-EB2D-4EA1-AFDC-504BBA82F5FC}"/>
              </a:ext>
            </a:extLst>
          </p:cNvPr>
          <p:cNvSpPr txBox="1"/>
          <p:nvPr/>
        </p:nvSpPr>
        <p:spPr>
          <a:xfrm>
            <a:off x="884730" y="960213"/>
            <a:ext cx="1597805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75B6BD5-4F28-4E05-88B8-EFDDB474858C}"/>
              </a:ext>
            </a:extLst>
          </p:cNvPr>
          <p:cNvSpPr txBox="1"/>
          <p:nvPr/>
        </p:nvSpPr>
        <p:spPr>
          <a:xfrm>
            <a:off x="2460369" y="954462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CE47A05-DDE8-438C-8B51-C26C0A41F12A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85BA938-E986-4C8A-8719-538BA868B6AF}"/>
              </a:ext>
            </a:extLst>
          </p:cNvPr>
          <p:cNvSpPr/>
          <p:nvPr/>
        </p:nvSpPr>
        <p:spPr>
          <a:xfrm>
            <a:off x="5660523" y="9038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63E11C7-BF66-42A5-A3DC-EFED2E541FDA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51D0DA3-23A8-4535-BFAB-A87B9873BA1E}"/>
              </a:ext>
            </a:extLst>
          </p:cNvPr>
          <p:cNvSpPr txBox="1"/>
          <p:nvPr/>
        </p:nvSpPr>
        <p:spPr>
          <a:xfrm>
            <a:off x="4078734" y="89241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BFB2924-A6A0-4795-920E-8E333CC6D22F}"/>
              </a:ext>
            </a:extLst>
          </p:cNvPr>
          <p:cNvSpPr txBox="1"/>
          <p:nvPr/>
        </p:nvSpPr>
        <p:spPr>
          <a:xfrm>
            <a:off x="5669573" y="9021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575C908-D7C6-4AC3-A727-8F1EA1621E2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C21B8546-3536-4A0A-83B2-31FAFA29C88B}"/>
              </a:ext>
            </a:extLst>
          </p:cNvPr>
          <p:cNvGrpSpPr/>
          <p:nvPr/>
        </p:nvGrpSpPr>
        <p:grpSpPr>
          <a:xfrm>
            <a:off x="6303359" y="2040801"/>
            <a:ext cx="2637924" cy="3755162"/>
            <a:chOff x="3493544" y="1690688"/>
            <a:chExt cx="3238952" cy="4610743"/>
          </a:xfrm>
        </p:grpSpPr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7750B924-82A1-4A5D-9490-D69DBD0C0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3544" y="1690688"/>
              <a:ext cx="3238952" cy="4610743"/>
            </a:xfrm>
            <a:prstGeom prst="rect">
              <a:avLst/>
            </a:prstGeom>
          </p:spPr>
        </p:pic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D830696-0D04-4056-B579-94F9386583F8}"/>
                </a:ext>
              </a:extLst>
            </p:cNvPr>
            <p:cNvSpPr/>
            <p:nvPr/>
          </p:nvSpPr>
          <p:spPr>
            <a:xfrm>
              <a:off x="4932512" y="4216832"/>
              <a:ext cx="1685458" cy="11095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5793DBC-7E11-4DD9-8D42-C35DE3F30E46}"/>
                </a:ext>
              </a:extLst>
            </p:cNvPr>
            <p:cNvSpPr/>
            <p:nvPr/>
          </p:nvSpPr>
          <p:spPr>
            <a:xfrm>
              <a:off x="4270291" y="5817870"/>
              <a:ext cx="1147529" cy="2628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65FC680-7988-4F0B-9C6E-F55BC4631921}"/>
              </a:ext>
            </a:extLst>
          </p:cNvPr>
          <p:cNvSpPr txBox="1"/>
          <p:nvPr/>
        </p:nvSpPr>
        <p:spPr>
          <a:xfrm>
            <a:off x="451156" y="1675158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Maven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套件引用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670F36C-4027-4C1F-9C76-9A70F3D2E97E}"/>
              </a:ext>
            </a:extLst>
          </p:cNvPr>
          <p:cNvSpPr txBox="1"/>
          <p:nvPr/>
        </p:nvSpPr>
        <p:spPr>
          <a:xfrm>
            <a:off x="6213851" y="1671469"/>
            <a:ext cx="1171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目錄結構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24A24FC-B6AE-4A52-9294-BD50FDD50B2F}"/>
              </a:ext>
            </a:extLst>
          </p:cNvPr>
          <p:cNvSpPr txBox="1"/>
          <p:nvPr/>
        </p:nvSpPr>
        <p:spPr>
          <a:xfrm>
            <a:off x="451156" y="3541535"/>
            <a:ext cx="545971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設定 </a:t>
            </a:r>
            <a:r>
              <a:rPr lang="en-US" altLang="zh-TW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OpenAI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Key </a:t>
            </a:r>
          </a:p>
          <a:p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來源參考前章節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5" action="ppaction://hlinksldjump"/>
              </a:rPr>
              <a:t>申請 </a:t>
            </a:r>
            <a:r>
              <a:rPr lang="en-US" altLang="zh-TW" sz="15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5" action="ppaction://hlinksldjump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5" action="ppaction://hlinksldjump"/>
              </a:rPr>
              <a:t> API Key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5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F105C71B-4A8C-46E1-85BC-3419638AC7D8}"/>
              </a:ext>
            </a:extLst>
          </p:cNvPr>
          <p:cNvGrpSpPr/>
          <p:nvPr/>
        </p:nvGrpSpPr>
        <p:grpSpPr>
          <a:xfrm>
            <a:off x="527356" y="4141699"/>
            <a:ext cx="5459717" cy="1728087"/>
            <a:chOff x="4698851" y="2595753"/>
            <a:chExt cx="6654949" cy="2106397"/>
          </a:xfrm>
        </p:grpSpPr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A3A52A23-0CE8-4857-AA26-6801FAB21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8851" y="2595753"/>
              <a:ext cx="6654949" cy="2106397"/>
            </a:xfrm>
            <a:prstGeom prst="rect">
              <a:avLst/>
            </a:prstGeom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75EB117-6CC4-4F2B-AF26-3A2BD64D3C1C}"/>
                </a:ext>
              </a:extLst>
            </p:cNvPr>
            <p:cNvSpPr/>
            <p:nvPr/>
          </p:nvSpPr>
          <p:spPr>
            <a:xfrm>
              <a:off x="5231958" y="3371353"/>
              <a:ext cx="3296110" cy="2385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31659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C25AA1C7-51A2-4A37-AB19-86E0723C387A}"/>
              </a:ext>
            </a:extLst>
          </p:cNvPr>
          <p:cNvSpPr/>
          <p:nvPr/>
        </p:nvSpPr>
        <p:spPr>
          <a:xfrm>
            <a:off x="2863825" y="2223561"/>
            <a:ext cx="6845302" cy="3714518"/>
          </a:xfrm>
          <a:prstGeom prst="roundRect">
            <a:avLst>
              <a:gd name="adj" fmla="val 240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64</a:t>
            </a:fld>
            <a:endParaRPr lang="zh-TW" altLang="en-US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D061CB7A-2BBC-428A-BE66-8BF60CB47DD7}"/>
              </a:ext>
            </a:extLst>
          </p:cNvPr>
          <p:cNvSpPr txBox="1">
            <a:spLocks/>
          </p:cNvSpPr>
          <p:nvPr/>
        </p:nvSpPr>
        <p:spPr>
          <a:xfrm>
            <a:off x="875933" y="15852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重要組件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E2FB45F-1A3C-46F9-ADE8-BC89F508BF97}"/>
              </a:ext>
            </a:extLst>
          </p:cNvPr>
          <p:cNvSpPr/>
          <p:nvPr/>
        </p:nvSpPr>
        <p:spPr>
          <a:xfrm>
            <a:off x="457200" y="1731028"/>
            <a:ext cx="2209800" cy="4598318"/>
          </a:xfrm>
          <a:prstGeom prst="roundRect">
            <a:avLst>
              <a:gd name="adj" fmla="val 5029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B785E26C-45EB-43E6-84AB-D33D5026E2E7}"/>
              </a:ext>
            </a:extLst>
          </p:cNvPr>
          <p:cNvSpPr/>
          <p:nvPr/>
        </p:nvSpPr>
        <p:spPr>
          <a:xfrm>
            <a:off x="958850" y="1605266"/>
            <a:ext cx="1206500" cy="25803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ea typeface="微軟正黑體" panose="020B0604030504040204" pitchFamily="34" charset="-120"/>
              </a:rPr>
              <a:t>建立 </a:t>
            </a:r>
            <a:r>
              <a:rPr lang="en-US" altLang="zh-TW" sz="1000" dirty="0">
                <a:ea typeface="微軟正黑體" panose="020B0604030504040204" pitchFamily="34" charset="-120"/>
              </a:rPr>
              <a:t>ChatClient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44079A4-A2C2-44D0-9120-00D9E11C8A78}"/>
              </a:ext>
            </a:extLst>
          </p:cNvPr>
          <p:cNvSpPr/>
          <p:nvPr/>
        </p:nvSpPr>
        <p:spPr>
          <a:xfrm>
            <a:off x="650873" y="2021518"/>
            <a:ext cx="836403" cy="3111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Prototype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536B7CDB-AAF1-45A0-9646-25403A3F81F3}"/>
              </a:ext>
            </a:extLst>
          </p:cNvPr>
          <p:cNvSpPr/>
          <p:nvPr/>
        </p:nvSpPr>
        <p:spPr>
          <a:xfrm>
            <a:off x="650875" y="2331717"/>
            <a:ext cx="1838325" cy="1580754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EAE9975F-DDAB-4FAF-8699-34BDEF421881}"/>
              </a:ext>
            </a:extLst>
          </p:cNvPr>
          <p:cNvSpPr/>
          <p:nvPr/>
        </p:nvSpPr>
        <p:spPr>
          <a:xfrm>
            <a:off x="650874" y="2327552"/>
            <a:ext cx="1838325" cy="266826"/>
          </a:xfrm>
          <a:prstGeom prst="roundRect">
            <a:avLst>
              <a:gd name="adj" fmla="val 5039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A810034-141D-432C-8E5F-024221D395AB}"/>
              </a:ext>
            </a:extLst>
          </p:cNvPr>
          <p:cNvSpPr txBox="1"/>
          <p:nvPr/>
        </p:nvSpPr>
        <p:spPr>
          <a:xfrm>
            <a:off x="927100" y="2336287"/>
            <a:ext cx="1301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>
                <a:solidFill>
                  <a:schemeClr val="accent3">
                    <a:lumMod val="75000"/>
                  </a:schemeClr>
                </a:solidFill>
                <a:ea typeface="微軟正黑體" panose="020B0604030504040204" pitchFamily="34" charset="-120"/>
              </a:rPr>
              <a:t>ChatClient.Builder</a:t>
            </a:r>
            <a:endParaRPr lang="zh-TW" altLang="en-US" sz="1200" dirty="0">
              <a:solidFill>
                <a:schemeClr val="accent3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C8EBF55-540C-4EF8-AB7E-4C50360CFFDC}"/>
              </a:ext>
            </a:extLst>
          </p:cNvPr>
          <p:cNvSpPr txBox="1"/>
          <p:nvPr/>
        </p:nvSpPr>
        <p:spPr>
          <a:xfrm>
            <a:off x="749300" y="2575844"/>
            <a:ext cx="17081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user/system prompt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advisor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tool (function call / </a:t>
            </a:r>
            <a:r>
              <a:rPr lang="en-US" altLang="zh-TW" sz="1200" dirty="0" err="1"/>
              <a:t>mcp</a:t>
            </a:r>
            <a:r>
              <a:rPr lang="en-US" altLang="zh-TW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tool context (Map)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template renderer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chat options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36D3E15-E922-42ED-92A3-4C0C9214715D}"/>
              </a:ext>
            </a:extLst>
          </p:cNvPr>
          <p:cNvSpPr/>
          <p:nvPr/>
        </p:nvSpPr>
        <p:spPr>
          <a:xfrm>
            <a:off x="651663" y="4035701"/>
            <a:ext cx="794124" cy="3111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Singleton</a:t>
            </a: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31969A03-5C3E-43A4-B36C-B8FA264C88F9}"/>
              </a:ext>
            </a:extLst>
          </p:cNvPr>
          <p:cNvSpPr/>
          <p:nvPr/>
        </p:nvSpPr>
        <p:spPr>
          <a:xfrm>
            <a:off x="650875" y="4348802"/>
            <a:ext cx="1838325" cy="1589277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BD5607E8-4120-49E1-AAD2-CFD0E44E0FB6}"/>
              </a:ext>
            </a:extLst>
          </p:cNvPr>
          <p:cNvSpPr/>
          <p:nvPr/>
        </p:nvSpPr>
        <p:spPr>
          <a:xfrm>
            <a:off x="650874" y="4344637"/>
            <a:ext cx="1838325" cy="266826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60A3E8B8-DC77-4AEF-A862-81516437357A}"/>
              </a:ext>
            </a:extLst>
          </p:cNvPr>
          <p:cNvSpPr txBox="1"/>
          <p:nvPr/>
        </p:nvSpPr>
        <p:spPr>
          <a:xfrm>
            <a:off x="958850" y="4369869"/>
            <a:ext cx="1301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ChatClient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FE47BBD3-CED9-42E9-8113-00A72580A102}"/>
              </a:ext>
            </a:extLst>
          </p:cNvPr>
          <p:cNvSpPr txBox="1"/>
          <p:nvPr/>
        </p:nvSpPr>
        <p:spPr>
          <a:xfrm>
            <a:off x="781050" y="4632868"/>
            <a:ext cx="17081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user/system prompt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advisor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tool (function call / </a:t>
            </a:r>
            <a:r>
              <a:rPr lang="en-US" altLang="zh-TW" sz="1200" dirty="0" err="1"/>
              <a:t>mcp</a:t>
            </a:r>
            <a:r>
              <a:rPr lang="en-US" altLang="zh-TW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tool context (Map)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template renderer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chat options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78F17BD-5F4A-430D-879C-8E6ECC2C1DA8}"/>
              </a:ext>
            </a:extLst>
          </p:cNvPr>
          <p:cNvSpPr/>
          <p:nvPr/>
        </p:nvSpPr>
        <p:spPr>
          <a:xfrm>
            <a:off x="1669264" y="4037091"/>
            <a:ext cx="827568" cy="311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 Config</a:t>
            </a:r>
            <a:endParaRPr lang="zh-TW" alt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03DAF384-A520-410D-AB8A-F07D60DF6DBD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570038" y="3912471"/>
            <a:ext cx="9522" cy="43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83CC05C8-FD94-439A-8841-B3A2FBF7C002}"/>
              </a:ext>
            </a:extLst>
          </p:cNvPr>
          <p:cNvSpPr txBox="1"/>
          <p:nvPr/>
        </p:nvSpPr>
        <p:spPr>
          <a:xfrm>
            <a:off x="1347869" y="3860907"/>
            <a:ext cx="571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build()</a:t>
            </a:r>
            <a:endParaRPr lang="zh-TW" altLang="en-US" sz="1000" dirty="0"/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1D2F4A4A-CA7B-4616-8A83-D705CF79CC32}"/>
              </a:ext>
            </a:extLst>
          </p:cNvPr>
          <p:cNvSpPr/>
          <p:nvPr/>
        </p:nvSpPr>
        <p:spPr>
          <a:xfrm>
            <a:off x="5039830" y="2827991"/>
            <a:ext cx="842711" cy="55679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advisor1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5897933D-6BD9-4150-A799-EEFF8B5A9965}"/>
              </a:ext>
            </a:extLst>
          </p:cNvPr>
          <p:cNvSpPr/>
          <p:nvPr/>
        </p:nvSpPr>
        <p:spPr>
          <a:xfrm>
            <a:off x="6247916" y="2827991"/>
            <a:ext cx="842711" cy="557987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advisor2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1" name="矩形: 圓角 100">
            <a:extLst>
              <a:ext uri="{FF2B5EF4-FFF2-40B4-BE49-F238E27FC236}">
                <a16:creationId xmlns:a16="http://schemas.microsoft.com/office/drawing/2014/main" id="{D35BB8F6-1968-44E3-B380-F2CC7EE69838}"/>
              </a:ext>
            </a:extLst>
          </p:cNvPr>
          <p:cNvSpPr/>
          <p:nvPr/>
        </p:nvSpPr>
        <p:spPr>
          <a:xfrm>
            <a:off x="8592220" y="2740465"/>
            <a:ext cx="842711" cy="1022142"/>
          </a:xfrm>
          <a:prstGeom prst="roundRect">
            <a:avLst>
              <a:gd name="adj" fmla="val 5039"/>
            </a:avLst>
          </a:prstGeom>
          <a:solidFill>
            <a:srgbClr val="72528A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LLM</a:t>
            </a:r>
          </a:p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(ChatGPT)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67878245-28DB-40F6-BFAA-F2F445066899}"/>
              </a:ext>
            </a:extLst>
          </p:cNvPr>
          <p:cNvSpPr/>
          <p:nvPr/>
        </p:nvSpPr>
        <p:spPr>
          <a:xfrm>
            <a:off x="7429316" y="2827868"/>
            <a:ext cx="842711" cy="557986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advisor3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EC224ED3-8179-477B-A05A-358BDC22815A}"/>
              </a:ext>
            </a:extLst>
          </p:cNvPr>
          <p:cNvSpPr/>
          <p:nvPr/>
        </p:nvSpPr>
        <p:spPr>
          <a:xfrm>
            <a:off x="5565810" y="2120216"/>
            <a:ext cx="1206500" cy="258039"/>
          </a:xfrm>
          <a:prstGeom prst="roundRect">
            <a:avLst/>
          </a:prstGeom>
          <a:solidFill>
            <a:srgbClr val="725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ea typeface="微軟正黑體" panose="020B0604030504040204" pitchFamily="34" charset="-120"/>
              </a:rPr>
              <a:t>建立 </a:t>
            </a:r>
            <a:r>
              <a:rPr lang="en-US" altLang="zh-TW" sz="1000" dirty="0">
                <a:ea typeface="微軟正黑體" panose="020B0604030504040204" pitchFamily="34" charset="-120"/>
              </a:rPr>
              <a:t>ChatClient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FC53696B-FC90-4F26-986B-E22BB274B93B}"/>
              </a:ext>
            </a:extLst>
          </p:cNvPr>
          <p:cNvSpPr txBox="1"/>
          <p:nvPr/>
        </p:nvSpPr>
        <p:spPr>
          <a:xfrm>
            <a:off x="2926703" y="3080637"/>
            <a:ext cx="132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Request</a:t>
            </a:r>
          </a:p>
          <a:p>
            <a:pPr algn="ctr"/>
            <a:r>
              <a:rPr lang="en-US" altLang="zh-TW" sz="1000" dirty="0"/>
              <a:t>(user/system prompt)</a:t>
            </a:r>
            <a:endParaRPr lang="zh-TW" altLang="en-US" sz="1000" dirty="0"/>
          </a:p>
        </p:txBody>
      </p:sp>
      <p:sp>
        <p:nvSpPr>
          <p:cNvPr id="129" name="橢圓 128">
            <a:extLst>
              <a:ext uri="{FF2B5EF4-FFF2-40B4-BE49-F238E27FC236}">
                <a16:creationId xmlns:a16="http://schemas.microsoft.com/office/drawing/2014/main" id="{CFC9DA91-6320-4E1C-9751-3E01BCEB4187}"/>
              </a:ext>
            </a:extLst>
          </p:cNvPr>
          <p:cNvSpPr/>
          <p:nvPr/>
        </p:nvSpPr>
        <p:spPr>
          <a:xfrm>
            <a:off x="4950670" y="2864065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/>
              <a:t>1</a:t>
            </a:r>
            <a:endParaRPr lang="zh-TW" altLang="en-US" sz="1000" b="1" dirty="0"/>
          </a:p>
        </p:txBody>
      </p:sp>
      <p:cxnSp>
        <p:nvCxnSpPr>
          <p:cNvPr id="138" name="直線單箭頭接點 137">
            <a:extLst>
              <a:ext uri="{FF2B5EF4-FFF2-40B4-BE49-F238E27FC236}">
                <a16:creationId xmlns:a16="http://schemas.microsoft.com/office/drawing/2014/main" id="{450D8DDA-2166-44DB-BD8A-C5A8E2F77B68}"/>
              </a:ext>
            </a:extLst>
          </p:cNvPr>
          <p:cNvCxnSpPr>
            <a:cxnSpLocks/>
          </p:cNvCxnSpPr>
          <p:nvPr/>
        </p:nvCxnSpPr>
        <p:spPr>
          <a:xfrm flipH="1">
            <a:off x="5565810" y="3982203"/>
            <a:ext cx="242443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1920F565-EE41-4E6C-844E-48B0E307ADD1}"/>
              </a:ext>
            </a:extLst>
          </p:cNvPr>
          <p:cNvCxnSpPr>
            <a:cxnSpLocks/>
            <a:stCxn id="129" idx="2"/>
            <a:endCxn id="64" idx="3"/>
          </p:cNvCxnSpPr>
          <p:nvPr/>
        </p:nvCxnSpPr>
        <p:spPr>
          <a:xfrm flipH="1">
            <a:off x="2489199" y="2962682"/>
            <a:ext cx="2461471" cy="1515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接點: 弧形 146">
            <a:extLst>
              <a:ext uri="{FF2B5EF4-FFF2-40B4-BE49-F238E27FC236}">
                <a16:creationId xmlns:a16="http://schemas.microsoft.com/office/drawing/2014/main" id="{24250388-F3A3-483E-A8DE-DEE123221B87}"/>
              </a:ext>
            </a:extLst>
          </p:cNvPr>
          <p:cNvCxnSpPr>
            <a:cxnSpLocks/>
            <a:stCxn id="101" idx="2"/>
            <a:endCxn id="132" idx="6"/>
          </p:cNvCxnSpPr>
          <p:nvPr/>
        </p:nvCxnSpPr>
        <p:spPr>
          <a:xfrm rot="5400000">
            <a:off x="8380383" y="3352396"/>
            <a:ext cx="222982" cy="1043405"/>
          </a:xfrm>
          <a:prstGeom prst="curved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FD18E59D-F2D9-4304-B0DD-2B71A1D99931}"/>
              </a:ext>
            </a:extLst>
          </p:cNvPr>
          <p:cNvSpPr txBox="1"/>
          <p:nvPr/>
        </p:nvSpPr>
        <p:spPr>
          <a:xfrm>
            <a:off x="7657904" y="3706668"/>
            <a:ext cx="1323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Response</a:t>
            </a:r>
            <a:endParaRPr lang="zh-TW" altLang="en-US" sz="1000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37867841-CA89-473E-A643-87EECB109984}"/>
              </a:ext>
            </a:extLst>
          </p:cNvPr>
          <p:cNvSpPr txBox="1"/>
          <p:nvPr/>
        </p:nvSpPr>
        <p:spPr>
          <a:xfrm>
            <a:off x="7998887" y="3969780"/>
            <a:ext cx="171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(stream / call)</a:t>
            </a:r>
            <a:endParaRPr lang="zh-TW" altLang="en-US" sz="1000" dirty="0"/>
          </a:p>
        </p:txBody>
      </p: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A65EF312-7F43-4327-87D6-F951D24AD244}"/>
              </a:ext>
            </a:extLst>
          </p:cNvPr>
          <p:cNvCxnSpPr>
            <a:cxnSpLocks/>
          </p:cNvCxnSpPr>
          <p:nvPr/>
        </p:nvCxnSpPr>
        <p:spPr>
          <a:xfrm>
            <a:off x="7865933" y="3409386"/>
            <a:ext cx="0" cy="4506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>
            <a:extLst>
              <a:ext uri="{FF2B5EF4-FFF2-40B4-BE49-F238E27FC236}">
                <a16:creationId xmlns:a16="http://schemas.microsoft.com/office/drawing/2014/main" id="{EE6E33EB-6466-440B-ADE7-BA52F4C0AE9E}"/>
              </a:ext>
            </a:extLst>
          </p:cNvPr>
          <p:cNvCxnSpPr>
            <a:cxnSpLocks/>
          </p:cNvCxnSpPr>
          <p:nvPr/>
        </p:nvCxnSpPr>
        <p:spPr>
          <a:xfrm>
            <a:off x="6672133" y="3401766"/>
            <a:ext cx="0" cy="45700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E49C9A97-9557-4DB8-B43B-391523BB19A2}"/>
              </a:ext>
            </a:extLst>
          </p:cNvPr>
          <p:cNvCxnSpPr>
            <a:cxnSpLocks/>
          </p:cNvCxnSpPr>
          <p:nvPr/>
        </p:nvCxnSpPr>
        <p:spPr>
          <a:xfrm>
            <a:off x="5471983" y="3409386"/>
            <a:ext cx="0" cy="4506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00883540-9B5A-4989-91B2-EB92A7DB7CA6}"/>
              </a:ext>
            </a:extLst>
          </p:cNvPr>
          <p:cNvSpPr/>
          <p:nvPr/>
        </p:nvSpPr>
        <p:spPr>
          <a:xfrm>
            <a:off x="4828082" y="4559806"/>
            <a:ext cx="2839668" cy="821037"/>
          </a:xfrm>
          <a:prstGeom prst="roundRect">
            <a:avLst>
              <a:gd name="adj" fmla="val 2407"/>
            </a:avLst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4" name="文字方塊 173">
            <a:extLst>
              <a:ext uri="{FF2B5EF4-FFF2-40B4-BE49-F238E27FC236}">
                <a16:creationId xmlns:a16="http://schemas.microsoft.com/office/drawing/2014/main" id="{1BA03295-E662-4BB8-85B8-1A14DB3893E4}"/>
              </a:ext>
            </a:extLst>
          </p:cNvPr>
          <p:cNvSpPr txBox="1"/>
          <p:nvPr/>
        </p:nvSpPr>
        <p:spPr>
          <a:xfrm>
            <a:off x="5271556" y="4587851"/>
            <a:ext cx="1970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攔截 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Request </a:t>
            </a:r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與 </a:t>
            </a:r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Response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E1EAEAD8-10C4-46FB-B780-5CD74DA9B924}"/>
              </a:ext>
            </a:extLst>
          </p:cNvPr>
          <p:cNvSpPr txBox="1"/>
          <p:nvPr/>
        </p:nvSpPr>
        <p:spPr>
          <a:xfrm>
            <a:off x="4866642" y="4830231"/>
            <a:ext cx="29799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000" dirty="0">
                <a:ea typeface="微軟正黑體" panose="020B0604030504040204" pitchFamily="34" charset="-120"/>
              </a:rPr>
              <a:t>記錄與處理</a:t>
            </a:r>
            <a:r>
              <a:rPr lang="en-US" altLang="zh-TW" sz="1000" dirty="0">
                <a:ea typeface="微軟正黑體" panose="020B0604030504040204" pitchFamily="34" charset="-120"/>
              </a:rPr>
              <a:t> request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sz="1000" dirty="0">
                <a:ea typeface="微軟正黑體" panose="020B0604030504040204" pitchFamily="34" charset="-120"/>
              </a:rPr>
              <a:t>紀錄 </a:t>
            </a:r>
            <a:r>
              <a:rPr lang="en-US" altLang="zh-TW" sz="1000" dirty="0">
                <a:ea typeface="微軟正黑體" panose="020B0604030504040204" pitchFamily="34" charset="-120"/>
              </a:rPr>
              <a:t>response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sz="1000" dirty="0">
                <a:solidFill>
                  <a:srgbClr val="FF0000"/>
                </a:solidFill>
                <a:ea typeface="微軟正黑體" panose="020B0604030504040204" pitchFamily="34" charset="-120"/>
              </a:rPr>
              <a:t>根據 </a:t>
            </a:r>
            <a:r>
              <a:rPr lang="en-US" altLang="zh-TW" sz="1000" dirty="0">
                <a:solidFill>
                  <a:srgbClr val="FF0000"/>
                </a:solidFill>
                <a:ea typeface="微軟正黑體" panose="020B0604030504040204" pitchFamily="34" charset="-120"/>
              </a:rPr>
              <a:t>response </a:t>
            </a:r>
            <a:r>
              <a:rPr lang="zh-TW" altLang="en-US" sz="1000" dirty="0">
                <a:solidFill>
                  <a:srgbClr val="FF0000"/>
                </a:solidFill>
                <a:ea typeface="微軟正黑體" panose="020B0604030504040204" pitchFamily="34" charset="-120"/>
              </a:rPr>
              <a:t>結果判斷是否需要回 </a:t>
            </a:r>
            <a:r>
              <a:rPr lang="en-US" altLang="zh-TW" sz="1000" dirty="0">
                <a:solidFill>
                  <a:srgbClr val="FF0000"/>
                </a:solidFill>
                <a:ea typeface="微軟正黑體" panose="020B0604030504040204" pitchFamily="34" charset="-120"/>
              </a:rPr>
              <a:t>call LLM</a:t>
            </a:r>
          </a:p>
        </p:txBody>
      </p:sp>
      <p:cxnSp>
        <p:nvCxnSpPr>
          <p:cNvPr id="195" name="接點: 弧形 194">
            <a:extLst>
              <a:ext uri="{FF2B5EF4-FFF2-40B4-BE49-F238E27FC236}">
                <a16:creationId xmlns:a16="http://schemas.microsoft.com/office/drawing/2014/main" id="{79107BD8-0BE9-4145-804E-718178DF1436}"/>
              </a:ext>
            </a:extLst>
          </p:cNvPr>
          <p:cNvCxnSpPr>
            <a:cxnSpLocks/>
            <a:stCxn id="133" idx="7"/>
            <a:endCxn id="131" idx="3"/>
          </p:cNvCxnSpPr>
          <p:nvPr/>
        </p:nvCxnSpPr>
        <p:spPr>
          <a:xfrm rot="5400000" flipH="1" flipV="1">
            <a:off x="6622396" y="3159824"/>
            <a:ext cx="873676" cy="631617"/>
          </a:xfrm>
          <a:prstGeom prst="curvedConnector3">
            <a:avLst>
              <a:gd name="adj1" fmla="val 9782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>
            <a:extLst>
              <a:ext uri="{FF2B5EF4-FFF2-40B4-BE49-F238E27FC236}">
                <a16:creationId xmlns:a16="http://schemas.microsoft.com/office/drawing/2014/main" id="{A944C72A-412F-4E7D-8E58-D36B5524D7C1}"/>
              </a:ext>
            </a:extLst>
          </p:cNvPr>
          <p:cNvSpPr/>
          <p:nvPr/>
        </p:nvSpPr>
        <p:spPr>
          <a:xfrm>
            <a:off x="890931" y="10659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31667864-07D7-49DA-96E6-0EB6F1E4E85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3C151415-7F06-49E3-8599-4B44C1E4636B}"/>
              </a:ext>
            </a:extLst>
          </p:cNvPr>
          <p:cNvSpPr/>
          <p:nvPr/>
        </p:nvSpPr>
        <p:spPr>
          <a:xfrm>
            <a:off x="3549313" y="10637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3" name="文字方塊 202">
            <a:extLst>
              <a:ext uri="{FF2B5EF4-FFF2-40B4-BE49-F238E27FC236}">
                <a16:creationId xmlns:a16="http://schemas.microsoft.com/office/drawing/2014/main" id="{18895DCD-0048-441C-94FC-079DEDB5F810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 defTabSz="603647">
              <a:lnSpc>
                <a:spcPct val="90000"/>
              </a:lnSpc>
              <a:spcBef>
                <a:spcPct val="0"/>
              </a:spcBef>
              <a:defRPr sz="100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介紹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4473AB1C-3CA3-46E1-A3E2-F489F57842A5}"/>
              </a:ext>
            </a:extLst>
          </p:cNvPr>
          <p:cNvSpPr/>
          <p:nvPr/>
        </p:nvSpPr>
        <p:spPr>
          <a:xfrm>
            <a:off x="6195313" y="1063273"/>
            <a:ext cx="2646000" cy="170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5A942D3B-6836-4F95-BB67-A3E5E0180B60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 defTabSz="603647">
              <a:lnSpc>
                <a:spcPct val="90000"/>
              </a:lnSpc>
              <a:spcBef>
                <a:spcPct val="0"/>
              </a:spcBef>
              <a:defRPr sz="100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實作</a:t>
            </a:r>
          </a:p>
        </p:txBody>
      </p:sp>
      <p:cxnSp>
        <p:nvCxnSpPr>
          <p:cNvPr id="210" name="直線單箭頭接點 209">
            <a:extLst>
              <a:ext uri="{FF2B5EF4-FFF2-40B4-BE49-F238E27FC236}">
                <a16:creationId xmlns:a16="http://schemas.microsoft.com/office/drawing/2014/main" id="{EDC39C83-9456-492C-A09E-97422A457D91}"/>
              </a:ext>
            </a:extLst>
          </p:cNvPr>
          <p:cNvCxnSpPr>
            <a:cxnSpLocks/>
            <a:stCxn id="129" idx="6"/>
          </p:cNvCxnSpPr>
          <p:nvPr/>
        </p:nvCxnSpPr>
        <p:spPr>
          <a:xfrm>
            <a:off x="5147904" y="2962682"/>
            <a:ext cx="3444316" cy="156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橢圓 129">
            <a:extLst>
              <a:ext uri="{FF2B5EF4-FFF2-40B4-BE49-F238E27FC236}">
                <a16:creationId xmlns:a16="http://schemas.microsoft.com/office/drawing/2014/main" id="{71F00183-6703-4B87-BD30-B4B653011EC4}"/>
              </a:ext>
            </a:extLst>
          </p:cNvPr>
          <p:cNvSpPr/>
          <p:nvPr/>
        </p:nvSpPr>
        <p:spPr>
          <a:xfrm>
            <a:off x="6149299" y="2864065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/>
              <a:t>2</a:t>
            </a:r>
            <a:endParaRPr lang="zh-TW" altLang="en-US" sz="1000" b="1" dirty="0"/>
          </a:p>
        </p:txBody>
      </p:sp>
      <p:sp>
        <p:nvSpPr>
          <p:cNvPr id="131" name="橢圓 130">
            <a:extLst>
              <a:ext uri="{FF2B5EF4-FFF2-40B4-BE49-F238E27FC236}">
                <a16:creationId xmlns:a16="http://schemas.microsoft.com/office/drawing/2014/main" id="{F4891C43-3C36-4174-8891-58A81E8A17CF}"/>
              </a:ext>
            </a:extLst>
          </p:cNvPr>
          <p:cNvSpPr/>
          <p:nvPr/>
        </p:nvSpPr>
        <p:spPr>
          <a:xfrm>
            <a:off x="7346159" y="2870444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/>
              <a:t>3</a:t>
            </a:r>
            <a:endParaRPr lang="zh-TW" altLang="en-US" sz="1000" dirty="0"/>
          </a:p>
        </p:txBody>
      </p:sp>
      <p:cxnSp>
        <p:nvCxnSpPr>
          <p:cNvPr id="219" name="直線單箭頭接點 218">
            <a:extLst>
              <a:ext uri="{FF2B5EF4-FFF2-40B4-BE49-F238E27FC236}">
                <a16:creationId xmlns:a16="http://schemas.microsoft.com/office/drawing/2014/main" id="{6268D1D0-A984-4E98-A88D-455D380C0E3A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2489199" y="3979551"/>
            <a:ext cx="2991454" cy="4984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4E1C86B7-7908-46EB-9AEB-B75935DC4D05}"/>
              </a:ext>
            </a:extLst>
          </p:cNvPr>
          <p:cNvSpPr/>
          <p:nvPr/>
        </p:nvSpPr>
        <p:spPr>
          <a:xfrm>
            <a:off x="5377215" y="3883586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/>
              <a:t>6</a:t>
            </a:r>
            <a:endParaRPr lang="zh-TW" altLang="en-US" sz="1000" dirty="0"/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A3678DAD-1FD7-40C1-ACBA-9774FC606F24}"/>
              </a:ext>
            </a:extLst>
          </p:cNvPr>
          <p:cNvSpPr/>
          <p:nvPr/>
        </p:nvSpPr>
        <p:spPr>
          <a:xfrm>
            <a:off x="6575076" y="3883586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/>
              <a:t>5</a:t>
            </a:r>
            <a:endParaRPr lang="zh-TW" altLang="en-US" sz="1000" dirty="0"/>
          </a:p>
        </p:txBody>
      </p:sp>
      <p:sp>
        <p:nvSpPr>
          <p:cNvPr id="132" name="橢圓 131">
            <a:extLst>
              <a:ext uri="{FF2B5EF4-FFF2-40B4-BE49-F238E27FC236}">
                <a16:creationId xmlns:a16="http://schemas.microsoft.com/office/drawing/2014/main" id="{6EF8B00F-DE80-4954-9741-A6F0623413F8}"/>
              </a:ext>
            </a:extLst>
          </p:cNvPr>
          <p:cNvSpPr/>
          <p:nvPr/>
        </p:nvSpPr>
        <p:spPr>
          <a:xfrm>
            <a:off x="7772937" y="3886972"/>
            <a:ext cx="197234" cy="19723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/>
              <a:t>4</a:t>
            </a:r>
            <a:endParaRPr lang="zh-TW" altLang="en-US" sz="1000" dirty="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E6AB93E6-D1ED-4375-A475-CFBAB40554F2}"/>
              </a:ext>
            </a:extLst>
          </p:cNvPr>
          <p:cNvSpPr/>
          <p:nvPr/>
        </p:nvSpPr>
        <p:spPr>
          <a:xfrm>
            <a:off x="1652796" y="2010664"/>
            <a:ext cx="836403" cy="3111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Auto Config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4438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65</a:t>
            </a:fld>
            <a:endParaRPr lang="zh-TW" altLang="en-US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D061CB7A-2BBC-428A-BE66-8BF60CB47DD7}"/>
              </a:ext>
            </a:extLst>
          </p:cNvPr>
          <p:cNvSpPr txBox="1">
            <a:spLocks/>
          </p:cNvSpPr>
          <p:nvPr/>
        </p:nvSpPr>
        <p:spPr>
          <a:xfrm>
            <a:off x="875932" y="158520"/>
            <a:ext cx="8558999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ChatClient.Builder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內部結構與設定檔對應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3485872-97F9-4317-B14F-3F53974EE2C6}"/>
              </a:ext>
            </a:extLst>
          </p:cNvPr>
          <p:cNvSpPr/>
          <p:nvPr/>
        </p:nvSpPr>
        <p:spPr>
          <a:xfrm>
            <a:off x="890931" y="1065953"/>
            <a:ext cx="2646000" cy="1692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A98E20D9-B838-40D9-9FFC-8C9D98FB7A42}"/>
              </a:ext>
            </a:extLst>
          </p:cNvPr>
          <p:cNvSpPr txBox="1"/>
          <p:nvPr/>
        </p:nvSpPr>
        <p:spPr>
          <a:xfrm>
            <a:off x="1119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zh-TW" altLang="en-US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課前準備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A37AC83-E9FD-4508-A727-507C464C44A2}"/>
              </a:ext>
            </a:extLst>
          </p:cNvPr>
          <p:cNvSpPr/>
          <p:nvPr/>
        </p:nvSpPr>
        <p:spPr>
          <a:xfrm>
            <a:off x="3549313" y="1063739"/>
            <a:ext cx="2646000" cy="170776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AE0374C-E80F-4FDE-8BFE-935101A9B2E6}"/>
              </a:ext>
            </a:extLst>
          </p:cNvPr>
          <p:cNvSpPr txBox="1"/>
          <p:nvPr/>
        </p:nvSpPr>
        <p:spPr>
          <a:xfrm>
            <a:off x="3765747" y="1034821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 defTabSz="603647">
              <a:lnSpc>
                <a:spcPct val="90000"/>
              </a:lnSpc>
              <a:spcBef>
                <a:spcPct val="0"/>
              </a:spcBef>
              <a:defRPr sz="100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介紹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6534333-0644-4014-994C-77924A7C05E2}"/>
              </a:ext>
            </a:extLst>
          </p:cNvPr>
          <p:cNvSpPr/>
          <p:nvPr/>
        </p:nvSpPr>
        <p:spPr>
          <a:xfrm>
            <a:off x="6195313" y="1063273"/>
            <a:ext cx="2646000" cy="170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E58FBDA0-B7C3-47EA-AB95-4573F961C275}"/>
              </a:ext>
            </a:extLst>
          </p:cNvPr>
          <p:cNvSpPr txBox="1"/>
          <p:nvPr/>
        </p:nvSpPr>
        <p:spPr>
          <a:xfrm>
            <a:off x="6445802" y="1038595"/>
            <a:ext cx="222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 defTabSz="603647">
              <a:lnSpc>
                <a:spcPct val="90000"/>
              </a:lnSpc>
              <a:spcBef>
                <a:spcPct val="0"/>
              </a:spcBef>
              <a:defRPr sz="100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實作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19B596D-6172-45F3-9552-8CD62CC3A021}"/>
              </a:ext>
            </a:extLst>
          </p:cNvPr>
          <p:cNvSpPr/>
          <p:nvPr/>
        </p:nvSpPr>
        <p:spPr>
          <a:xfrm>
            <a:off x="139829" y="1601135"/>
            <a:ext cx="4963069" cy="4748865"/>
          </a:xfrm>
          <a:prstGeom prst="roundRect">
            <a:avLst>
              <a:gd name="adj" fmla="val 3083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ChatClient.Builder</a:t>
            </a:r>
          </a:p>
          <a:p>
            <a:pPr algn="ctr"/>
            <a:r>
              <a:rPr lang="en-US" altLang="zh-TW"/>
              <a:t>(DefaultChatClientBuilder)</a:t>
            </a:r>
            <a:endParaRPr lang="zh-TW" altLang="en-US" dirty="0"/>
          </a:p>
        </p:txBody>
      </p: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CD1A7288-8D8D-427E-AEB2-EB934331659B}"/>
              </a:ext>
            </a:extLst>
          </p:cNvPr>
          <p:cNvSpPr/>
          <p:nvPr/>
        </p:nvSpPr>
        <p:spPr>
          <a:xfrm>
            <a:off x="450600" y="1463248"/>
            <a:ext cx="848931" cy="23393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Prototype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2FB25951-DAAB-4753-8BD3-B371A9A152CC}"/>
              </a:ext>
            </a:extLst>
          </p:cNvPr>
          <p:cNvSpPr/>
          <p:nvPr/>
        </p:nvSpPr>
        <p:spPr>
          <a:xfrm>
            <a:off x="3944223" y="1495002"/>
            <a:ext cx="981411" cy="2376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Auto config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817891EA-DCD0-4EA0-BBB6-60A84F825A96}"/>
              </a:ext>
            </a:extLst>
          </p:cNvPr>
          <p:cNvSpPr/>
          <p:nvPr/>
        </p:nvSpPr>
        <p:spPr>
          <a:xfrm>
            <a:off x="279399" y="2045469"/>
            <a:ext cx="4721709" cy="4152131"/>
          </a:xfrm>
          <a:prstGeom prst="roundRect">
            <a:avLst>
              <a:gd name="adj" fmla="val 2777"/>
            </a:avLst>
          </a:prstGeom>
          <a:solidFill>
            <a:schemeClr val="accent6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FADB6D40-BDB7-4532-A0DD-2FBD88518E6F}"/>
              </a:ext>
            </a:extLst>
          </p:cNvPr>
          <p:cNvSpPr txBox="1"/>
          <p:nvPr/>
        </p:nvSpPr>
        <p:spPr>
          <a:xfrm>
            <a:off x="205347" y="1689787"/>
            <a:ext cx="4953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dirty="0" err="1"/>
              <a:t>ChatClient.Builder</a:t>
            </a:r>
            <a:r>
              <a:rPr lang="zh-TW" altLang="en-US" sz="1500" dirty="0"/>
              <a:t> </a:t>
            </a:r>
            <a:r>
              <a:rPr lang="en-US" altLang="zh-TW" sz="1500" dirty="0"/>
              <a:t>(</a:t>
            </a:r>
            <a:r>
              <a:rPr lang="en-US" altLang="zh-TW" sz="1500" dirty="0" err="1"/>
              <a:t>DefaultChatClientBuilder</a:t>
            </a:r>
            <a:r>
              <a:rPr lang="en-US" altLang="zh-TW" sz="1500" dirty="0"/>
              <a:t>)</a:t>
            </a:r>
            <a:endParaRPr lang="zh-TW" altLang="en-US" sz="1500" dirty="0"/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A23BC650-EC9E-4A8D-8273-243F402AB084}"/>
              </a:ext>
            </a:extLst>
          </p:cNvPr>
          <p:cNvSpPr/>
          <p:nvPr/>
        </p:nvSpPr>
        <p:spPr>
          <a:xfrm>
            <a:off x="625014" y="2429295"/>
            <a:ext cx="4019798" cy="1722178"/>
          </a:xfrm>
          <a:prstGeom prst="roundRect">
            <a:avLst>
              <a:gd name="adj" fmla="val 8432"/>
            </a:avLst>
          </a:prstGeom>
          <a:solidFill>
            <a:schemeClr val="accent6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86E9A271-DF80-47E9-AC5A-3648709CA0AE}"/>
              </a:ext>
            </a:extLst>
          </p:cNvPr>
          <p:cNvSpPr txBox="1"/>
          <p:nvPr/>
        </p:nvSpPr>
        <p:spPr>
          <a:xfrm>
            <a:off x="144863" y="2047481"/>
            <a:ext cx="4953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dirty="0" err="1"/>
              <a:t>ChatModel</a:t>
            </a:r>
            <a:r>
              <a:rPr lang="zh-TW" altLang="en-US" sz="1500" dirty="0"/>
              <a:t> </a:t>
            </a:r>
            <a:r>
              <a:rPr lang="en-US" altLang="zh-TW" sz="1500" dirty="0"/>
              <a:t>(</a:t>
            </a:r>
            <a:r>
              <a:rPr lang="en-US" altLang="zh-TW" sz="1500" dirty="0" err="1"/>
              <a:t>OpenAIChatModel</a:t>
            </a:r>
            <a:r>
              <a:rPr lang="en-US" altLang="zh-TW" sz="1500" dirty="0"/>
              <a:t>)</a:t>
            </a:r>
            <a:endParaRPr lang="zh-TW" altLang="en-US" sz="1500" dirty="0"/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67177151-B1ED-46B5-B211-B9010EC93B19}"/>
              </a:ext>
            </a:extLst>
          </p:cNvPr>
          <p:cNvSpPr/>
          <p:nvPr/>
        </p:nvSpPr>
        <p:spPr>
          <a:xfrm>
            <a:off x="625014" y="4318000"/>
            <a:ext cx="4019798" cy="1722179"/>
          </a:xfrm>
          <a:prstGeom prst="roundRect">
            <a:avLst>
              <a:gd name="adj" fmla="val 8432"/>
            </a:avLst>
          </a:prstGeom>
          <a:solidFill>
            <a:schemeClr val="accent6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A87013E7-2F49-4396-9D63-235143AB5D6B}"/>
              </a:ext>
            </a:extLst>
          </p:cNvPr>
          <p:cNvSpPr txBox="1"/>
          <p:nvPr/>
        </p:nvSpPr>
        <p:spPr>
          <a:xfrm>
            <a:off x="86209" y="2450902"/>
            <a:ext cx="4953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dirty="0" err="1"/>
              <a:t>OpenAIApi</a:t>
            </a:r>
            <a:endParaRPr lang="zh-TW" altLang="en-US" sz="1500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1655851A-88CA-416D-B82F-726BDBCC0C9D}"/>
              </a:ext>
            </a:extLst>
          </p:cNvPr>
          <p:cNvSpPr txBox="1"/>
          <p:nvPr/>
        </p:nvSpPr>
        <p:spPr>
          <a:xfrm>
            <a:off x="92896" y="4338072"/>
            <a:ext cx="4953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dirty="0" err="1"/>
              <a:t>OpenAIChatOptions</a:t>
            </a:r>
            <a:endParaRPr lang="zh-TW" altLang="en-US" sz="1500" dirty="0"/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ACE00795-A9F3-4A19-9E75-623F8D7A5E8E}"/>
              </a:ext>
            </a:extLst>
          </p:cNvPr>
          <p:cNvSpPr/>
          <p:nvPr/>
        </p:nvSpPr>
        <p:spPr>
          <a:xfrm>
            <a:off x="472206" y="2137179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Singleton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BFA86D82-1EF2-48B9-A42A-9FA53D1FA77C}"/>
              </a:ext>
            </a:extLst>
          </p:cNvPr>
          <p:cNvSpPr/>
          <p:nvPr/>
        </p:nvSpPr>
        <p:spPr>
          <a:xfrm>
            <a:off x="3944222" y="2098281"/>
            <a:ext cx="981411" cy="2376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Auto config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373C7DD-EED0-45A6-8EE7-05075AD57D2A}"/>
              </a:ext>
            </a:extLst>
          </p:cNvPr>
          <p:cNvSpPr/>
          <p:nvPr/>
        </p:nvSpPr>
        <p:spPr>
          <a:xfrm>
            <a:off x="764306" y="2530352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Singleton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6198A77E-8B0D-4D77-95B0-4AFF522655D3}"/>
              </a:ext>
            </a:extLst>
          </p:cNvPr>
          <p:cNvSpPr/>
          <p:nvPr/>
        </p:nvSpPr>
        <p:spPr>
          <a:xfrm>
            <a:off x="771447" y="4425314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Singleton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6B83AC32-B038-42C0-AFEB-6B4F8ED6C5BE}"/>
              </a:ext>
            </a:extLst>
          </p:cNvPr>
          <p:cNvSpPr/>
          <p:nvPr/>
        </p:nvSpPr>
        <p:spPr>
          <a:xfrm>
            <a:off x="3549598" y="2515556"/>
            <a:ext cx="981411" cy="2376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Auto config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CB42CFE1-ADBE-49E8-86C6-BD673364371F}"/>
              </a:ext>
            </a:extLst>
          </p:cNvPr>
          <p:cNvSpPr/>
          <p:nvPr/>
        </p:nvSpPr>
        <p:spPr>
          <a:xfrm>
            <a:off x="3592830" y="4421100"/>
            <a:ext cx="981411" cy="23592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ea typeface="微軟正黑體" panose="020B0604030504040204" pitchFamily="34" charset="-120"/>
              </a:rPr>
              <a:t>Auto config</a:t>
            </a:r>
            <a:endParaRPr lang="zh-TW" altLang="en-US" sz="1200" dirty="0">
              <a:ea typeface="微軟正黑體" panose="020B0604030504040204" pitchFamily="34" charset="-120"/>
            </a:endParaRPr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E0E00018-587F-45D0-816F-E44DDE49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75" y="2840764"/>
            <a:ext cx="3850100" cy="1149051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2C7A4147-4658-4E2C-9668-391DC159B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76" y="4810379"/>
            <a:ext cx="3850100" cy="1075013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FAC32FD5-2F89-4087-A97A-E39ECFF21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893" y="4539061"/>
            <a:ext cx="4160708" cy="1224040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4BD81C85-B904-466F-8E2D-25CE1F69B4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893" y="2878345"/>
            <a:ext cx="4185967" cy="1073887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10DC68DE-3C63-42B0-8124-5605834B9F87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4990427" y="3415289"/>
            <a:ext cx="47546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E947599F-E598-48CD-A0DB-C65C25F53BB4}"/>
              </a:ext>
            </a:extLst>
          </p:cNvPr>
          <p:cNvCxnSpPr>
            <a:cxnSpLocks/>
          </p:cNvCxnSpPr>
          <p:nvPr/>
        </p:nvCxnSpPr>
        <p:spPr>
          <a:xfrm>
            <a:off x="5001108" y="5193289"/>
            <a:ext cx="47546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0582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66</a:t>
            </a:fld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BD0C6A96-824C-4352-A37B-5BBAC7E3F1AC}"/>
              </a:ext>
            </a:extLst>
          </p:cNvPr>
          <p:cNvSpPr txBox="1">
            <a:spLocks/>
          </p:cNvSpPr>
          <p:nvPr/>
        </p:nvSpPr>
        <p:spPr>
          <a:xfrm>
            <a:off x="875933" y="1415040"/>
            <a:ext cx="7965380" cy="4937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30238" indent="-328613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微軟正黑體" panose="020B0604030504040204" pitchFamily="34" charset="-120"/>
              <a:buChar char="─"/>
              <a:defRPr sz="2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896938" indent="-2936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165225" indent="-260350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436688" indent="-230188" algn="l" defTabSz="603647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660029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1853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3676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65500" indent="-150912" algn="l" defTabSz="603647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Char char="•"/>
              <a:defRPr sz="11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基礎對話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ChatSimpleTest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建立最基本的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對話，同步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非同步與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交互。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ChatPromptTemplateTest</a:t>
            </a: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模板注入參數值，讓輸入內容更具彈性與可重複使用性。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進階活動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3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ChatForEntityTest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回傳指定格式字串轉換為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物件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(ActorFilms)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ChatAdvisorTest </a:t>
            </a: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透過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機制統一管理對話前後處理流程，例如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Calling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前身）</a:t>
            </a: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ChatFunctionCallTest</a:t>
            </a:r>
          </a:p>
          <a:p>
            <a:pPr marL="0" indent="0">
              <a:buSzPct val="50000"/>
              <a:buNone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使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不只能對話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也可調用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來做事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D061CB7A-2BBC-428A-BE66-8BF60CB47DD7}"/>
              </a:ext>
            </a:extLst>
          </p:cNvPr>
          <p:cNvSpPr txBox="1">
            <a:spLocks/>
          </p:cNvSpPr>
          <p:nvPr/>
        </p:nvSpPr>
        <p:spPr>
          <a:xfrm>
            <a:off x="939523" y="189568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Lab01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介紹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63674E-25C2-410A-A7C7-6D3560DD45AD}"/>
              </a:ext>
            </a:extLst>
          </p:cNvPr>
          <p:cNvSpPr txBox="1"/>
          <p:nvPr/>
        </p:nvSpPr>
        <p:spPr>
          <a:xfrm>
            <a:off x="875933" y="6324536"/>
            <a:ext cx="1946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*以上亦為測試類執行順序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4343B3-FFDC-4846-A3C6-0C3E17D0A473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0FE4BC0-9A68-4811-A231-D5F69FF89B7D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0C70EFC-06C8-4921-8795-194EEB306329}"/>
              </a:ext>
            </a:extLst>
          </p:cNvPr>
          <p:cNvSpPr txBox="1"/>
          <p:nvPr/>
        </p:nvSpPr>
        <p:spPr>
          <a:xfrm>
            <a:off x="2460369" y="954462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71185B-4911-46D2-8D0B-226D9ACBF62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2A7F2A-FE93-41E3-81A1-7B9B10CFAEFE}"/>
              </a:ext>
            </a:extLst>
          </p:cNvPr>
          <p:cNvSpPr/>
          <p:nvPr/>
        </p:nvSpPr>
        <p:spPr>
          <a:xfrm>
            <a:off x="5660523" y="9038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96A2DEB-4664-4424-A1F8-0012720DC895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B90C9B5-6614-447E-A538-7612A7BF2B97}"/>
              </a:ext>
            </a:extLst>
          </p:cNvPr>
          <p:cNvSpPr txBox="1"/>
          <p:nvPr/>
        </p:nvSpPr>
        <p:spPr>
          <a:xfrm>
            <a:off x="4078734" y="89241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F865CD0-664D-4FE8-B458-7A029681C178}"/>
              </a:ext>
            </a:extLst>
          </p:cNvPr>
          <p:cNvSpPr txBox="1"/>
          <p:nvPr/>
        </p:nvSpPr>
        <p:spPr>
          <a:xfrm>
            <a:off x="5669573" y="9021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54D53BC-9BA0-46C3-AF7D-73190E671A2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C3ACABFF-6E9A-47A0-A042-47E52605FC14}"/>
              </a:ext>
            </a:extLst>
          </p:cNvPr>
          <p:cNvSpPr txBox="1"/>
          <p:nvPr/>
        </p:nvSpPr>
        <p:spPr>
          <a:xfrm>
            <a:off x="884730" y="960213"/>
            <a:ext cx="1597805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</p:spTree>
    <p:extLst>
      <p:ext uri="{BB962C8B-B14F-4D97-AF65-F5344CB8AC3E}">
        <p14:creationId xmlns:p14="http://schemas.microsoft.com/office/powerpoint/2010/main" val="1718539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B141D82-EBAA-485E-9899-26FD17E1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7"/>
            <a:ext cx="7965380" cy="1084054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/>
              <a:t>如果想知道 </a:t>
            </a:r>
            <a:r>
              <a:rPr lang="en-US" altLang="zh-TW" dirty="0"/>
              <a:t>Labs </a:t>
            </a:r>
            <a:r>
              <a:rPr lang="zh-TW" altLang="en-US" dirty="0"/>
              <a:t>相關 </a:t>
            </a:r>
            <a:r>
              <a:rPr lang="en-US" altLang="zh-TW" dirty="0"/>
              <a:t>http(s) request/response </a:t>
            </a:r>
            <a:r>
              <a:rPr lang="zh-TW" altLang="en-US" dirty="0"/>
              <a:t>完整過程與資料 </a:t>
            </a:r>
            <a:r>
              <a:rPr lang="en-US" altLang="zh-TW" dirty="0"/>
              <a:t>, </a:t>
            </a:r>
            <a:r>
              <a:rPr lang="zh-TW" altLang="en-US" dirty="0"/>
              <a:t>建議開啟 </a:t>
            </a:r>
            <a:r>
              <a:rPr lang="en-US" altLang="zh-TW" dirty="0"/>
              <a:t>Fiddler</a:t>
            </a:r>
          </a:p>
          <a:p>
            <a:r>
              <a:rPr lang="zh-TW" altLang="en-US" dirty="0"/>
              <a:t>課前安裝設定必須先完成 </a:t>
            </a:r>
            <a:r>
              <a:rPr lang="en-US" altLang="zh-TW" dirty="0"/>
              <a:t>, </a:t>
            </a:r>
            <a:r>
              <a:rPr lang="zh-TW" altLang="en-US" dirty="0"/>
              <a:t>才可看到完整資訊 </a:t>
            </a:r>
            <a:r>
              <a:rPr lang="en-US" altLang="zh-TW" dirty="0"/>
              <a:t>, </a:t>
            </a:r>
            <a:r>
              <a:rPr lang="zh-TW" altLang="en-US" dirty="0"/>
              <a:t>以及過濾雜訊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E0C826-4239-4115-AC3E-F8A8AFD8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Fiddler classic </a:t>
            </a:r>
            <a:r>
              <a:rPr lang="zh-TW" altLang="en-US" dirty="0"/>
              <a:t>開啟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B45AF3-DCB0-4CFB-A5B5-3CE19FD95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4A6BF-EBD6-4A6B-ADE7-92FEF744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FA581E8-8360-4568-972F-39C4437B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" y="2733889"/>
            <a:ext cx="4526280" cy="242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159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50" name="標題 1">
            <a:extLst>
              <a:ext uri="{FF2B5EF4-FFF2-40B4-BE49-F238E27FC236}">
                <a16:creationId xmlns:a16="http://schemas.microsoft.com/office/drawing/2014/main" id="{F08FB715-3D9D-4568-9D32-783017E1E75E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示意圖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286FBB5-D5F1-478C-95A0-4FF0C141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06" y="1472130"/>
            <a:ext cx="4517294" cy="4685197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37067EF6-D683-40BC-A034-5AE15F9D7F77}"/>
              </a:ext>
            </a:extLst>
          </p:cNvPr>
          <p:cNvSpPr txBox="1"/>
          <p:nvPr/>
        </p:nvSpPr>
        <p:spPr>
          <a:xfrm>
            <a:off x="1180395" y="6184266"/>
            <a:ext cx="4517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hlinkClick r:id="rId4"/>
              </a:rPr>
              <a:t>https://docs.spring.io/spring-ai/reference/api/advisors.html</a:t>
            </a:r>
            <a:endParaRPr lang="zh-TW" altLang="en-US" sz="1200" dirty="0"/>
          </a:p>
        </p:txBody>
      </p:sp>
      <p:pic>
        <p:nvPicPr>
          <p:cNvPr id="1026" name="Picture 2" descr="Advisors Recursive">
            <a:extLst>
              <a:ext uri="{FF2B5EF4-FFF2-40B4-BE49-F238E27FC236}">
                <a16:creationId xmlns:a16="http://schemas.microsoft.com/office/drawing/2014/main" id="{56B23F36-20C5-4119-8445-28A3D0AAB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473" y="1642651"/>
            <a:ext cx="2016186" cy="434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EEE85261-B1E3-4AB5-965C-73CCCAB90B44}"/>
              </a:ext>
            </a:extLst>
          </p:cNvPr>
          <p:cNvSpPr txBox="1"/>
          <p:nvPr/>
        </p:nvSpPr>
        <p:spPr>
          <a:xfrm>
            <a:off x="5186190" y="6181264"/>
            <a:ext cx="4952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100000"/>
            </a:pPr>
            <a:r>
              <a:rPr lang="zh-TW" altLang="en-US" sz="1200" dirty="0">
                <a:hlinkClick r:id="rId4"/>
              </a:rPr>
              <a:t>https://docs.spring.io/spring-ai/reference/api/advisors-recursive.html</a:t>
            </a:r>
            <a:endParaRPr lang="zh-TW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D64364-4B3C-441F-B968-5787EC1B6A1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D233DF-8DE4-4CF2-B01F-0E9E393C267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B6DA269-A9A8-413E-BB65-3DAFB34EFD00}"/>
              </a:ext>
            </a:extLst>
          </p:cNvPr>
          <p:cNvSpPr txBox="1"/>
          <p:nvPr/>
        </p:nvSpPr>
        <p:spPr>
          <a:xfrm>
            <a:off x="884730" y="960213"/>
            <a:ext cx="1597805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B0FA900-8DB1-4653-9CB1-60711AB2973B}"/>
              </a:ext>
            </a:extLst>
          </p:cNvPr>
          <p:cNvSpPr txBox="1"/>
          <p:nvPr/>
        </p:nvSpPr>
        <p:spPr>
          <a:xfrm>
            <a:off x="2460369" y="954462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C5D1CB-2EFC-4F49-85E3-750FD99A4406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823A7C-83B9-4A45-BD4E-959F8A585C01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967B86-DBBD-48CB-ADF9-5D366494067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8ED931C-133F-447D-BAF1-4B8F290AB623}"/>
              </a:ext>
            </a:extLst>
          </p:cNvPr>
          <p:cNvSpPr txBox="1"/>
          <p:nvPr/>
        </p:nvSpPr>
        <p:spPr>
          <a:xfrm>
            <a:off x="4078734" y="89241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FDD2A07-7DFC-4384-9A94-A83F4239DAB5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1185EA4-9229-4A5D-A945-DDDC842EDA7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</p:spTree>
    <p:extLst>
      <p:ext uri="{BB962C8B-B14F-4D97-AF65-F5344CB8AC3E}">
        <p14:creationId xmlns:p14="http://schemas.microsoft.com/office/powerpoint/2010/main" val="2030622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4CB1B0D2-3215-4E4C-8992-47C2060BE632}"/>
              </a:ext>
            </a:extLst>
          </p:cNvPr>
          <p:cNvSpPr/>
          <p:nvPr/>
        </p:nvSpPr>
        <p:spPr>
          <a:xfrm>
            <a:off x="620261" y="1676400"/>
            <a:ext cx="8806328" cy="4115647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69</a:t>
            </a:fld>
            <a:endParaRPr lang="zh-TW" altLang="en-US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D061CB7A-2BBC-428A-BE66-8BF60CB47DD7}"/>
              </a:ext>
            </a:extLst>
          </p:cNvPr>
          <p:cNvSpPr txBox="1">
            <a:spLocks/>
          </p:cNvSpPr>
          <p:nvPr/>
        </p:nvSpPr>
        <p:spPr>
          <a:xfrm>
            <a:off x="875932" y="158520"/>
            <a:ext cx="8558999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組件介紹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E6FC9BBA-7DE7-448A-AEA2-136BD66B0F80}"/>
              </a:ext>
            </a:extLst>
          </p:cNvPr>
          <p:cNvSpPr/>
          <p:nvPr/>
        </p:nvSpPr>
        <p:spPr>
          <a:xfrm>
            <a:off x="3650292" y="1505767"/>
            <a:ext cx="2914650" cy="33509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err="1"/>
              <a:t>MessageChatMemoryAdvisor</a:t>
            </a:r>
            <a:endParaRPr lang="en-US" altLang="zh-TW" sz="1500" dirty="0"/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AA854BE7-A9BC-43EB-8BAB-15C9995C4A1C}"/>
              </a:ext>
            </a:extLst>
          </p:cNvPr>
          <p:cNvSpPr/>
          <p:nvPr/>
        </p:nvSpPr>
        <p:spPr>
          <a:xfrm>
            <a:off x="823424" y="2029048"/>
            <a:ext cx="4167216" cy="1096252"/>
          </a:xfrm>
          <a:prstGeom prst="roundRect">
            <a:avLst>
              <a:gd name="adj" fmla="val 240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59FBB8-E40B-4463-8A42-29A9850553CF}"/>
              </a:ext>
            </a:extLst>
          </p:cNvPr>
          <p:cNvSpPr txBox="1"/>
          <p:nvPr/>
        </p:nvSpPr>
        <p:spPr>
          <a:xfrm>
            <a:off x="861984" y="2109636"/>
            <a:ext cx="4167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200" dirty="0">
                <a:ea typeface="微軟正黑體" panose="020B0604030504040204" pitchFamily="34" charset="-120"/>
              </a:rPr>
              <a:t>取得 </a:t>
            </a:r>
            <a:r>
              <a:rPr lang="en-US" altLang="zh-TW" sz="1200" dirty="0">
                <a:ea typeface="微軟正黑體" panose="020B0604030504040204" pitchFamily="34" charset="-120"/>
              </a:rPr>
              <a:t>conversation id </a:t>
            </a:r>
            <a:r>
              <a:rPr lang="zh-TW" altLang="en-US" sz="1200" dirty="0">
                <a:ea typeface="微軟正黑體" panose="020B0604030504040204" pitchFamily="34" charset="-120"/>
              </a:rPr>
              <a:t>，並將該 </a:t>
            </a:r>
            <a:r>
              <a:rPr lang="en-US" altLang="zh-TW" sz="1200" dirty="0">
                <a:ea typeface="微軟正黑體" panose="020B0604030504040204" pitchFamily="34" charset="-120"/>
              </a:rPr>
              <a:t>id </a:t>
            </a:r>
            <a:r>
              <a:rPr lang="zh-TW" altLang="en-US" sz="1200" dirty="0">
                <a:ea typeface="微軟正黑體" panose="020B0604030504040204" pitchFamily="34" charset="-120"/>
              </a:rPr>
              <a:t>對應之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</a:t>
            </a:r>
            <a:endParaRPr lang="en-US" altLang="zh-TW" sz="1200" dirty="0"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ea typeface="微軟正黑體" panose="020B0604030504040204" pitchFamily="34" charset="-120"/>
              </a:rPr>
              <a:t>          </a:t>
            </a:r>
            <a:r>
              <a:rPr lang="zh-TW" altLang="en-US" sz="1200" dirty="0">
                <a:ea typeface="微軟正黑體" panose="020B0604030504040204" pitchFamily="34" charset="-120"/>
              </a:rPr>
              <a:t>抓出並擴充至 </a:t>
            </a:r>
            <a:r>
              <a:rPr lang="en-US" altLang="zh-TW" sz="1200" dirty="0">
                <a:ea typeface="微軟正黑體" panose="020B0604030504040204" pitchFamily="34" charset="-120"/>
              </a:rPr>
              <a:t>chat client request prompt messages </a:t>
            </a:r>
            <a:r>
              <a:rPr lang="zh-TW" altLang="en-US" sz="1200" dirty="0">
                <a:ea typeface="微軟正黑體" panose="020B0604030504040204" pitchFamily="34" charset="-120"/>
              </a:rPr>
              <a:t>中，</a:t>
            </a:r>
            <a:endParaRPr lang="en-US" altLang="zh-TW" sz="1200" dirty="0"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ea typeface="微軟正黑體" panose="020B0604030504040204" pitchFamily="34" charset="-120"/>
              </a:rPr>
              <a:t>          並將此次 </a:t>
            </a:r>
            <a:r>
              <a:rPr lang="en-US" altLang="zh-TW" sz="1200" dirty="0">
                <a:ea typeface="微軟正黑體" panose="020B0604030504040204" pitchFamily="34" charset="-120"/>
              </a:rPr>
              <a:t>user prompt </a:t>
            </a:r>
            <a:r>
              <a:rPr lang="zh-TW" altLang="en-US" sz="1200" dirty="0">
                <a:ea typeface="微軟正黑體" panose="020B0604030504040204" pitchFamily="34" charset="-120"/>
              </a:rPr>
              <a:t>儲存至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上下文儲存區。</a:t>
            </a:r>
            <a:endParaRPr lang="en-US" altLang="zh-TW" sz="1200" dirty="0"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zh-TW" altLang="en-US" sz="1200" dirty="0">
                <a:ea typeface="微軟正黑體" panose="020B0604030504040204" pitchFamily="34" charset="-120"/>
              </a:rPr>
              <a:t>取得 </a:t>
            </a:r>
            <a:r>
              <a:rPr lang="en-US" altLang="zh-TW" sz="1200" dirty="0">
                <a:ea typeface="微軟正黑體" panose="020B0604030504040204" pitchFamily="34" charset="-120"/>
              </a:rPr>
              <a:t>conversation id </a:t>
            </a:r>
            <a:r>
              <a:rPr lang="zh-TW" altLang="en-US" sz="1200" dirty="0">
                <a:ea typeface="微軟正黑體" panose="020B0604030504040204" pitchFamily="34" charset="-120"/>
              </a:rPr>
              <a:t>，</a:t>
            </a:r>
            <a:r>
              <a:rPr lang="en-US" altLang="zh-TW" sz="1200" dirty="0"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ea typeface="微軟正黑體" panose="020B0604030504040204" pitchFamily="34" charset="-120"/>
              </a:rPr>
              <a:t>將 </a:t>
            </a:r>
            <a:r>
              <a:rPr lang="en-US" altLang="zh-TW" sz="1200" dirty="0">
                <a:ea typeface="微軟正黑體" panose="020B0604030504040204" pitchFamily="34" charset="-120"/>
              </a:rPr>
              <a:t>LLM response </a:t>
            </a:r>
            <a:r>
              <a:rPr lang="zh-TW" altLang="en-US" sz="1200" dirty="0">
                <a:ea typeface="微軟正黑體" panose="020B0604030504040204" pitchFamily="34" charset="-120"/>
              </a:rPr>
              <a:t>結果當作 </a:t>
            </a:r>
            <a:r>
              <a:rPr lang="en-US" altLang="zh-TW" sz="1200" dirty="0">
                <a:ea typeface="微軟正黑體" panose="020B0604030504040204" pitchFamily="34" charset="-120"/>
              </a:rPr>
              <a:t>assistance prompt </a:t>
            </a:r>
            <a:r>
              <a:rPr lang="zh-TW" altLang="en-US" sz="1200" dirty="0">
                <a:ea typeface="微軟正黑體" panose="020B0604030504040204" pitchFamily="34" charset="-120"/>
              </a:rPr>
              <a:t>儲存至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上下文儲存區。</a:t>
            </a:r>
            <a:endParaRPr lang="en-US" altLang="zh-TW" sz="1200" dirty="0">
              <a:ea typeface="微軟正黑體" panose="020B0604030504040204" pitchFamily="34" charset="-120"/>
            </a:endParaRP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D5EF678-D099-4B83-82A5-BA62DA68EEEE}"/>
              </a:ext>
            </a:extLst>
          </p:cNvPr>
          <p:cNvSpPr/>
          <p:nvPr/>
        </p:nvSpPr>
        <p:spPr>
          <a:xfrm>
            <a:off x="5155431" y="2549047"/>
            <a:ext cx="4167216" cy="2892537"/>
          </a:xfrm>
          <a:prstGeom prst="roundRect">
            <a:avLst>
              <a:gd name="adj" fmla="val 240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A0C36F0-8D78-4F83-9756-B25723925FE4}"/>
              </a:ext>
            </a:extLst>
          </p:cNvPr>
          <p:cNvSpPr txBox="1"/>
          <p:nvPr/>
        </p:nvSpPr>
        <p:spPr>
          <a:xfrm>
            <a:off x="5604763" y="2845432"/>
            <a:ext cx="3477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ea typeface="微軟正黑體" panose="020B0604030504040204" pitchFamily="34" charset="-120"/>
              </a:rPr>
              <a:t>提供新增</a:t>
            </a:r>
            <a:r>
              <a:rPr lang="en-US" altLang="zh-TW" sz="1200" dirty="0">
                <a:ea typeface="微軟正黑體" panose="020B0604030504040204" pitchFamily="34" charset="-120"/>
              </a:rPr>
              <a:t>、</a:t>
            </a:r>
            <a:r>
              <a:rPr lang="zh-TW" altLang="en-US" sz="1200" dirty="0">
                <a:ea typeface="微軟正黑體" panose="020B0604030504040204" pitchFamily="34" charset="-120"/>
              </a:rPr>
              <a:t>查詢</a:t>
            </a:r>
            <a:r>
              <a:rPr lang="en-US" altLang="zh-TW" sz="1200" dirty="0">
                <a:ea typeface="微軟正黑體" panose="020B0604030504040204" pitchFamily="34" charset="-120"/>
              </a:rPr>
              <a:t>、</a:t>
            </a:r>
            <a:r>
              <a:rPr lang="zh-TW" altLang="en-US" sz="1200" dirty="0">
                <a:ea typeface="微軟正黑體" panose="020B0604030504040204" pitchFamily="34" charset="-120"/>
              </a:rPr>
              <a:t>清除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上下文等功能，</a:t>
            </a:r>
            <a:endParaRPr lang="en-US" altLang="zh-TW" sz="1200" dirty="0"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ea typeface="微軟正黑體" panose="020B0604030504040204" pitchFamily="34" charset="-120"/>
              </a:rPr>
              <a:t>上述操作主要交由 </a:t>
            </a:r>
            <a:r>
              <a:rPr lang="en-US" altLang="zh-TW" sz="1200" dirty="0" err="1">
                <a:ea typeface="微軟正黑體" panose="020B0604030504040204" pitchFamily="34" charset="-120"/>
              </a:rPr>
              <a:t>ChatMemoryRepository</a:t>
            </a:r>
            <a:r>
              <a:rPr lang="en-US" altLang="zh-TW" sz="1200" dirty="0"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ea typeface="微軟正黑體" panose="020B0604030504040204" pitchFamily="34" charset="-120"/>
              </a:rPr>
              <a:t>進行，</a:t>
            </a:r>
            <a:endParaRPr lang="en-US" altLang="zh-TW" sz="1200" dirty="0"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ea typeface="微軟正黑體" panose="020B0604030504040204" pitchFamily="34" charset="-120"/>
              </a:rPr>
              <a:t>其職責是在新增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上下文時進行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</a:p>
          <a:p>
            <a:r>
              <a:rPr lang="zh-TW" altLang="en-US" sz="1200" dirty="0">
                <a:ea typeface="微軟正黑體" panose="020B0604030504040204" pitchFamily="34" charset="-120"/>
              </a:rPr>
              <a:t>上下文之壓縮處理。</a:t>
            </a:r>
            <a:r>
              <a:rPr lang="en-US" altLang="zh-TW" sz="1200" dirty="0"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ea typeface="微軟正黑體" panose="020B0604030504040204" pitchFamily="34" charset="-120"/>
              </a:rPr>
              <a:t>針對 </a:t>
            </a:r>
            <a:r>
              <a:rPr lang="en-US" altLang="zh-TW" sz="1200" dirty="0">
                <a:ea typeface="微軟正黑體" panose="020B0604030504040204" pitchFamily="34" charset="-120"/>
              </a:rPr>
              <a:t>conversation id</a:t>
            </a:r>
            <a:r>
              <a:rPr lang="zh-TW" altLang="en-US" sz="1200" dirty="0">
                <a:ea typeface="微軟正黑體" panose="020B0604030504040204" pitchFamily="34" charset="-120"/>
              </a:rPr>
              <a:t> 操作</a:t>
            </a:r>
            <a:r>
              <a:rPr lang="en-US" altLang="zh-TW" sz="1200" dirty="0"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7C013AC8-6F5C-4F12-8CFA-2894E575CF23}"/>
              </a:ext>
            </a:extLst>
          </p:cNvPr>
          <p:cNvSpPr/>
          <p:nvPr/>
        </p:nvSpPr>
        <p:spPr>
          <a:xfrm>
            <a:off x="6010562" y="2290556"/>
            <a:ext cx="2520207" cy="46955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ChatMemory</a:t>
            </a:r>
          </a:p>
          <a:p>
            <a:pPr algn="ctr"/>
            <a:r>
              <a:rPr lang="en-US" altLang="zh-TW" sz="1400" dirty="0"/>
              <a:t>(</a:t>
            </a:r>
            <a:r>
              <a:rPr lang="en-US" altLang="zh-TW" sz="1400" dirty="0" err="1"/>
              <a:t>MessageWindowChatMemory</a:t>
            </a:r>
            <a:r>
              <a:rPr lang="en-US" altLang="zh-TW" sz="1400" dirty="0"/>
              <a:t>)</a:t>
            </a:r>
            <a:endParaRPr lang="en-US" altLang="zh-TW" sz="1500" dirty="0"/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66942136-AD40-4DC8-9337-B2DCDB653D74}"/>
              </a:ext>
            </a:extLst>
          </p:cNvPr>
          <p:cNvSpPr/>
          <p:nvPr/>
        </p:nvSpPr>
        <p:spPr>
          <a:xfrm>
            <a:off x="5262235" y="3987192"/>
            <a:ext cx="3953607" cy="1137519"/>
          </a:xfrm>
          <a:prstGeom prst="roundRect">
            <a:avLst>
              <a:gd name="adj" fmla="val 2407"/>
            </a:avLst>
          </a:prstGeom>
          <a:solidFill>
            <a:srgbClr val="BFE4FF"/>
          </a:solidFill>
          <a:ln>
            <a:solidFill>
              <a:schemeClr val="accent6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14C09F55-0018-45F7-9934-93244599CB82}"/>
              </a:ext>
            </a:extLst>
          </p:cNvPr>
          <p:cNvSpPr/>
          <p:nvPr/>
        </p:nvSpPr>
        <p:spPr>
          <a:xfrm>
            <a:off x="5769863" y="3799786"/>
            <a:ext cx="2914650" cy="46955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ChatMemoryRepository</a:t>
            </a:r>
            <a:endParaRPr lang="en-US" altLang="zh-TW" sz="1400" dirty="0"/>
          </a:p>
          <a:p>
            <a:pPr algn="ctr"/>
            <a:r>
              <a:rPr lang="en-US" altLang="zh-TW" sz="1400" dirty="0"/>
              <a:t>(</a:t>
            </a:r>
            <a:r>
              <a:rPr lang="en-US" altLang="zh-TW" sz="1400" dirty="0" err="1"/>
              <a:t>InMemoryChatMemoryRepository</a:t>
            </a:r>
            <a:r>
              <a:rPr lang="en-US" altLang="zh-TW" sz="1400" dirty="0"/>
              <a:t>)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0E8AADFC-1A99-46BA-90F8-049811A8942C}"/>
              </a:ext>
            </a:extLst>
          </p:cNvPr>
          <p:cNvSpPr txBox="1"/>
          <p:nvPr/>
        </p:nvSpPr>
        <p:spPr>
          <a:xfrm>
            <a:off x="5737880" y="4300535"/>
            <a:ext cx="3477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ea typeface="微軟正黑體" panose="020B0604030504040204" pitchFamily="34" charset="-120"/>
              </a:rPr>
              <a:t>提供查詢</a:t>
            </a:r>
            <a:r>
              <a:rPr lang="en-US" altLang="zh-TW" sz="1200" dirty="0">
                <a:ea typeface="微軟正黑體" panose="020B0604030504040204" pitchFamily="34" charset="-120"/>
              </a:rPr>
              <a:t>、</a:t>
            </a:r>
            <a:r>
              <a:rPr lang="zh-TW" altLang="en-US" sz="1200" dirty="0">
                <a:ea typeface="微軟正黑體" panose="020B0604030504040204" pitchFamily="34" charset="-120"/>
              </a:rPr>
              <a:t>儲存</a:t>
            </a:r>
            <a:r>
              <a:rPr lang="en-US" altLang="zh-TW" sz="1200" dirty="0">
                <a:ea typeface="微軟正黑體" panose="020B0604030504040204" pitchFamily="34" charset="-120"/>
              </a:rPr>
              <a:t>、</a:t>
            </a:r>
            <a:r>
              <a:rPr lang="zh-TW" altLang="en-US" sz="1200" dirty="0">
                <a:ea typeface="微軟正黑體" panose="020B0604030504040204" pitchFamily="34" charset="-120"/>
              </a:rPr>
              <a:t>刪除 </a:t>
            </a:r>
            <a:r>
              <a:rPr lang="en-US" altLang="zh-TW" sz="1200" dirty="0">
                <a:ea typeface="微軟正黑體" panose="020B0604030504040204" pitchFamily="34" charset="-120"/>
              </a:rPr>
              <a:t>prompt </a:t>
            </a:r>
            <a:r>
              <a:rPr lang="zh-TW" altLang="en-US" sz="1200" dirty="0">
                <a:ea typeface="微軟正黑體" panose="020B0604030504040204" pitchFamily="34" charset="-120"/>
              </a:rPr>
              <a:t>上下文等功能。</a:t>
            </a:r>
          </a:p>
          <a:p>
            <a:r>
              <a:rPr lang="en-US" altLang="zh-TW" sz="1200" dirty="0"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ea typeface="微軟正黑體" panose="020B0604030504040204" pitchFamily="34" charset="-120"/>
              </a:rPr>
              <a:t>針對 </a:t>
            </a:r>
            <a:r>
              <a:rPr lang="en-US" altLang="zh-TW" sz="1200" dirty="0">
                <a:ea typeface="微軟正黑體" panose="020B0604030504040204" pitchFamily="34" charset="-120"/>
              </a:rPr>
              <a:t>conversation id </a:t>
            </a:r>
            <a:r>
              <a:rPr lang="zh-TW" altLang="en-US" sz="1200" dirty="0">
                <a:ea typeface="微軟正黑體" panose="020B0604030504040204" pitchFamily="34" charset="-120"/>
              </a:rPr>
              <a:t>操作</a:t>
            </a:r>
            <a:r>
              <a:rPr lang="en-US" altLang="zh-TW" sz="1200" dirty="0"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A88F6BB4-D221-4977-8659-C4AA84196CFF}"/>
              </a:ext>
            </a:extLst>
          </p:cNvPr>
          <p:cNvSpPr/>
          <p:nvPr/>
        </p:nvSpPr>
        <p:spPr>
          <a:xfrm>
            <a:off x="803275" y="3277530"/>
            <a:ext cx="4149725" cy="1096252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805D6897-E7DB-423E-A47B-FD5A2A1ED798}"/>
              </a:ext>
            </a:extLst>
          </p:cNvPr>
          <p:cNvSpPr/>
          <p:nvPr/>
        </p:nvSpPr>
        <p:spPr>
          <a:xfrm>
            <a:off x="803275" y="4502670"/>
            <a:ext cx="4149725" cy="1096252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047E24F-BB64-46B8-AD15-1BD1DDF818B6}"/>
              </a:ext>
            </a:extLst>
          </p:cNvPr>
          <p:cNvSpPr txBox="1"/>
          <p:nvPr/>
        </p:nvSpPr>
        <p:spPr>
          <a:xfrm>
            <a:off x="1868985" y="3266130"/>
            <a:ext cx="1970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  <a:ea typeface="微軟正黑體" panose="020B0604030504040204" pitchFamily="34" charset="-120"/>
              </a:rPr>
              <a:t>Conversation ID : test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7174DBEB-AC5A-4681-8A1C-6A9EB86EE6F0}"/>
              </a:ext>
            </a:extLst>
          </p:cNvPr>
          <p:cNvSpPr txBox="1"/>
          <p:nvPr/>
        </p:nvSpPr>
        <p:spPr>
          <a:xfrm>
            <a:off x="1892929" y="4532401"/>
            <a:ext cx="1970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Conversation ID : test1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13B19877-D9DA-49EE-A747-D22031E3C7C0}"/>
              </a:ext>
            </a:extLst>
          </p:cNvPr>
          <p:cNvSpPr/>
          <p:nvPr/>
        </p:nvSpPr>
        <p:spPr>
          <a:xfrm>
            <a:off x="861984" y="3897504"/>
            <a:ext cx="839816" cy="37615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message1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98C0D397-1B33-456D-8C4E-C63C78DDB247}"/>
              </a:ext>
            </a:extLst>
          </p:cNvPr>
          <p:cNvSpPr/>
          <p:nvPr/>
        </p:nvSpPr>
        <p:spPr>
          <a:xfrm>
            <a:off x="1613350" y="3780655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message2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89F2610F-88AC-4B29-9E36-6188436CD94F}"/>
              </a:ext>
            </a:extLst>
          </p:cNvPr>
          <p:cNvSpPr/>
          <p:nvPr/>
        </p:nvSpPr>
        <p:spPr>
          <a:xfrm>
            <a:off x="2364716" y="3717580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message3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D8844A9A-8A95-496A-AF41-7F85C49B5D6C}"/>
              </a:ext>
            </a:extLst>
          </p:cNvPr>
          <p:cNvSpPr/>
          <p:nvPr/>
        </p:nvSpPr>
        <p:spPr>
          <a:xfrm>
            <a:off x="3129405" y="3645630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message4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68C3BFBF-1750-46FA-89AE-674DD9F6B418}"/>
              </a:ext>
            </a:extLst>
          </p:cNvPr>
          <p:cNvSpPr/>
          <p:nvPr/>
        </p:nvSpPr>
        <p:spPr>
          <a:xfrm>
            <a:off x="3898172" y="3560980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1">
                    <a:lumMod val="75000"/>
                  </a:schemeClr>
                </a:solidFill>
              </a:rPr>
              <a:t>message5</a:t>
            </a:r>
            <a:endParaRPr lang="zh-TW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FF59F8F6-EA5B-489D-92B4-AE8BB16AEF2F}"/>
              </a:ext>
            </a:extLst>
          </p:cNvPr>
          <p:cNvSpPr/>
          <p:nvPr/>
        </p:nvSpPr>
        <p:spPr>
          <a:xfrm>
            <a:off x="913228" y="4754481"/>
            <a:ext cx="839816" cy="37615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message1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51AF7557-55F4-4ADE-A5B8-709931B295E4}"/>
              </a:ext>
            </a:extLst>
          </p:cNvPr>
          <p:cNvSpPr/>
          <p:nvPr/>
        </p:nvSpPr>
        <p:spPr>
          <a:xfrm>
            <a:off x="1131445" y="5061211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message2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B17200F7-753A-4C32-B17B-3D056D4A7AD3}"/>
              </a:ext>
            </a:extLst>
          </p:cNvPr>
          <p:cNvSpPr/>
          <p:nvPr/>
        </p:nvSpPr>
        <p:spPr>
          <a:xfrm>
            <a:off x="1917548" y="4839130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message3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34DD5E9F-10EF-4E46-91F9-0B663D3970F3}"/>
              </a:ext>
            </a:extLst>
          </p:cNvPr>
          <p:cNvSpPr/>
          <p:nvPr/>
        </p:nvSpPr>
        <p:spPr>
          <a:xfrm>
            <a:off x="2658598" y="5100361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message4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3C7BCC65-AFA0-4AED-AD7B-0B3BD96735DC}"/>
              </a:ext>
            </a:extLst>
          </p:cNvPr>
          <p:cNvSpPr/>
          <p:nvPr/>
        </p:nvSpPr>
        <p:spPr>
          <a:xfrm>
            <a:off x="3419493" y="4819910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message5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64A6E067-9513-4AA1-B23B-7CAFEC5C7D6B}"/>
              </a:ext>
            </a:extLst>
          </p:cNvPr>
          <p:cNvSpPr/>
          <p:nvPr/>
        </p:nvSpPr>
        <p:spPr>
          <a:xfrm>
            <a:off x="4072095" y="5115387"/>
            <a:ext cx="839816" cy="406401"/>
          </a:xfrm>
          <a:prstGeom prst="roundRect">
            <a:avLst>
              <a:gd name="adj" fmla="val 50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accent4"/>
                </a:solidFill>
                <a:ea typeface="微軟正黑體" panose="020B0604030504040204" pitchFamily="34" charset="-120"/>
              </a:rPr>
              <a:t>message6</a:t>
            </a:r>
            <a:endParaRPr lang="zh-TW" altLang="en-US" sz="1200" dirty="0">
              <a:solidFill>
                <a:schemeClr val="accent4"/>
              </a:solidFill>
              <a:ea typeface="微軟正黑體" panose="020B0604030504040204" pitchFamily="34" charset="-12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3744D1BA-B857-4AF0-9E9D-6F738E0A01FD}"/>
              </a:ext>
            </a:extLst>
          </p:cNvPr>
          <p:cNvCxnSpPr>
            <a:cxnSpLocks/>
            <a:stCxn id="45" idx="1"/>
            <a:endCxn id="48" idx="3"/>
          </p:cNvCxnSpPr>
          <p:nvPr/>
        </p:nvCxnSpPr>
        <p:spPr>
          <a:xfrm flipH="1" flipV="1">
            <a:off x="4953000" y="3825656"/>
            <a:ext cx="309235" cy="73029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40A6EB05-B7C8-444E-B490-20D8C096FCB1}"/>
              </a:ext>
            </a:extLst>
          </p:cNvPr>
          <p:cNvCxnSpPr>
            <a:cxnSpLocks/>
            <a:stCxn id="45" idx="1"/>
            <a:endCxn id="49" idx="3"/>
          </p:cNvCxnSpPr>
          <p:nvPr/>
        </p:nvCxnSpPr>
        <p:spPr>
          <a:xfrm flipH="1">
            <a:off x="4953000" y="4555952"/>
            <a:ext cx="309235" cy="49484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: 圓角 90">
            <a:extLst>
              <a:ext uri="{FF2B5EF4-FFF2-40B4-BE49-F238E27FC236}">
                <a16:creationId xmlns:a16="http://schemas.microsoft.com/office/drawing/2014/main" id="{8235F3D1-00DF-4AD8-8AA3-99ED8ED83376}"/>
              </a:ext>
            </a:extLst>
          </p:cNvPr>
          <p:cNvSpPr/>
          <p:nvPr/>
        </p:nvSpPr>
        <p:spPr>
          <a:xfrm>
            <a:off x="788645" y="1728681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Singleton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54BF88C4-0295-483D-A749-0841C8C32359}"/>
              </a:ext>
            </a:extLst>
          </p:cNvPr>
          <p:cNvSpPr/>
          <p:nvPr/>
        </p:nvSpPr>
        <p:spPr>
          <a:xfrm rot="5400000">
            <a:off x="8692977" y="2875286"/>
            <a:ext cx="819494" cy="30569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Auto config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93" name="矩形: 圓角 92">
            <a:extLst>
              <a:ext uri="{FF2B5EF4-FFF2-40B4-BE49-F238E27FC236}">
                <a16:creationId xmlns:a16="http://schemas.microsoft.com/office/drawing/2014/main" id="{D1DA0A80-F2E3-43DC-84EF-A904D63B17CA}"/>
              </a:ext>
            </a:extLst>
          </p:cNvPr>
          <p:cNvSpPr/>
          <p:nvPr/>
        </p:nvSpPr>
        <p:spPr>
          <a:xfrm rot="16200000">
            <a:off x="4966883" y="2882023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Singleton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5D052F7F-9F94-4673-91B4-E76952198F35}"/>
              </a:ext>
            </a:extLst>
          </p:cNvPr>
          <p:cNvSpPr/>
          <p:nvPr/>
        </p:nvSpPr>
        <p:spPr>
          <a:xfrm rot="16200000">
            <a:off x="5068807" y="4448208"/>
            <a:ext cx="797794" cy="2359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Singleton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3B8C0482-177D-418F-A3D7-189BE6423C0C}"/>
              </a:ext>
            </a:extLst>
          </p:cNvPr>
          <p:cNvSpPr/>
          <p:nvPr/>
        </p:nvSpPr>
        <p:spPr>
          <a:xfrm rot="5400000">
            <a:off x="8634600" y="4458864"/>
            <a:ext cx="819494" cy="26359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Auto config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C0CC587-C284-43DE-84EA-290DB9826AF3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6F1826E-7E08-4625-9CC9-75C709C55DB8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02FD710-34F9-445D-9F47-7BCDD43A31F5}"/>
              </a:ext>
            </a:extLst>
          </p:cNvPr>
          <p:cNvSpPr txBox="1"/>
          <p:nvPr/>
        </p:nvSpPr>
        <p:spPr>
          <a:xfrm>
            <a:off x="2460369" y="954462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FD63A3D-925E-4E22-A7AC-C07403B50EF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B223AC9-F9E8-4336-8635-5A2EF233F124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7AD3080-BDA7-40AF-8F12-F26563E7E11F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4B72B71E-2EA0-416F-8B68-DDA973658A11}"/>
              </a:ext>
            </a:extLst>
          </p:cNvPr>
          <p:cNvSpPr txBox="1"/>
          <p:nvPr/>
        </p:nvSpPr>
        <p:spPr>
          <a:xfrm>
            <a:off x="4078734" y="89241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74A9671A-9207-49D5-9C3B-C559F6389238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D096037-4F9C-426D-8CF1-5A99A1B4BFDF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D3B856E0-5A3A-4EF7-8169-92618D77DADD}"/>
              </a:ext>
            </a:extLst>
          </p:cNvPr>
          <p:cNvSpPr txBox="1"/>
          <p:nvPr/>
        </p:nvSpPr>
        <p:spPr>
          <a:xfrm>
            <a:off x="884730" y="960213"/>
            <a:ext cx="1597805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05BC3CA0-1A0B-4C9D-89EB-19E8024C0EB5}"/>
              </a:ext>
            </a:extLst>
          </p:cNvPr>
          <p:cNvSpPr/>
          <p:nvPr/>
        </p:nvSpPr>
        <p:spPr>
          <a:xfrm>
            <a:off x="8423176" y="1534950"/>
            <a:ext cx="978747" cy="3056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ea typeface="微軟正黑體" panose="020B0604030504040204" pitchFamily="34" charset="-120"/>
              </a:rPr>
              <a:t>Manual Config</a:t>
            </a:r>
            <a:endParaRPr lang="zh-TW" altLang="en-US" sz="10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1035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9457203" y="6296006"/>
            <a:ext cx="429306" cy="424797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70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508404"/>
            <a:ext cx="2728964" cy="220763"/>
          </a:xfrm>
        </p:spPr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970310" y="6350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運作說明圖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415FCE2-203E-4239-B3CB-82D5AD447F21}"/>
              </a:ext>
            </a:extLst>
          </p:cNvPr>
          <p:cNvSpPr/>
          <p:nvPr/>
        </p:nvSpPr>
        <p:spPr>
          <a:xfrm>
            <a:off x="4375262" y="6267510"/>
            <a:ext cx="1305316" cy="362559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LLM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6316B5AC-09B5-49DD-AA36-683D017B0404}"/>
              </a:ext>
            </a:extLst>
          </p:cNvPr>
          <p:cNvGrpSpPr/>
          <p:nvPr/>
        </p:nvGrpSpPr>
        <p:grpSpPr>
          <a:xfrm>
            <a:off x="2995745" y="1643235"/>
            <a:ext cx="4064351" cy="3407386"/>
            <a:chOff x="2457449" y="323849"/>
            <a:chExt cx="2581275" cy="2286001"/>
          </a:xfrm>
        </p:grpSpPr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70484CAB-3865-4210-82C2-448BAE707F2E}"/>
                </a:ext>
              </a:extLst>
            </p:cNvPr>
            <p:cNvSpPr/>
            <p:nvPr/>
          </p:nvSpPr>
          <p:spPr>
            <a:xfrm>
              <a:off x="2457449" y="323849"/>
              <a:ext cx="2581275" cy="2286001"/>
            </a:xfrm>
            <a:prstGeom prst="rect">
              <a:avLst/>
            </a:prstGeom>
            <a:solidFill>
              <a:schemeClr val="accent6">
                <a:lumMod val="95000"/>
              </a:scheme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B42CC29C-41BC-4126-85F6-38EFA31CB9A6}"/>
                </a:ext>
              </a:extLst>
            </p:cNvPr>
            <p:cNvSpPr txBox="1"/>
            <p:nvPr/>
          </p:nvSpPr>
          <p:spPr>
            <a:xfrm>
              <a:off x="3143250" y="447675"/>
              <a:ext cx="1147764" cy="247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AI </a:t>
              </a: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應用</a:t>
              </a:r>
            </a:p>
          </p:txBody>
        </p:sp>
      </p:grpSp>
      <p:sp>
        <p:nvSpPr>
          <p:cNvPr id="163" name="矩形 162">
            <a:extLst>
              <a:ext uri="{FF2B5EF4-FFF2-40B4-BE49-F238E27FC236}">
                <a16:creationId xmlns:a16="http://schemas.microsoft.com/office/drawing/2014/main" id="{9FD376F5-6E84-4872-B4A7-0AD440164B09}"/>
              </a:ext>
            </a:extLst>
          </p:cNvPr>
          <p:cNvSpPr/>
          <p:nvPr/>
        </p:nvSpPr>
        <p:spPr>
          <a:xfrm>
            <a:off x="121174" y="2921866"/>
            <a:ext cx="1088565" cy="3378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Chat UI</a:t>
            </a:r>
            <a:endParaRPr kumimoji="0" lang="zh-TW" altLang="en-US" sz="1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59012420-D050-4996-8305-D6FDD0F87943}"/>
              </a:ext>
            </a:extLst>
          </p:cNvPr>
          <p:cNvCxnSpPr>
            <a:cxnSpLocks/>
            <a:stCxn id="163" idx="3"/>
            <a:endCxn id="153" idx="1"/>
          </p:cNvCxnSpPr>
          <p:nvPr/>
        </p:nvCxnSpPr>
        <p:spPr>
          <a:xfrm>
            <a:off x="1209739" y="3090796"/>
            <a:ext cx="1786006" cy="25613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BF2B2B75-7343-4767-9845-4D7DF4EA9C04}"/>
              </a:ext>
            </a:extLst>
          </p:cNvPr>
          <p:cNvSpPr/>
          <p:nvPr/>
        </p:nvSpPr>
        <p:spPr>
          <a:xfrm>
            <a:off x="98987" y="3515593"/>
            <a:ext cx="1094662" cy="3797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postman</a:t>
            </a:r>
            <a:endParaRPr kumimoji="0" lang="zh-TW" altLang="en-US" sz="1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74C97FF5-0EC2-48C5-8F46-3EFEADAB85DA}"/>
              </a:ext>
            </a:extLst>
          </p:cNvPr>
          <p:cNvCxnSpPr>
            <a:cxnSpLocks/>
            <a:stCxn id="165" idx="3"/>
            <a:endCxn id="153" idx="1"/>
          </p:cNvCxnSpPr>
          <p:nvPr/>
        </p:nvCxnSpPr>
        <p:spPr>
          <a:xfrm flipV="1">
            <a:off x="1193649" y="3346928"/>
            <a:ext cx="1802096" cy="35853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F1E90FC9-DAE5-4B2B-83D9-DF4A42A139E1}"/>
              </a:ext>
            </a:extLst>
          </p:cNvPr>
          <p:cNvGrpSpPr/>
          <p:nvPr/>
        </p:nvGrpSpPr>
        <p:grpSpPr>
          <a:xfrm>
            <a:off x="1366152" y="3481609"/>
            <a:ext cx="2085352" cy="276999"/>
            <a:chOff x="2017548" y="3921580"/>
            <a:chExt cx="2085352" cy="276999"/>
          </a:xfrm>
        </p:grpSpPr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BDB9ED62-2521-4A7C-ABA1-48DE5F5A6507}"/>
                </a:ext>
              </a:extLst>
            </p:cNvPr>
            <p:cNvSpPr txBox="1"/>
            <p:nvPr/>
          </p:nvSpPr>
          <p:spPr>
            <a:xfrm>
              <a:off x="2251833" y="3921580"/>
              <a:ext cx="1851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</a:rPr>
                <a:t>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all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</a:rPr>
                <a:t>sync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chat API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七邊形 171">
              <a:extLst>
                <a:ext uri="{FF2B5EF4-FFF2-40B4-BE49-F238E27FC236}">
                  <a16:creationId xmlns:a16="http://schemas.microsoft.com/office/drawing/2014/main" id="{56FC70D2-C842-483C-A13F-8EE0A98F28C4}"/>
                </a:ext>
              </a:extLst>
            </p:cNvPr>
            <p:cNvSpPr/>
            <p:nvPr/>
          </p:nvSpPr>
          <p:spPr>
            <a:xfrm>
              <a:off x="2017548" y="3935196"/>
              <a:ext cx="295271" cy="22076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7BEDABD3-EEE3-4618-BF2D-747DD7F567D4}"/>
              </a:ext>
            </a:extLst>
          </p:cNvPr>
          <p:cNvGrpSpPr/>
          <p:nvPr/>
        </p:nvGrpSpPr>
        <p:grpSpPr>
          <a:xfrm>
            <a:off x="3026715" y="4822875"/>
            <a:ext cx="2062638" cy="1203400"/>
            <a:chOff x="2232832" y="4189713"/>
            <a:chExt cx="2062638" cy="1203400"/>
          </a:xfrm>
        </p:grpSpPr>
        <p:sp>
          <p:nvSpPr>
            <p:cNvPr id="175" name="七邊形 174">
              <a:extLst>
                <a:ext uri="{FF2B5EF4-FFF2-40B4-BE49-F238E27FC236}">
                  <a16:creationId xmlns:a16="http://schemas.microsoft.com/office/drawing/2014/main" id="{B9A8DD02-45B8-4369-B365-BE27FFA66354}"/>
                </a:ext>
              </a:extLst>
            </p:cNvPr>
            <p:cNvSpPr/>
            <p:nvPr/>
          </p:nvSpPr>
          <p:spPr>
            <a:xfrm>
              <a:off x="2232832" y="4189713"/>
              <a:ext cx="489339" cy="213486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9322F7B5-754E-4D0C-8681-287BE2D84892}"/>
                </a:ext>
              </a:extLst>
            </p:cNvPr>
            <p:cNvSpPr txBox="1"/>
            <p:nvPr/>
          </p:nvSpPr>
          <p:spPr>
            <a:xfrm>
              <a:off x="2517946" y="4377450"/>
              <a:ext cx="17775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提供 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  <a:ea typeface="微軟正黑體" panose="020B0604030504040204" pitchFamily="34" charset="-120"/>
                </a:rPr>
                <a:t>function call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tools metadata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user/system/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ea typeface="微軟正黑體" panose="020B0604030504040204" pitchFamily="34" charset="-120"/>
                </a:rPr>
                <a:t>tool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/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ea typeface="微軟正黑體" panose="020B0604030504040204" pitchFamily="34" charset="-120"/>
                </a:rPr>
                <a:t>assistance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prompt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A171A08A-9344-4DB0-8807-C4E586432169}"/>
              </a:ext>
            </a:extLst>
          </p:cNvPr>
          <p:cNvGrpSpPr/>
          <p:nvPr/>
        </p:nvGrpSpPr>
        <p:grpSpPr>
          <a:xfrm>
            <a:off x="5101024" y="5577663"/>
            <a:ext cx="2986657" cy="646331"/>
            <a:chOff x="5159979" y="3932363"/>
            <a:chExt cx="2986657" cy="646331"/>
          </a:xfrm>
        </p:grpSpPr>
        <p:sp>
          <p:nvSpPr>
            <p:cNvPr id="178" name="七邊形 177">
              <a:extLst>
                <a:ext uri="{FF2B5EF4-FFF2-40B4-BE49-F238E27FC236}">
                  <a16:creationId xmlns:a16="http://schemas.microsoft.com/office/drawing/2014/main" id="{02C27503-EA5A-4E80-A0FA-4C8E4F2D0A03}"/>
                </a:ext>
              </a:extLst>
            </p:cNvPr>
            <p:cNvSpPr/>
            <p:nvPr/>
          </p:nvSpPr>
          <p:spPr>
            <a:xfrm>
              <a:off x="5159979" y="3961892"/>
              <a:ext cx="295222" cy="22012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F02EEB78-376F-495B-8E75-93E5E195CAD2}"/>
                </a:ext>
              </a:extLst>
            </p:cNvPr>
            <p:cNvSpPr txBox="1"/>
            <p:nvPr/>
          </p:nvSpPr>
          <p:spPr>
            <a:xfrm>
              <a:off x="5465708" y="3932363"/>
              <a:ext cx="2680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決定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是否呼叫</a:t>
              </a:r>
              <a:r>
                <a:rPr lang="zh-TW" altLang="en-US" sz="1200" kern="0" dirty="0">
                  <a:solidFill>
                    <a:prstClr val="black"/>
                  </a:solidFill>
                </a:rPr>
                <a:t> </a:t>
              </a:r>
              <a:r>
                <a:rPr lang="en-US" altLang="zh-TW" sz="1200" kern="0" dirty="0">
                  <a:solidFill>
                    <a:prstClr val="black"/>
                  </a:solidFill>
                </a:rPr>
                <a:t>tool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調用哪個</a:t>
              </a:r>
              <a:r>
                <a:rPr lang="zh-TW" altLang="en-US" sz="1200" kern="0" dirty="0">
                  <a:solidFill>
                    <a:prstClr val="black"/>
                  </a:solidFill>
                </a:rPr>
                <a:t> </a:t>
              </a:r>
              <a:r>
                <a:rPr lang="en-US" altLang="zh-TW" sz="1200" kern="0" dirty="0">
                  <a:solidFill>
                    <a:prstClr val="black"/>
                  </a:solidFill>
                </a:rPr>
                <a:t>tool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及參數</a:t>
              </a:r>
            </a:p>
          </p:txBody>
        </p:sp>
      </p:grpSp>
      <p:cxnSp>
        <p:nvCxnSpPr>
          <p:cNvPr id="188" name="直線單箭頭接點 187">
            <a:extLst>
              <a:ext uri="{FF2B5EF4-FFF2-40B4-BE49-F238E27FC236}">
                <a16:creationId xmlns:a16="http://schemas.microsoft.com/office/drawing/2014/main" id="{97D1FDCB-44B2-463E-81D9-A7EA2123C6C5}"/>
              </a:ext>
            </a:extLst>
          </p:cNvPr>
          <p:cNvCxnSpPr>
            <a:cxnSpLocks/>
            <a:stCxn id="153" idx="2"/>
            <a:endCxn id="6" idx="2"/>
          </p:cNvCxnSpPr>
          <p:nvPr/>
        </p:nvCxnSpPr>
        <p:spPr>
          <a:xfrm flipH="1" flipV="1">
            <a:off x="5027557" y="3714992"/>
            <a:ext cx="364" cy="133562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89" name="群組 188">
            <a:extLst>
              <a:ext uri="{FF2B5EF4-FFF2-40B4-BE49-F238E27FC236}">
                <a16:creationId xmlns:a16="http://schemas.microsoft.com/office/drawing/2014/main" id="{B49C477D-2160-4C15-B013-9D8B2B88F033}"/>
              </a:ext>
            </a:extLst>
          </p:cNvPr>
          <p:cNvGrpSpPr/>
          <p:nvPr/>
        </p:nvGrpSpPr>
        <p:grpSpPr>
          <a:xfrm>
            <a:off x="5030025" y="4393898"/>
            <a:ext cx="2030072" cy="461665"/>
            <a:chOff x="7585631" y="3062848"/>
            <a:chExt cx="2030072" cy="461665"/>
          </a:xfrm>
        </p:grpSpPr>
        <p:sp>
          <p:nvSpPr>
            <p:cNvPr id="190" name="七邊形 189">
              <a:extLst>
                <a:ext uri="{FF2B5EF4-FFF2-40B4-BE49-F238E27FC236}">
                  <a16:creationId xmlns:a16="http://schemas.microsoft.com/office/drawing/2014/main" id="{0510C781-7FD7-472A-B263-7D8BA1B27026}"/>
                </a:ext>
              </a:extLst>
            </p:cNvPr>
            <p:cNvSpPr/>
            <p:nvPr/>
          </p:nvSpPr>
          <p:spPr>
            <a:xfrm>
              <a:off x="7585631" y="3152862"/>
              <a:ext cx="498931" cy="243352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4-1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A43FBA84-320B-45DA-9CE8-409BBE45AD3B}"/>
                </a:ext>
              </a:extLst>
            </p:cNvPr>
            <p:cNvSpPr txBox="1"/>
            <p:nvPr/>
          </p:nvSpPr>
          <p:spPr>
            <a:xfrm>
              <a:off x="8048266" y="3062848"/>
              <a:ext cx="1567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若無工具需呼叫，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直接回傳結果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7234F9E0-F332-41B2-AB33-21037B2E24AF}"/>
              </a:ext>
            </a:extLst>
          </p:cNvPr>
          <p:cNvGrpSpPr/>
          <p:nvPr/>
        </p:nvGrpSpPr>
        <p:grpSpPr>
          <a:xfrm>
            <a:off x="1394418" y="3018230"/>
            <a:ext cx="2085352" cy="461665"/>
            <a:chOff x="2017548" y="3921580"/>
            <a:chExt cx="2085352" cy="461665"/>
          </a:xfrm>
        </p:grpSpPr>
        <p:sp>
          <p:nvSpPr>
            <p:cNvPr id="203" name="文字方塊 202">
              <a:extLst>
                <a:ext uri="{FF2B5EF4-FFF2-40B4-BE49-F238E27FC236}">
                  <a16:creationId xmlns:a16="http://schemas.microsoft.com/office/drawing/2014/main" id="{8C4C7272-9212-4979-AD45-8142934BF6DD}"/>
                </a:ext>
              </a:extLst>
            </p:cNvPr>
            <p:cNvSpPr txBox="1"/>
            <p:nvPr/>
          </p:nvSpPr>
          <p:spPr>
            <a:xfrm>
              <a:off x="2251833" y="3921580"/>
              <a:ext cx="1851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</a:rPr>
                <a:t>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all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</a:rPr>
                <a:t>async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chat API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(SSE)</a:t>
              </a:r>
            </a:p>
          </p:txBody>
        </p:sp>
        <p:sp>
          <p:nvSpPr>
            <p:cNvPr id="204" name="七邊形 203">
              <a:extLst>
                <a:ext uri="{FF2B5EF4-FFF2-40B4-BE49-F238E27FC236}">
                  <a16:creationId xmlns:a16="http://schemas.microsoft.com/office/drawing/2014/main" id="{049FF74E-0675-4075-8E50-9FA690C20CB1}"/>
                </a:ext>
              </a:extLst>
            </p:cNvPr>
            <p:cNvSpPr/>
            <p:nvPr/>
          </p:nvSpPr>
          <p:spPr>
            <a:xfrm>
              <a:off x="2017548" y="3935196"/>
              <a:ext cx="295271" cy="22076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217" name="直線單箭頭接點 216">
            <a:extLst>
              <a:ext uri="{FF2B5EF4-FFF2-40B4-BE49-F238E27FC236}">
                <a16:creationId xmlns:a16="http://schemas.microsoft.com/office/drawing/2014/main" id="{04664466-984F-4339-9C6C-154C7EFB662B}"/>
              </a:ext>
            </a:extLst>
          </p:cNvPr>
          <p:cNvCxnSpPr>
            <a:cxnSpLocks/>
            <a:stCxn id="150" idx="0"/>
          </p:cNvCxnSpPr>
          <p:nvPr/>
        </p:nvCxnSpPr>
        <p:spPr>
          <a:xfrm flipH="1" flipV="1">
            <a:off x="5027557" y="5050621"/>
            <a:ext cx="363" cy="1216889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9A5ADC5-449C-4AFB-B6CB-1370F1A6AB75}"/>
              </a:ext>
            </a:extLst>
          </p:cNvPr>
          <p:cNvSpPr/>
          <p:nvPr/>
        </p:nvSpPr>
        <p:spPr>
          <a:xfrm>
            <a:off x="4243839" y="2760572"/>
            <a:ext cx="1567436" cy="9544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function call</a:t>
            </a:r>
          </a:p>
          <a:p>
            <a:pPr algn="ctr"/>
            <a:r>
              <a:rPr lang="en-US" altLang="zh-TW" dirty="0"/>
              <a:t>tools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F7027DD-6032-4B46-BE64-5480CDC1C1D8}"/>
              </a:ext>
            </a:extLst>
          </p:cNvPr>
          <p:cNvGrpSpPr/>
          <p:nvPr/>
        </p:nvGrpSpPr>
        <p:grpSpPr>
          <a:xfrm>
            <a:off x="5027557" y="3728059"/>
            <a:ext cx="2100704" cy="461665"/>
            <a:chOff x="5061737" y="3639121"/>
            <a:chExt cx="2100704" cy="461665"/>
          </a:xfrm>
        </p:grpSpPr>
        <p:sp>
          <p:nvSpPr>
            <p:cNvPr id="69" name="七邊形 68">
              <a:extLst>
                <a:ext uri="{FF2B5EF4-FFF2-40B4-BE49-F238E27FC236}">
                  <a16:creationId xmlns:a16="http://schemas.microsoft.com/office/drawing/2014/main" id="{33CF407B-E9B9-4473-819B-187DFCEB1017}"/>
                </a:ext>
              </a:extLst>
            </p:cNvPr>
            <p:cNvSpPr/>
            <p:nvPr/>
          </p:nvSpPr>
          <p:spPr>
            <a:xfrm>
              <a:off x="5061737" y="3758508"/>
              <a:ext cx="484852" cy="214764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4-2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1083973B-6169-42D6-9E5E-16FA793B52A0}"/>
                </a:ext>
              </a:extLst>
            </p:cNvPr>
            <p:cNvSpPr txBox="1"/>
            <p:nvPr/>
          </p:nvSpPr>
          <p:spPr>
            <a:xfrm>
              <a:off x="5546589" y="3639121"/>
              <a:ext cx="161585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1200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調用指定之 </a:t>
              </a:r>
              <a:r>
                <a:rPr lang="en-US" altLang="zh-TW" sz="1200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function call tool</a:t>
              </a:r>
              <a:r>
                <a:rPr lang="zh-TW" altLang="en-US" sz="1200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並帶入參數</a:t>
              </a:r>
            </a:p>
          </p:txBody>
        </p:sp>
      </p:grpSp>
      <p:cxnSp>
        <p:nvCxnSpPr>
          <p:cNvPr id="73" name="接點: 弧形 72">
            <a:extLst>
              <a:ext uri="{FF2B5EF4-FFF2-40B4-BE49-F238E27FC236}">
                <a16:creationId xmlns:a16="http://schemas.microsoft.com/office/drawing/2014/main" id="{8831DD20-E5ED-49E8-89FD-246DBCBDCC7C}"/>
              </a:ext>
            </a:extLst>
          </p:cNvPr>
          <p:cNvCxnSpPr>
            <a:cxnSpLocks/>
            <a:stCxn id="6" idx="2"/>
            <a:endCxn id="175" idx="6"/>
          </p:cNvCxnSpPr>
          <p:nvPr/>
        </p:nvCxnSpPr>
        <p:spPr>
          <a:xfrm rot="5400000">
            <a:off x="3595530" y="3390847"/>
            <a:ext cx="1107883" cy="1756172"/>
          </a:xfrm>
          <a:prstGeom prst="curvedConnector3">
            <a:avLst>
              <a:gd name="adj1" fmla="val 7586"/>
            </a:avLst>
          </a:prstGeom>
          <a:noFill/>
          <a:ln w="6350" cap="flat" cmpd="sng" algn="ctr">
            <a:solidFill>
              <a:srgbClr val="7030A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2EEE0DBE-FC8D-42F9-8916-04A612EE5C82}"/>
              </a:ext>
            </a:extLst>
          </p:cNvPr>
          <p:cNvCxnSpPr>
            <a:cxnSpLocks/>
            <a:stCxn id="175" idx="6"/>
            <a:endCxn id="150" idx="0"/>
          </p:cNvCxnSpPr>
          <p:nvPr/>
        </p:nvCxnSpPr>
        <p:spPr>
          <a:xfrm>
            <a:off x="3271385" y="4822875"/>
            <a:ext cx="1756535" cy="1444635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737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3"/>
            <a:ext cx="7187424" cy="5269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01-spring-ai-chat-gpt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套件與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熟悉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MCP client &amp;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</a:t>
            </a:r>
          </a:p>
          <a:p>
            <a:pPr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spring security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相關套件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整合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認證授權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04-copilot-mcp-with-spring-ai-mcp-server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copilot plugin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串接自行撰寫之轉帳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05-mcp-inspector-debug-spring-ai-mcp-server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inspector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5A8D577-0C26-47ED-BB34-ABD00D1CA14D}"/>
              </a:ext>
            </a:extLst>
          </p:cNvPr>
          <p:cNvSpPr/>
          <p:nvPr/>
        </p:nvSpPr>
        <p:spPr>
          <a:xfrm>
            <a:off x="3558980" y="971139"/>
            <a:ext cx="5479143" cy="1627682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8653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Lab02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套件說明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E7B0BC8-A0CB-4B8A-B85A-A74CB0B39FE6}"/>
              </a:ext>
            </a:extLst>
          </p:cNvPr>
          <p:cNvSpPr txBox="1"/>
          <p:nvPr/>
        </p:nvSpPr>
        <p:spPr>
          <a:xfrm>
            <a:off x="834187" y="1408075"/>
            <a:ext cx="291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Maven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/>
              <a:t>MCP Client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套件引用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1DFEA3A-E5A4-4BC8-AEA9-6E42A653BDCF}"/>
              </a:ext>
            </a:extLst>
          </p:cNvPr>
          <p:cNvSpPr txBox="1"/>
          <p:nvPr/>
        </p:nvSpPr>
        <p:spPr>
          <a:xfrm>
            <a:off x="756920" y="1749719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977C1D3E-7945-45A6-A11D-4DBC0F9E1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32" y="1793610"/>
            <a:ext cx="5402580" cy="2067612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FE43A74B-0075-4045-AA7E-CF1F495DBE5E}"/>
              </a:ext>
            </a:extLst>
          </p:cNvPr>
          <p:cNvGrpSpPr/>
          <p:nvPr/>
        </p:nvGrpSpPr>
        <p:grpSpPr>
          <a:xfrm>
            <a:off x="886932" y="4088801"/>
            <a:ext cx="7627620" cy="2079095"/>
            <a:chOff x="1440180" y="4269430"/>
            <a:chExt cx="7627620" cy="2079095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2C7B5F7-FAF8-4DB7-BE20-4B8BF467A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0180" y="4651343"/>
              <a:ext cx="7627620" cy="1697182"/>
            </a:xfrm>
            <a:prstGeom prst="rect">
              <a:avLst/>
            </a:prstGeom>
          </p:spPr>
        </p:pic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7867A9E-8855-412E-A4BB-097F9509CF8B}"/>
                </a:ext>
              </a:extLst>
            </p:cNvPr>
            <p:cNvSpPr txBox="1"/>
            <p:nvPr/>
          </p:nvSpPr>
          <p:spPr>
            <a:xfrm>
              <a:off x="1501140" y="4269430"/>
              <a:ext cx="2925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Maven MCP server </a:t>
              </a:r>
              <a:r>
                <a:rPr lang="zh-TW" altLang="en-US" dirty="0"/>
                <a:t>套件引用</a:t>
              </a:r>
              <a:r>
                <a:rPr lang="en-US" altLang="zh-TW" dirty="0"/>
                <a:t> 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60893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Lab02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架構說明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58ED42D-4AEF-4748-95F1-8F16CE854ACE}"/>
              </a:ext>
            </a:extLst>
          </p:cNvPr>
          <p:cNvGrpSpPr/>
          <p:nvPr/>
        </p:nvGrpSpPr>
        <p:grpSpPr>
          <a:xfrm>
            <a:off x="899305" y="2035564"/>
            <a:ext cx="3238712" cy="3435395"/>
            <a:chOff x="2145818" y="2417271"/>
            <a:chExt cx="2353003" cy="2495898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ECD2B5D-EE7D-42FF-9232-797041522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5818" y="2417271"/>
              <a:ext cx="2353003" cy="2495898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5BF29C5-671B-429C-847C-D363B87616D2}"/>
                </a:ext>
              </a:extLst>
            </p:cNvPr>
            <p:cNvSpPr/>
            <p:nvPr/>
          </p:nvSpPr>
          <p:spPr>
            <a:xfrm>
              <a:off x="2360761" y="2899409"/>
              <a:ext cx="2089954" cy="6781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7528EC8-F44B-4E8B-982A-0C26EE51E10D}"/>
              </a:ext>
            </a:extLst>
          </p:cNvPr>
          <p:cNvSpPr txBox="1"/>
          <p:nvPr/>
        </p:nvSpPr>
        <p:spPr>
          <a:xfrm>
            <a:off x="4476461" y="1580554"/>
            <a:ext cx="44527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>
                <a:ea typeface="微軟正黑體" panose="020B0604030504040204" pitchFamily="34" charset="-120"/>
              </a:rPr>
              <a:t>MCP Host 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spring-ai-</a:t>
            </a:r>
            <a:r>
              <a:rPr lang="en-US" altLang="zh-TW" dirty="0" err="1">
                <a:solidFill>
                  <a:schemeClr val="accent1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-client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1500" dirty="0">
                <a:ea typeface="微軟正黑體" panose="020B0604030504040204" pitchFamily="34" charset="-120"/>
              </a:rPr>
              <a:t>為每個串接之 </a:t>
            </a:r>
            <a:r>
              <a:rPr lang="en-US" altLang="zh-TW" sz="1500" dirty="0">
                <a:ea typeface="微軟正黑體" panose="020B0604030504040204" pitchFamily="34" charset="-120"/>
              </a:rPr>
              <a:t>MCP server </a:t>
            </a:r>
            <a:r>
              <a:rPr lang="zh-TW" altLang="en-US" sz="1500" dirty="0">
                <a:ea typeface="微軟正黑體" panose="020B0604030504040204" pitchFamily="34" charset="-120"/>
              </a:rPr>
              <a:t>創建一個 </a:t>
            </a:r>
            <a:r>
              <a:rPr lang="en-US" altLang="zh-TW" sz="1500" dirty="0">
                <a:ea typeface="微軟正黑體" panose="020B0604030504040204" pitchFamily="34" charset="-120"/>
              </a:rPr>
              <a:t>MCP client</a:t>
            </a:r>
          </a:p>
          <a:p>
            <a:pPr marL="342900" indent="-342900">
              <a:buAutoNum type="arabicPeriod"/>
            </a:pPr>
            <a:r>
              <a:rPr lang="en-US" altLang="zh-TW" dirty="0">
                <a:ea typeface="微軟正黑體" panose="020B0604030504040204" pitchFamily="34" charset="-120"/>
              </a:rPr>
              <a:t>MCP Server: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spring-ai-</a:t>
            </a:r>
            <a:r>
              <a:rPr lang="en-US" altLang="zh-TW" dirty="0" err="1">
                <a:solidFill>
                  <a:schemeClr val="accent1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-server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ea typeface="微軟正黑體" panose="020B0604030504040204" pitchFamily="34" charset="-120"/>
              </a:rPr>
              <a:t>KongTool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listKongRoutesWithPlugin</a:t>
            </a:r>
            <a:endParaRPr lang="en-US" altLang="zh-TW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ea typeface="微軟正黑體" panose="020B0604030504040204" pitchFamily="34" charset="-120"/>
              </a:rPr>
              <a:t>UUIDTool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generateUUID</a:t>
            </a:r>
            <a:endParaRPr lang="en-US" altLang="zh-TW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spring-ai-</a:t>
            </a:r>
            <a:r>
              <a:rPr lang="en-US" altLang="zh-TW" dirty="0" err="1">
                <a:solidFill>
                  <a:schemeClr val="accent1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-server-account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>
                <a:ea typeface="微軟正黑體" panose="020B0604030504040204" pitchFamily="34" charset="-120"/>
              </a:rPr>
              <a:t>AccountTool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getBalance</a:t>
            </a:r>
            <a:endParaRPr lang="en-US" altLang="zh-TW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2"/>
                </a:solidFill>
                <a:ea typeface="微軟正黑體" panose="020B0604030504040204" pitchFamily="34" charset="-120"/>
              </a:rPr>
              <a:t>transfer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getTransferHistory</a:t>
            </a:r>
            <a:endParaRPr lang="zh-TW" altLang="en-US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A07C4B3-E14E-4332-A8CA-C9AD741190F7}"/>
              </a:ext>
            </a:extLst>
          </p:cNvPr>
          <p:cNvSpPr txBox="1"/>
          <p:nvPr/>
        </p:nvSpPr>
        <p:spPr>
          <a:xfrm>
            <a:off x="1859563" y="1602840"/>
            <a:ext cx="138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目錄結構</a:t>
            </a:r>
          </a:p>
        </p:txBody>
      </p:sp>
    </p:spTree>
    <p:extLst>
      <p:ext uri="{BB962C8B-B14F-4D97-AF65-F5344CB8AC3E}">
        <p14:creationId xmlns:p14="http://schemas.microsoft.com/office/powerpoint/2010/main" val="18514192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V="1">
            <a:off x="9457203" y="6296006"/>
            <a:ext cx="429306" cy="424797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74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491" y="6508404"/>
            <a:ext cx="2728964" cy="220763"/>
          </a:xfrm>
        </p:spPr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970310" y="6350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運作說明圖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415FCE2-203E-4239-B3CB-82D5AD447F21}"/>
              </a:ext>
            </a:extLst>
          </p:cNvPr>
          <p:cNvSpPr/>
          <p:nvPr/>
        </p:nvSpPr>
        <p:spPr>
          <a:xfrm>
            <a:off x="4402294" y="6064240"/>
            <a:ext cx="1305316" cy="362559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LLM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3CCC5856-6CEC-40B2-806B-F90B87284EA1}"/>
              </a:ext>
            </a:extLst>
          </p:cNvPr>
          <p:cNvSpPr/>
          <p:nvPr/>
        </p:nvSpPr>
        <p:spPr>
          <a:xfrm>
            <a:off x="8347853" y="2665999"/>
            <a:ext cx="1371600" cy="4247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altLang="zh-TW" kern="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MCP server</a:t>
            </a:r>
            <a:endParaRPr lang="zh-TW" altLang="en-US" kern="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6316B5AC-09B5-49DD-AA36-683D017B0404}"/>
              </a:ext>
            </a:extLst>
          </p:cNvPr>
          <p:cNvGrpSpPr/>
          <p:nvPr/>
        </p:nvGrpSpPr>
        <p:grpSpPr>
          <a:xfrm>
            <a:off x="2995745" y="1643235"/>
            <a:ext cx="4064351" cy="3407386"/>
            <a:chOff x="2457449" y="323849"/>
            <a:chExt cx="2581275" cy="2286001"/>
          </a:xfrm>
        </p:grpSpPr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70484CAB-3865-4210-82C2-448BAE707F2E}"/>
                </a:ext>
              </a:extLst>
            </p:cNvPr>
            <p:cNvSpPr/>
            <p:nvPr/>
          </p:nvSpPr>
          <p:spPr>
            <a:xfrm>
              <a:off x="2457449" y="323849"/>
              <a:ext cx="2581275" cy="2286001"/>
            </a:xfrm>
            <a:prstGeom prst="rect">
              <a:avLst/>
            </a:prstGeom>
            <a:solidFill>
              <a:schemeClr val="accent6">
                <a:lumMod val="95000"/>
              </a:scheme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943B3ACD-6128-4538-ABFD-13FE3E9D56F4}"/>
                </a:ext>
              </a:extLst>
            </p:cNvPr>
            <p:cNvSpPr/>
            <p:nvPr/>
          </p:nvSpPr>
          <p:spPr>
            <a:xfrm>
              <a:off x="3268255" y="640681"/>
              <a:ext cx="930737" cy="7641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MCP client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B42CC29C-41BC-4126-85F6-38EFA31CB9A6}"/>
                </a:ext>
              </a:extLst>
            </p:cNvPr>
            <p:cNvSpPr txBox="1"/>
            <p:nvPr/>
          </p:nvSpPr>
          <p:spPr>
            <a:xfrm>
              <a:off x="3143250" y="447675"/>
              <a:ext cx="11477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MCP host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9280398E-D9DC-4D0C-A8AB-F50FCF8DB36A}"/>
              </a:ext>
            </a:extLst>
          </p:cNvPr>
          <p:cNvCxnSpPr>
            <a:cxnSpLocks/>
            <a:stCxn id="154" idx="3"/>
            <a:endCxn id="151" idx="1"/>
          </p:cNvCxnSpPr>
          <p:nvPr/>
        </p:nvCxnSpPr>
        <p:spPr>
          <a:xfrm>
            <a:off x="5737895" y="2684974"/>
            <a:ext cx="2609958" cy="193424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C167D214-78EC-48C8-9F6A-5586F45EEC27}"/>
              </a:ext>
            </a:extLst>
          </p:cNvPr>
          <p:cNvGrpSpPr/>
          <p:nvPr/>
        </p:nvGrpSpPr>
        <p:grpSpPr>
          <a:xfrm>
            <a:off x="5895870" y="2464376"/>
            <a:ext cx="1019266" cy="276999"/>
            <a:chOff x="8467052" y="1423514"/>
            <a:chExt cx="1019266" cy="276999"/>
          </a:xfrm>
        </p:grpSpPr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15A514E2-790B-4B9E-8F7C-42820548866E}"/>
                </a:ext>
              </a:extLst>
            </p:cNvPr>
            <p:cNvSpPr txBox="1"/>
            <p:nvPr/>
          </p:nvSpPr>
          <p:spPr>
            <a:xfrm>
              <a:off x="8784508" y="1423514"/>
              <a:ext cx="7018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initialize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七邊形 158">
              <a:extLst>
                <a:ext uri="{FF2B5EF4-FFF2-40B4-BE49-F238E27FC236}">
                  <a16:creationId xmlns:a16="http://schemas.microsoft.com/office/drawing/2014/main" id="{BFD91779-5A70-457D-9F02-228B65E8AC4C}"/>
                </a:ext>
              </a:extLst>
            </p:cNvPr>
            <p:cNvSpPr/>
            <p:nvPr/>
          </p:nvSpPr>
          <p:spPr>
            <a:xfrm>
              <a:off x="8467052" y="1445178"/>
              <a:ext cx="348793" cy="233977"/>
            </a:xfrm>
            <a:prstGeom prst="heptagon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427CE322-1C70-46CB-8984-5DA1816904C0}"/>
              </a:ext>
            </a:extLst>
          </p:cNvPr>
          <p:cNvGrpSpPr/>
          <p:nvPr/>
        </p:nvGrpSpPr>
        <p:grpSpPr>
          <a:xfrm>
            <a:off x="5782574" y="2781336"/>
            <a:ext cx="1421853" cy="461665"/>
            <a:chOff x="6172247" y="1872655"/>
            <a:chExt cx="1362015" cy="461665"/>
          </a:xfrm>
        </p:grpSpPr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BDBC9D30-7E4E-45B9-A4EE-861D61A52B5A}"/>
                </a:ext>
              </a:extLst>
            </p:cNvPr>
            <p:cNvSpPr txBox="1"/>
            <p:nvPr/>
          </p:nvSpPr>
          <p:spPr>
            <a:xfrm>
              <a:off x="6634634" y="1872655"/>
              <a:ext cx="8996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</a:rPr>
                <a:t>t</a:t>
              </a:r>
              <a:r>
                <a:rPr kumimoji="0" lang="en-US" altLang="zh-TW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ools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/list (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only once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)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七邊形 161">
              <a:extLst>
                <a:ext uri="{FF2B5EF4-FFF2-40B4-BE49-F238E27FC236}">
                  <a16:creationId xmlns:a16="http://schemas.microsoft.com/office/drawing/2014/main" id="{C6B94522-6EB1-4FAB-88ED-622668AB1FCC}"/>
                </a:ext>
              </a:extLst>
            </p:cNvPr>
            <p:cNvSpPr/>
            <p:nvPr/>
          </p:nvSpPr>
          <p:spPr>
            <a:xfrm>
              <a:off x="6172247" y="1940276"/>
              <a:ext cx="489340" cy="23403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TW" sz="1200" kern="0" dirty="0">
                  <a:solidFill>
                    <a:prstClr val="white"/>
                  </a:solidFill>
                  <a:latin typeface="Calibri" panose="020F0502020204030204"/>
                  <a:ea typeface="新細明體" panose="02020500000000000000" pitchFamily="18" charset="-120"/>
                </a:rPr>
                <a:t>2-1</a:t>
              </a:r>
              <a:endParaRPr lang="zh-TW" altLang="en-US" sz="1200" kern="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endParaRPr>
            </a:p>
          </p:txBody>
        </p:sp>
      </p:grpSp>
      <p:sp>
        <p:nvSpPr>
          <p:cNvPr id="163" name="矩形 162">
            <a:extLst>
              <a:ext uri="{FF2B5EF4-FFF2-40B4-BE49-F238E27FC236}">
                <a16:creationId xmlns:a16="http://schemas.microsoft.com/office/drawing/2014/main" id="{9FD376F5-6E84-4872-B4A7-0AD440164B09}"/>
              </a:ext>
            </a:extLst>
          </p:cNvPr>
          <p:cNvSpPr/>
          <p:nvPr/>
        </p:nvSpPr>
        <p:spPr>
          <a:xfrm>
            <a:off x="121174" y="2921866"/>
            <a:ext cx="1088565" cy="3378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Chat UI</a:t>
            </a:r>
            <a:endParaRPr kumimoji="0" lang="zh-TW" altLang="en-US" sz="1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59012420-D050-4996-8305-D6FDD0F87943}"/>
              </a:ext>
            </a:extLst>
          </p:cNvPr>
          <p:cNvCxnSpPr>
            <a:cxnSpLocks/>
            <a:stCxn id="163" idx="3"/>
            <a:endCxn id="153" idx="1"/>
          </p:cNvCxnSpPr>
          <p:nvPr/>
        </p:nvCxnSpPr>
        <p:spPr>
          <a:xfrm>
            <a:off x="1209739" y="3090796"/>
            <a:ext cx="1786006" cy="256132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BF2B2B75-7343-4767-9845-4D7DF4EA9C04}"/>
              </a:ext>
            </a:extLst>
          </p:cNvPr>
          <p:cNvSpPr/>
          <p:nvPr/>
        </p:nvSpPr>
        <p:spPr>
          <a:xfrm>
            <a:off x="98987" y="3515593"/>
            <a:ext cx="1094662" cy="3797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postman</a:t>
            </a:r>
            <a:endParaRPr kumimoji="0" lang="zh-TW" altLang="en-US" sz="1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74C97FF5-0EC2-48C5-8F46-3EFEADAB85DA}"/>
              </a:ext>
            </a:extLst>
          </p:cNvPr>
          <p:cNvCxnSpPr>
            <a:cxnSpLocks/>
            <a:stCxn id="165" idx="3"/>
            <a:endCxn id="153" idx="1"/>
          </p:cNvCxnSpPr>
          <p:nvPr/>
        </p:nvCxnSpPr>
        <p:spPr>
          <a:xfrm flipV="1">
            <a:off x="1193649" y="3346928"/>
            <a:ext cx="1802096" cy="358539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F1E90FC9-DAE5-4B2B-83D9-DF4A42A139E1}"/>
              </a:ext>
            </a:extLst>
          </p:cNvPr>
          <p:cNvGrpSpPr/>
          <p:nvPr/>
        </p:nvGrpSpPr>
        <p:grpSpPr>
          <a:xfrm>
            <a:off x="1366152" y="3481609"/>
            <a:ext cx="2085352" cy="276999"/>
            <a:chOff x="2017548" y="3921580"/>
            <a:chExt cx="2085352" cy="276999"/>
          </a:xfrm>
        </p:grpSpPr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BDB9ED62-2521-4A7C-ABA1-48DE5F5A6507}"/>
                </a:ext>
              </a:extLst>
            </p:cNvPr>
            <p:cNvSpPr txBox="1"/>
            <p:nvPr/>
          </p:nvSpPr>
          <p:spPr>
            <a:xfrm>
              <a:off x="2251833" y="3921580"/>
              <a:ext cx="18510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</a:rPr>
                <a:t>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all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</a:rPr>
                <a:t>sync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chat API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七邊形 171">
              <a:extLst>
                <a:ext uri="{FF2B5EF4-FFF2-40B4-BE49-F238E27FC236}">
                  <a16:creationId xmlns:a16="http://schemas.microsoft.com/office/drawing/2014/main" id="{56FC70D2-C842-483C-A13F-8EE0A98F28C4}"/>
                </a:ext>
              </a:extLst>
            </p:cNvPr>
            <p:cNvSpPr/>
            <p:nvPr/>
          </p:nvSpPr>
          <p:spPr>
            <a:xfrm>
              <a:off x="2017548" y="3935196"/>
              <a:ext cx="295271" cy="22076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7BEDABD3-EEE3-4618-BF2D-747DD7F567D4}"/>
              </a:ext>
            </a:extLst>
          </p:cNvPr>
          <p:cNvGrpSpPr/>
          <p:nvPr/>
        </p:nvGrpSpPr>
        <p:grpSpPr>
          <a:xfrm>
            <a:off x="3034377" y="4882672"/>
            <a:ext cx="2063846" cy="952160"/>
            <a:chOff x="2231624" y="4256287"/>
            <a:chExt cx="2063846" cy="952160"/>
          </a:xfrm>
        </p:grpSpPr>
        <p:sp>
          <p:nvSpPr>
            <p:cNvPr id="175" name="七邊形 174">
              <a:extLst>
                <a:ext uri="{FF2B5EF4-FFF2-40B4-BE49-F238E27FC236}">
                  <a16:creationId xmlns:a16="http://schemas.microsoft.com/office/drawing/2014/main" id="{B9A8DD02-45B8-4369-B365-BE27FFA66354}"/>
                </a:ext>
              </a:extLst>
            </p:cNvPr>
            <p:cNvSpPr/>
            <p:nvPr/>
          </p:nvSpPr>
          <p:spPr>
            <a:xfrm>
              <a:off x="2231624" y="4256287"/>
              <a:ext cx="489339" cy="213486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2-2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9322F7B5-754E-4D0C-8681-287BE2D84892}"/>
                </a:ext>
              </a:extLst>
            </p:cNvPr>
            <p:cNvSpPr txBox="1"/>
            <p:nvPr/>
          </p:nvSpPr>
          <p:spPr>
            <a:xfrm>
              <a:off x="2517946" y="4377450"/>
              <a:ext cx="17775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提供 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MCP tools metadata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user/system/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ea typeface="微軟正黑體" panose="020B0604030504040204" pitchFamily="34" charset="-120"/>
                </a:rPr>
                <a:t>tool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/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ea typeface="微軟正黑體" panose="020B0604030504040204" pitchFamily="34" charset="-120"/>
                </a:rPr>
                <a:t>assistance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prompt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7" name="群組 176">
            <a:extLst>
              <a:ext uri="{FF2B5EF4-FFF2-40B4-BE49-F238E27FC236}">
                <a16:creationId xmlns:a16="http://schemas.microsoft.com/office/drawing/2014/main" id="{A171A08A-9344-4DB0-8807-C4E586432169}"/>
              </a:ext>
            </a:extLst>
          </p:cNvPr>
          <p:cNvGrpSpPr/>
          <p:nvPr/>
        </p:nvGrpSpPr>
        <p:grpSpPr>
          <a:xfrm>
            <a:off x="5103280" y="5458766"/>
            <a:ext cx="2986657" cy="646331"/>
            <a:chOff x="5159979" y="3932363"/>
            <a:chExt cx="2986657" cy="646331"/>
          </a:xfrm>
        </p:grpSpPr>
        <p:sp>
          <p:nvSpPr>
            <p:cNvPr id="178" name="七邊形 177">
              <a:extLst>
                <a:ext uri="{FF2B5EF4-FFF2-40B4-BE49-F238E27FC236}">
                  <a16:creationId xmlns:a16="http://schemas.microsoft.com/office/drawing/2014/main" id="{02C27503-EA5A-4E80-A0FA-4C8E4F2D0A03}"/>
                </a:ext>
              </a:extLst>
            </p:cNvPr>
            <p:cNvSpPr/>
            <p:nvPr/>
          </p:nvSpPr>
          <p:spPr>
            <a:xfrm>
              <a:off x="5159979" y="3961892"/>
              <a:ext cx="295222" cy="22012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3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F02EEB78-376F-495B-8E75-93E5E195CAD2}"/>
                </a:ext>
              </a:extLst>
            </p:cNvPr>
            <p:cNvSpPr txBox="1"/>
            <p:nvPr/>
          </p:nvSpPr>
          <p:spPr>
            <a:xfrm>
              <a:off x="5465708" y="3932363"/>
              <a:ext cx="2680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決定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是否呼叫工具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調用哪個工具及參數</a:t>
              </a:r>
            </a:p>
          </p:txBody>
        </p:sp>
      </p:grpSp>
      <p:sp>
        <p:nvSpPr>
          <p:cNvPr id="180" name="矩形: 圓角 179">
            <a:extLst>
              <a:ext uri="{FF2B5EF4-FFF2-40B4-BE49-F238E27FC236}">
                <a16:creationId xmlns:a16="http://schemas.microsoft.com/office/drawing/2014/main" id="{2573A659-43C5-454C-94BB-B904559D598B}"/>
              </a:ext>
            </a:extLst>
          </p:cNvPr>
          <p:cNvSpPr/>
          <p:nvPr/>
        </p:nvSpPr>
        <p:spPr>
          <a:xfrm>
            <a:off x="4104200" y="3428221"/>
            <a:ext cx="5121472" cy="525748"/>
          </a:xfrm>
          <a:prstGeom prst="round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3296D6C7-8981-4651-85C1-23F4F21236E4}"/>
              </a:ext>
            </a:extLst>
          </p:cNvPr>
          <p:cNvGrpSpPr/>
          <p:nvPr/>
        </p:nvGrpSpPr>
        <p:grpSpPr>
          <a:xfrm>
            <a:off x="6435144" y="3381877"/>
            <a:ext cx="2319061" cy="461665"/>
            <a:chOff x="11602070" y="6025796"/>
            <a:chExt cx="2319061" cy="461665"/>
          </a:xfrm>
        </p:grpSpPr>
        <p:sp>
          <p:nvSpPr>
            <p:cNvPr id="182" name="文字方塊 181">
              <a:extLst>
                <a:ext uri="{FF2B5EF4-FFF2-40B4-BE49-F238E27FC236}">
                  <a16:creationId xmlns:a16="http://schemas.microsoft.com/office/drawing/2014/main" id="{5BB38434-BB08-4628-853D-30A76CF4677E}"/>
                </a:ext>
              </a:extLst>
            </p:cNvPr>
            <p:cNvSpPr txBox="1"/>
            <p:nvPr/>
          </p:nvSpPr>
          <p:spPr>
            <a:xfrm>
              <a:off x="11932393" y="6025796"/>
              <a:ext cx="19887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向對應之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MCP server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調用該工具及參數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(tools/call)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  <p:sp>
          <p:nvSpPr>
            <p:cNvPr id="183" name="七邊形 182">
              <a:extLst>
                <a:ext uri="{FF2B5EF4-FFF2-40B4-BE49-F238E27FC236}">
                  <a16:creationId xmlns:a16="http://schemas.microsoft.com/office/drawing/2014/main" id="{530D9211-E375-42BF-9237-A1E49394A9C4}"/>
                </a:ext>
              </a:extLst>
            </p:cNvPr>
            <p:cNvSpPr/>
            <p:nvPr/>
          </p:nvSpPr>
          <p:spPr>
            <a:xfrm>
              <a:off x="11602070" y="6149247"/>
              <a:ext cx="322930" cy="24078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5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184" name="接點: 弧形 183">
            <a:extLst>
              <a:ext uri="{FF2B5EF4-FFF2-40B4-BE49-F238E27FC236}">
                <a16:creationId xmlns:a16="http://schemas.microsoft.com/office/drawing/2014/main" id="{2C5E0D95-BD4C-408F-8556-6E80A00EFB5D}"/>
              </a:ext>
            </a:extLst>
          </p:cNvPr>
          <p:cNvCxnSpPr>
            <a:cxnSpLocks/>
            <a:stCxn id="151" idx="2"/>
            <a:endCxn id="175" idx="6"/>
          </p:cNvCxnSpPr>
          <p:nvPr/>
        </p:nvCxnSpPr>
        <p:spPr>
          <a:xfrm rot="5400000">
            <a:off x="5260412" y="1109431"/>
            <a:ext cx="1791876" cy="5754606"/>
          </a:xfrm>
          <a:prstGeom prst="curvedConnector3">
            <a:avLst>
              <a:gd name="adj1" fmla="val -54896"/>
            </a:avLst>
          </a:prstGeom>
          <a:noFill/>
          <a:ln w="6350" cap="flat" cmpd="sng" algn="ctr">
            <a:solidFill>
              <a:srgbClr val="7030A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5" name="直線單箭頭接點 184">
            <a:extLst>
              <a:ext uri="{FF2B5EF4-FFF2-40B4-BE49-F238E27FC236}">
                <a16:creationId xmlns:a16="http://schemas.microsoft.com/office/drawing/2014/main" id="{ED173BE3-AA79-4471-858A-10D724634D8C}"/>
              </a:ext>
            </a:extLst>
          </p:cNvPr>
          <p:cNvCxnSpPr>
            <a:cxnSpLocks/>
            <a:stCxn id="154" idx="2"/>
            <a:endCxn id="151" idx="2"/>
          </p:cNvCxnSpPr>
          <p:nvPr/>
        </p:nvCxnSpPr>
        <p:spPr>
          <a:xfrm flipV="1">
            <a:off x="5005148" y="3090796"/>
            <a:ext cx="4028505" cy="163664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1FCC344A-0379-41E1-9166-A1E018A1BDE8}"/>
              </a:ext>
            </a:extLst>
          </p:cNvPr>
          <p:cNvCxnSpPr>
            <a:cxnSpLocks/>
            <a:stCxn id="180" idx="2"/>
            <a:endCxn id="187" idx="1"/>
          </p:cNvCxnSpPr>
          <p:nvPr/>
        </p:nvCxnSpPr>
        <p:spPr>
          <a:xfrm>
            <a:off x="6664936" y="3953969"/>
            <a:ext cx="1297983" cy="1222545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7" name="文字方塊 186">
            <a:extLst>
              <a:ext uri="{FF2B5EF4-FFF2-40B4-BE49-F238E27FC236}">
                <a16:creationId xmlns:a16="http://schemas.microsoft.com/office/drawing/2014/main" id="{8B174907-D922-4995-9450-FF863A7FA909}"/>
              </a:ext>
            </a:extLst>
          </p:cNvPr>
          <p:cNvSpPr txBox="1"/>
          <p:nvPr/>
        </p:nvSpPr>
        <p:spPr>
          <a:xfrm>
            <a:off x="7962919" y="4945681"/>
            <a:ext cx="158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kern="0" dirty="0">
                <a:solidFill>
                  <a:srgbClr val="FF0000"/>
                </a:solidFill>
                <a:ea typeface="微軟正黑體" panose="020B0604030504040204" pitchFamily="34" charset="-120"/>
              </a:rPr>
              <a:t>綠框等價於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軟正黑體" panose="020B0604030504040204" pitchFamily="34" charset="-120"/>
              </a:rPr>
              <a:t>function call 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軟正黑體" panose="020B0604030504040204" pitchFamily="34" charset="-120"/>
              </a:rPr>
              <a:t>之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軟正黑體" panose="020B0604030504040204" pitchFamily="34" charset="-120"/>
              </a:rPr>
              <a:t>tool 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軟正黑體" panose="020B0604030504040204" pitchFamily="34" charset="-120"/>
              </a:rPr>
              <a:t>實作</a:t>
            </a:r>
          </a:p>
        </p:txBody>
      </p:sp>
      <p:cxnSp>
        <p:nvCxnSpPr>
          <p:cNvPr id="188" name="直線單箭頭接點 187">
            <a:extLst>
              <a:ext uri="{FF2B5EF4-FFF2-40B4-BE49-F238E27FC236}">
                <a16:creationId xmlns:a16="http://schemas.microsoft.com/office/drawing/2014/main" id="{97D1FDCB-44B2-463E-81D9-A7EA2123C6C5}"/>
              </a:ext>
            </a:extLst>
          </p:cNvPr>
          <p:cNvCxnSpPr>
            <a:cxnSpLocks/>
            <a:stCxn id="153" idx="2"/>
            <a:endCxn id="154" idx="2"/>
          </p:cNvCxnSpPr>
          <p:nvPr/>
        </p:nvCxnSpPr>
        <p:spPr>
          <a:xfrm flipH="1" flipV="1">
            <a:off x="5005148" y="3254460"/>
            <a:ext cx="22773" cy="1796161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89" name="群組 188">
            <a:extLst>
              <a:ext uri="{FF2B5EF4-FFF2-40B4-BE49-F238E27FC236}">
                <a16:creationId xmlns:a16="http://schemas.microsoft.com/office/drawing/2014/main" id="{B49C477D-2160-4C15-B013-9D8B2B88F033}"/>
              </a:ext>
            </a:extLst>
          </p:cNvPr>
          <p:cNvGrpSpPr/>
          <p:nvPr/>
        </p:nvGrpSpPr>
        <p:grpSpPr>
          <a:xfrm>
            <a:off x="5067777" y="4275780"/>
            <a:ext cx="2030072" cy="461665"/>
            <a:chOff x="7585631" y="3062848"/>
            <a:chExt cx="2030072" cy="461665"/>
          </a:xfrm>
        </p:grpSpPr>
        <p:sp>
          <p:nvSpPr>
            <p:cNvPr id="190" name="七邊形 189">
              <a:extLst>
                <a:ext uri="{FF2B5EF4-FFF2-40B4-BE49-F238E27FC236}">
                  <a16:creationId xmlns:a16="http://schemas.microsoft.com/office/drawing/2014/main" id="{0510C781-7FD7-472A-B263-7D8BA1B27026}"/>
                </a:ext>
              </a:extLst>
            </p:cNvPr>
            <p:cNvSpPr/>
            <p:nvPr/>
          </p:nvSpPr>
          <p:spPr>
            <a:xfrm>
              <a:off x="7585631" y="3152862"/>
              <a:ext cx="498931" cy="243352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4-1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A43FBA84-320B-45DA-9CE8-409BBE45AD3B}"/>
                </a:ext>
              </a:extLst>
            </p:cNvPr>
            <p:cNvSpPr txBox="1"/>
            <p:nvPr/>
          </p:nvSpPr>
          <p:spPr>
            <a:xfrm>
              <a:off x="8048266" y="3062848"/>
              <a:ext cx="1567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若無工具需呼叫，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直接回傳結果</a:t>
              </a:r>
              <a:endPara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2" name="七邊形 191">
            <a:extLst>
              <a:ext uri="{FF2B5EF4-FFF2-40B4-BE49-F238E27FC236}">
                <a16:creationId xmlns:a16="http://schemas.microsoft.com/office/drawing/2014/main" id="{613C99CC-E2F8-4624-936C-A7D74B9F991F}"/>
              </a:ext>
            </a:extLst>
          </p:cNvPr>
          <p:cNvSpPr/>
          <p:nvPr/>
        </p:nvSpPr>
        <p:spPr>
          <a:xfrm>
            <a:off x="4166636" y="3490703"/>
            <a:ext cx="484852" cy="214764"/>
          </a:xfrm>
          <a:prstGeom prst="heptagon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4-2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36DBDBA1-BC61-41E2-B06A-F287146BE968}"/>
              </a:ext>
            </a:extLst>
          </p:cNvPr>
          <p:cNvSpPr txBox="1"/>
          <p:nvPr/>
        </p:nvSpPr>
        <p:spPr>
          <a:xfrm>
            <a:off x="4567663" y="3465382"/>
            <a:ext cx="1837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若有工具需呼叫</a:t>
            </a:r>
            <a:r>
              <a:rPr lang="zh-TW" altLang="en-US" sz="1200" kern="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先找工具對應之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MCP client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7234F9E0-F332-41B2-AB33-21037B2E24AF}"/>
              </a:ext>
            </a:extLst>
          </p:cNvPr>
          <p:cNvGrpSpPr/>
          <p:nvPr/>
        </p:nvGrpSpPr>
        <p:grpSpPr>
          <a:xfrm>
            <a:off x="1394418" y="3018230"/>
            <a:ext cx="2085352" cy="461665"/>
            <a:chOff x="2017548" y="3921580"/>
            <a:chExt cx="2085352" cy="461665"/>
          </a:xfrm>
        </p:grpSpPr>
        <p:sp>
          <p:nvSpPr>
            <p:cNvPr id="203" name="文字方塊 202">
              <a:extLst>
                <a:ext uri="{FF2B5EF4-FFF2-40B4-BE49-F238E27FC236}">
                  <a16:creationId xmlns:a16="http://schemas.microsoft.com/office/drawing/2014/main" id="{8C4C7272-9212-4979-AD45-8142934BF6DD}"/>
                </a:ext>
              </a:extLst>
            </p:cNvPr>
            <p:cNvSpPr txBox="1"/>
            <p:nvPr/>
          </p:nvSpPr>
          <p:spPr>
            <a:xfrm>
              <a:off x="2251833" y="3921580"/>
              <a:ext cx="1851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1200" kern="0" dirty="0">
                  <a:solidFill>
                    <a:prstClr val="black"/>
                  </a:solidFill>
                </a:rPr>
                <a:t>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all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</a:rPr>
                <a:t>async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chat API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(SSE)</a:t>
              </a:r>
            </a:p>
          </p:txBody>
        </p:sp>
        <p:sp>
          <p:nvSpPr>
            <p:cNvPr id="204" name="七邊形 203">
              <a:extLst>
                <a:ext uri="{FF2B5EF4-FFF2-40B4-BE49-F238E27FC236}">
                  <a16:creationId xmlns:a16="http://schemas.microsoft.com/office/drawing/2014/main" id="{049FF74E-0675-4075-8E50-9FA690C20CB1}"/>
                </a:ext>
              </a:extLst>
            </p:cNvPr>
            <p:cNvSpPr/>
            <p:nvPr/>
          </p:nvSpPr>
          <p:spPr>
            <a:xfrm>
              <a:off x="2017548" y="3935196"/>
              <a:ext cx="295271" cy="22076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217" name="直線單箭頭接點 216">
            <a:extLst>
              <a:ext uri="{FF2B5EF4-FFF2-40B4-BE49-F238E27FC236}">
                <a16:creationId xmlns:a16="http://schemas.microsoft.com/office/drawing/2014/main" id="{04664466-984F-4339-9C6C-154C7EFB662B}"/>
              </a:ext>
            </a:extLst>
          </p:cNvPr>
          <p:cNvCxnSpPr>
            <a:cxnSpLocks/>
            <a:stCxn id="153" idx="2"/>
            <a:endCxn id="150" idx="0"/>
          </p:cNvCxnSpPr>
          <p:nvPr/>
        </p:nvCxnSpPr>
        <p:spPr>
          <a:xfrm>
            <a:off x="5027921" y="5050621"/>
            <a:ext cx="27031" cy="1013619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8119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spring-ai-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-client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應用設定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B86768B-EBEB-49C3-A5B3-595FA2A4AEF5}"/>
              </a:ext>
            </a:extLst>
          </p:cNvPr>
          <p:cNvGrpSpPr/>
          <p:nvPr/>
        </p:nvGrpSpPr>
        <p:grpSpPr>
          <a:xfrm>
            <a:off x="559683" y="1888581"/>
            <a:ext cx="9320254" cy="3843191"/>
            <a:chOff x="738146" y="1907234"/>
            <a:chExt cx="9320254" cy="3843191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8C8FE9F5-89A4-4384-BF87-ADA0E2E6EEF4}"/>
                </a:ext>
              </a:extLst>
            </p:cNvPr>
            <p:cNvGrpSpPr/>
            <p:nvPr/>
          </p:nvGrpSpPr>
          <p:grpSpPr>
            <a:xfrm>
              <a:off x="738146" y="1907234"/>
              <a:ext cx="8343900" cy="3843191"/>
              <a:chOff x="1676400" y="2026503"/>
              <a:chExt cx="8343900" cy="3843191"/>
            </a:xfrm>
          </p:grpSpPr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290FB28A-03B7-467E-94DF-F20D47634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6400" y="2026503"/>
                <a:ext cx="8343900" cy="3843191"/>
              </a:xfrm>
              <a:prstGeom prst="rect">
                <a:avLst/>
              </a:prstGeom>
            </p:spPr>
          </p:pic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AA2D17C-C9D3-42A6-81CE-B53DBC24E5B5}"/>
                  </a:ext>
                </a:extLst>
              </p:cNvPr>
              <p:cNvSpPr/>
              <p:nvPr/>
            </p:nvSpPr>
            <p:spPr>
              <a:xfrm>
                <a:off x="2349441" y="3221292"/>
                <a:ext cx="1257359" cy="63950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08935AD-659F-41E3-8570-C554B893289D}"/>
                  </a:ext>
                </a:extLst>
              </p:cNvPr>
              <p:cNvSpPr txBox="1"/>
              <p:nvPr/>
            </p:nvSpPr>
            <p:spPr>
              <a:xfrm>
                <a:off x="3606800" y="3272800"/>
                <a:ext cx="19582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>
                    <a:solidFill>
                      <a:srgbClr val="FF0000"/>
                    </a:solidFill>
                  </a:rPr>
                  <a:t>是否開啟 </a:t>
                </a:r>
                <a:r>
                  <a:rPr lang="en-US" altLang="zh-TW" sz="900" dirty="0">
                    <a:solidFill>
                      <a:srgbClr val="FF0000"/>
                    </a:solidFill>
                  </a:rPr>
                  <a:t>spring ai MCP client starter </a:t>
                </a:r>
                <a:r>
                  <a:rPr lang="zh-TW" altLang="en-US" sz="900" dirty="0">
                    <a:solidFill>
                      <a:srgbClr val="FF0000"/>
                    </a:solidFill>
                  </a:rPr>
                  <a:t>自動配置</a:t>
                </a:r>
                <a:endParaRPr lang="en-US" altLang="zh-TW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F12293B-D6E8-4F20-863F-232EDE74A3AF}"/>
                  </a:ext>
                </a:extLst>
              </p:cNvPr>
              <p:cNvSpPr/>
              <p:nvPr/>
            </p:nvSpPr>
            <p:spPr>
              <a:xfrm>
                <a:off x="2349441" y="3860800"/>
                <a:ext cx="1346259" cy="2349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9872F78-7C51-4C7E-A265-9423BCFCEEE7}"/>
                  </a:ext>
                </a:extLst>
              </p:cNvPr>
              <p:cNvSpPr txBox="1"/>
              <p:nvPr/>
            </p:nvSpPr>
            <p:spPr>
              <a:xfrm>
                <a:off x="3663950" y="3832683"/>
                <a:ext cx="253210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>
                    <a:solidFill>
                      <a:srgbClr val="FF0000"/>
                    </a:solidFill>
                  </a:rPr>
                  <a:t>是否應用程式啟動時與 </a:t>
                </a:r>
                <a:r>
                  <a:rPr lang="en-US" altLang="zh-TW" sz="900" dirty="0">
                    <a:solidFill>
                      <a:srgbClr val="FF0000"/>
                    </a:solidFill>
                  </a:rPr>
                  <a:t>MCP</a:t>
                </a:r>
                <a:r>
                  <a:rPr lang="zh-TW" altLang="en-US" sz="9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900" dirty="0">
                    <a:solidFill>
                      <a:srgbClr val="FF0000"/>
                    </a:solidFill>
                  </a:rPr>
                  <a:t>server </a:t>
                </a:r>
                <a:r>
                  <a:rPr lang="zh-TW" altLang="en-US" sz="900" dirty="0">
                    <a:solidFill>
                      <a:srgbClr val="FF0000"/>
                    </a:solidFill>
                  </a:rPr>
                  <a:t>做初始化</a:t>
                </a:r>
                <a:endParaRPr lang="en-US" altLang="zh-TW" sz="9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976311E0-847D-4A9E-BAB2-B9B1A01BB918}"/>
                  </a:ext>
                </a:extLst>
              </p:cNvPr>
              <p:cNvSpPr txBox="1"/>
              <p:nvPr/>
            </p:nvSpPr>
            <p:spPr>
              <a:xfrm>
                <a:off x="3210385" y="4096366"/>
                <a:ext cx="154767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同步或非同步調用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MCP Server</a:t>
                </a:r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CE3E51E-B513-427E-A68F-D39ABFD13D69}"/>
                  </a:ext>
                </a:extLst>
              </p:cNvPr>
              <p:cNvSpPr txBox="1"/>
              <p:nvPr/>
            </p:nvSpPr>
            <p:spPr>
              <a:xfrm>
                <a:off x="3527551" y="4424606"/>
                <a:ext cx="203747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串接 </a:t>
                </a:r>
                <a:r>
                  <a:rPr lang="en-US" altLang="zh-TW" sz="800" dirty="0" err="1">
                    <a:solidFill>
                      <a:srgbClr val="FF0000"/>
                    </a:solidFill>
                  </a:rPr>
                  <a:t>streamable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-http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協定之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MCP server</a:t>
                </a:r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43C2DC46-87CD-4803-BF2E-D7C46D1C92A8}"/>
                  </a:ext>
                </a:extLst>
              </p:cNvPr>
              <p:cNvSpPr txBox="1"/>
              <p:nvPr/>
            </p:nvSpPr>
            <p:spPr>
              <a:xfrm>
                <a:off x="3527551" y="4703023"/>
                <a:ext cx="16169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>
                    <a:solidFill>
                      <a:srgbClr val="FF0000"/>
                    </a:solidFill>
                  </a:rPr>
                  <a:t>MCP server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 暱稱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,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方便記憶即可</a:t>
                </a:r>
                <a:endParaRPr lang="en-US" altLang="zh-TW" sz="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15B89018-3C75-49B7-A428-225C0D65306B}"/>
                </a:ext>
              </a:extLst>
            </p:cNvPr>
            <p:cNvSpPr txBox="1"/>
            <p:nvPr/>
          </p:nvSpPr>
          <p:spPr>
            <a:xfrm>
              <a:off x="8967282" y="4799198"/>
              <a:ext cx="10911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FF0000"/>
                  </a:solidFill>
                </a:rPr>
                <a:t>MCP server base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url</a:t>
              </a:r>
              <a:endParaRPr lang="en-US" altLang="zh-TW" sz="800" dirty="0">
                <a:solidFill>
                  <a:srgbClr val="FF0000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B01FFEE6-A499-4B5F-B3E8-3AC91581D44D}"/>
                </a:ext>
              </a:extLst>
            </p:cNvPr>
            <p:cNvSpPr txBox="1"/>
            <p:nvPr/>
          </p:nvSpPr>
          <p:spPr>
            <a:xfrm>
              <a:off x="8536487" y="5014642"/>
              <a:ext cx="10911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FF0000"/>
                  </a:solidFill>
                </a:rPr>
                <a:t>MCP server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url</a:t>
              </a:r>
              <a:r>
                <a:rPr lang="zh-TW" altLang="en-US" sz="800" dirty="0">
                  <a:solidFill>
                    <a:srgbClr val="FF0000"/>
                  </a:solidFill>
                </a:rPr>
                <a:t> </a:t>
              </a:r>
              <a:r>
                <a:rPr lang="en-US" altLang="zh-TW" sz="800" dirty="0">
                  <a:solidFill>
                    <a:srgbClr val="FF0000"/>
                  </a:solidFill>
                </a:rPr>
                <a:t>path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AA43354-9D2C-409E-94FF-BCCFA840ADC6}"/>
                </a:ext>
              </a:extLst>
            </p:cNvPr>
            <p:cNvSpPr txBox="1"/>
            <p:nvPr/>
          </p:nvSpPr>
          <p:spPr>
            <a:xfrm>
              <a:off x="3819801" y="2920634"/>
              <a:ext cx="9426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client </a:t>
              </a:r>
              <a:r>
                <a:rPr lang="zh-TW" altLang="en-US" sz="900" dirty="0">
                  <a:solidFill>
                    <a:srgbClr val="FF0000"/>
                  </a:solidFill>
                </a:rPr>
                <a:t>名稱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11372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將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儲存至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9E1E4C32-EE29-4F7B-846D-61BF9B2F5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706" y="2737152"/>
            <a:ext cx="4629150" cy="2240706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919E99EC-1071-4118-AAEB-AC0D9C32E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41" y="2994689"/>
            <a:ext cx="3909858" cy="1412058"/>
          </a:xfrm>
          <a:prstGeom prst="rect">
            <a:avLst/>
          </a:prstGeom>
        </p:spPr>
      </p:pic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CDC0407-DC0E-4A01-AE82-CB717F00F1D2}"/>
              </a:ext>
            </a:extLst>
          </p:cNvPr>
          <p:cNvSpPr/>
          <p:nvPr/>
        </p:nvSpPr>
        <p:spPr>
          <a:xfrm>
            <a:off x="4237490" y="3571755"/>
            <a:ext cx="810299" cy="285750"/>
          </a:xfrm>
          <a:prstGeom prst="leftRightArrow">
            <a:avLst/>
          </a:prstGeom>
          <a:solidFill>
            <a:srgbClr val="3D53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6780307-171E-457F-8F40-79720EC0B246}"/>
              </a:ext>
            </a:extLst>
          </p:cNvPr>
          <p:cNvSpPr txBox="1"/>
          <p:nvPr/>
        </p:nvSpPr>
        <p:spPr>
          <a:xfrm>
            <a:off x="2049885" y="2004499"/>
            <a:ext cx="615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客製化 </a:t>
            </a:r>
            <a:r>
              <a:rPr lang="en-US" altLang="zh-TW" dirty="0" err="1">
                <a:ea typeface="微軟正黑體" panose="020B0604030504040204" pitchFamily="34" charset="-120"/>
              </a:rPr>
              <a:t>ChatMemoryRepository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(RedisChatMemoryRepository)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19603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ChatController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EEE6C83C-7761-4935-A5D8-F99A99EA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27" y="2021594"/>
            <a:ext cx="4124931" cy="3381181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4D29C2B5-4AFE-4D3A-9ED0-4AAB8D745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549" y="2021595"/>
            <a:ext cx="4605547" cy="33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67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spring-ai-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應用設定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ABAC029E-49E1-48DD-B805-32CBA943C879}"/>
              </a:ext>
            </a:extLst>
          </p:cNvPr>
          <p:cNvGrpSpPr/>
          <p:nvPr/>
        </p:nvGrpSpPr>
        <p:grpSpPr>
          <a:xfrm>
            <a:off x="3046111" y="1619076"/>
            <a:ext cx="5214008" cy="4366260"/>
            <a:chOff x="1102020" y="1690688"/>
            <a:chExt cx="5214008" cy="4366260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D5C6D103-7433-4BC6-AC66-44C441154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020" y="1690688"/>
              <a:ext cx="3935950" cy="4366260"/>
            </a:xfrm>
            <a:prstGeom prst="rect">
              <a:avLst/>
            </a:prstGeom>
          </p:spPr>
        </p:pic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B733E0C-5EFD-49FD-A536-E45FD29F6764}"/>
                </a:ext>
              </a:extLst>
            </p:cNvPr>
            <p:cNvSpPr txBox="1"/>
            <p:nvPr/>
          </p:nvSpPr>
          <p:spPr>
            <a:xfrm>
              <a:off x="4898270" y="2959871"/>
              <a:ext cx="97230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server </a:t>
              </a:r>
              <a:r>
                <a:rPr lang="zh-TW" altLang="en-US" sz="900" dirty="0">
                  <a:solidFill>
                    <a:srgbClr val="FF0000"/>
                  </a:solidFill>
                </a:rPr>
                <a:t>名稱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4B56954-DDFF-4B6F-BA84-68CF6F3A5C46}"/>
                </a:ext>
              </a:extLst>
            </p:cNvPr>
            <p:cNvSpPr txBox="1"/>
            <p:nvPr/>
          </p:nvSpPr>
          <p:spPr>
            <a:xfrm>
              <a:off x="3791903" y="3175558"/>
              <a:ext cx="25241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</a:t>
              </a:r>
              <a:r>
                <a:rPr lang="zh-TW" altLang="en-US" sz="900" dirty="0">
                  <a:solidFill>
                    <a:srgbClr val="FF0000"/>
                  </a:solidFill>
                </a:rPr>
                <a:t>傳輸協定 </a:t>
              </a:r>
              <a:r>
                <a:rPr lang="en-US" altLang="zh-TW" sz="900" dirty="0">
                  <a:solidFill>
                    <a:srgbClr val="FF0000"/>
                  </a:solidFill>
                </a:rPr>
                <a:t>, </a:t>
              </a:r>
              <a:r>
                <a:rPr lang="zh-TW" altLang="en-US" sz="900" dirty="0">
                  <a:solidFill>
                    <a:srgbClr val="FF0000"/>
                  </a:solidFill>
                </a:rPr>
                <a:t>目前推薦以 </a:t>
              </a:r>
              <a:r>
                <a:rPr lang="en-US" altLang="zh-TW" sz="900" dirty="0" err="1">
                  <a:solidFill>
                    <a:srgbClr val="FF0000"/>
                  </a:solidFill>
                </a:rPr>
                <a:t>streamable</a:t>
              </a:r>
              <a:r>
                <a:rPr lang="en-US" altLang="zh-TW" sz="900" dirty="0">
                  <a:solidFill>
                    <a:srgbClr val="FF0000"/>
                  </a:solidFill>
                </a:rPr>
                <a:t> </a:t>
              </a:r>
              <a:r>
                <a:rPr lang="zh-TW" altLang="en-US" sz="900" dirty="0">
                  <a:solidFill>
                    <a:srgbClr val="FF0000"/>
                  </a:solidFill>
                </a:rPr>
                <a:t>取代 </a:t>
              </a:r>
              <a:r>
                <a:rPr lang="en-US" altLang="zh-TW" sz="900" dirty="0">
                  <a:solidFill>
                    <a:srgbClr val="FF0000"/>
                  </a:solidFill>
                </a:rPr>
                <a:t>SSE  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4838B41-A8D6-4D39-8FD4-70845E105DCE}"/>
                </a:ext>
              </a:extLst>
            </p:cNvPr>
            <p:cNvSpPr txBox="1"/>
            <p:nvPr/>
          </p:nvSpPr>
          <p:spPr>
            <a:xfrm>
              <a:off x="2990095" y="3429000"/>
              <a:ext cx="14971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採同步或非同步實作工具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A108D2B-4194-4434-89D0-FB65A6CA608C}"/>
                </a:ext>
              </a:extLst>
            </p:cNvPr>
            <p:cNvSpPr txBox="1"/>
            <p:nvPr/>
          </p:nvSpPr>
          <p:spPr>
            <a:xfrm>
              <a:off x="3170196" y="3616498"/>
              <a:ext cx="1979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是否開啟 </a:t>
              </a:r>
              <a:r>
                <a:rPr lang="en-US" altLang="zh-TW" sz="900" dirty="0">
                  <a:solidFill>
                    <a:srgbClr val="FF0000"/>
                  </a:solidFill>
                </a:rPr>
                <a:t>spring ai MCP server starter </a:t>
              </a:r>
              <a:r>
                <a:rPr lang="zh-TW" altLang="en-US" sz="900" dirty="0">
                  <a:solidFill>
                    <a:srgbClr val="FF0000"/>
                  </a:solidFill>
                </a:rPr>
                <a:t>自動配置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47BC9E2-1F5B-4184-BC62-7CB19C35F6F1}"/>
                </a:ext>
              </a:extLst>
            </p:cNvPr>
            <p:cNvSpPr txBox="1"/>
            <p:nvPr/>
          </p:nvSpPr>
          <p:spPr>
            <a:xfrm>
              <a:off x="3114256" y="3934260"/>
              <a:ext cx="11719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是否啟用 </a:t>
              </a:r>
              <a:r>
                <a:rPr lang="en-US" altLang="zh-TW" sz="900" dirty="0" err="1">
                  <a:solidFill>
                    <a:srgbClr val="FF0000"/>
                  </a:solidFill>
                </a:rPr>
                <a:t>stdio</a:t>
              </a:r>
              <a:r>
                <a:rPr lang="en-US" altLang="zh-TW" sz="900" dirty="0">
                  <a:solidFill>
                    <a:srgbClr val="FF0000"/>
                  </a:solidFill>
                </a:rPr>
                <a:t> </a:t>
              </a:r>
              <a:r>
                <a:rPr lang="zh-TW" altLang="en-US" sz="900" dirty="0">
                  <a:solidFill>
                    <a:srgbClr val="FF0000"/>
                  </a:solidFill>
                </a:rPr>
                <a:t>協定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586A46E4-5353-48C5-9BA2-813B62AD7C3C}"/>
                </a:ext>
              </a:extLst>
            </p:cNvPr>
            <p:cNvSpPr txBox="1"/>
            <p:nvPr/>
          </p:nvSpPr>
          <p:spPr>
            <a:xfrm>
              <a:off x="3323926" y="4426598"/>
              <a:ext cx="1977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是否自動掃描與註冊 </a:t>
              </a:r>
              <a:r>
                <a:rPr lang="en-US" altLang="zh-TW" sz="900" dirty="0">
                  <a:solidFill>
                    <a:srgbClr val="FF0000"/>
                  </a:solidFill>
                </a:rPr>
                <a:t>MCP </a:t>
              </a:r>
              <a:r>
                <a:rPr lang="zh-TW" altLang="en-US" sz="900" dirty="0">
                  <a:solidFill>
                    <a:srgbClr val="FF0000"/>
                  </a:solidFill>
                </a:rPr>
                <a:t>工具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D5FFAEF-D953-4696-9812-95A7E1509225}"/>
                </a:ext>
              </a:extLst>
            </p:cNvPr>
            <p:cNvSpPr txBox="1"/>
            <p:nvPr/>
          </p:nvSpPr>
          <p:spPr>
            <a:xfrm>
              <a:off x="3844547" y="5398144"/>
              <a:ext cx="24714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server </a:t>
              </a:r>
              <a:r>
                <a:rPr lang="en-US" altLang="zh-TW" sz="900" i="1" dirty="0" err="1">
                  <a:solidFill>
                    <a:srgbClr val="FF0000"/>
                  </a:solidFill>
                </a:rPr>
                <a:t>streamable</a:t>
              </a:r>
              <a:r>
                <a:rPr lang="zh-TW" altLang="en-US" sz="900" dirty="0">
                  <a:solidFill>
                    <a:srgbClr val="FF0000"/>
                  </a:solidFill>
                </a:rPr>
                <a:t> 傳輸協定之 </a:t>
              </a:r>
              <a:r>
                <a:rPr lang="en-US" altLang="zh-TW" sz="900" dirty="0">
                  <a:solidFill>
                    <a:srgbClr val="FF0000"/>
                  </a:solidFill>
                </a:rPr>
                <a:t>endpoint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521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79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00898" y="151413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KongTool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150884E3-1176-4FEC-B8A7-15FBE200E590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7348663" y="2042163"/>
            <a:ext cx="12116" cy="3121078"/>
          </a:xfrm>
          <a:prstGeom prst="line">
            <a:avLst/>
          </a:prstGeom>
          <a:ln w="19050">
            <a:solidFill>
              <a:srgbClr val="3D538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FEF1314-4345-44F6-A328-DC5255855B5F}"/>
              </a:ext>
            </a:extLst>
          </p:cNvPr>
          <p:cNvSpPr txBox="1"/>
          <p:nvPr/>
        </p:nvSpPr>
        <p:spPr>
          <a:xfrm>
            <a:off x="6642803" y="1765164"/>
            <a:ext cx="141172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166CC1F5-EE3B-4076-8FA6-BCE70775BEDB}"/>
              </a:ext>
            </a:extLst>
          </p:cNvPr>
          <p:cNvSpPr txBox="1"/>
          <p:nvPr/>
        </p:nvSpPr>
        <p:spPr>
          <a:xfrm>
            <a:off x="6654919" y="5163241"/>
            <a:ext cx="141172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1200" dirty="0">
                <a:solidFill>
                  <a:srgbClr val="3D5383"/>
                </a:solidFill>
                <a:ea typeface="微軟正黑體" panose="020B0604030504040204" pitchFamily="34" charset="-120"/>
              </a:rPr>
              <a:t>Kong admin API</a:t>
            </a:r>
            <a:endParaRPr lang="zh-TW" altLang="en-US" sz="1200" dirty="0">
              <a:solidFill>
                <a:srgbClr val="3D5383"/>
              </a:solidFill>
              <a:ea typeface="微軟正黑體" panose="020B0604030504040204" pitchFamily="34" charset="-120"/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08F852AD-23BF-4E8D-AEBF-C31409C645CA}"/>
              </a:ext>
            </a:extLst>
          </p:cNvPr>
          <p:cNvSpPr txBox="1"/>
          <p:nvPr/>
        </p:nvSpPr>
        <p:spPr>
          <a:xfrm>
            <a:off x="7579905" y="2988414"/>
            <a:ext cx="2014833" cy="1384995"/>
          </a:xfrm>
          <a:prstGeom prst="rect">
            <a:avLst/>
          </a:prstGeom>
          <a:noFill/>
          <a:ln>
            <a:solidFill>
              <a:schemeClr val="accent6">
                <a:lumMod val="6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調用 </a:t>
            </a:r>
            <a:r>
              <a:rPr lang="en-US" altLang="zh-TW" sz="12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kong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APIM 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產品提供之 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admin API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，獲取 </a:t>
            </a:r>
            <a:r>
              <a:rPr lang="en-US" altLang="zh-TW" sz="12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kong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某 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workspace 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管理之 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APIs 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與其 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plugins 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名稱資訊。</a:t>
            </a:r>
            <a:endParaRPr lang="en-US" altLang="zh-TW" sz="1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若未提供 </a:t>
            </a:r>
            <a:r>
              <a:rPr lang="en-US" altLang="zh-TW" sz="12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kong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workspace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，預設為 </a:t>
            </a:r>
            <a:r>
              <a:rPr lang="en-US" altLang="zh-TW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default</a:t>
            </a:r>
            <a:r>
              <a:rPr lang="zh-TW" altLang="en-US" sz="1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F6D1D96-C85F-4913-847F-F5AC7967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97" y="1738302"/>
            <a:ext cx="5322779" cy="383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58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00898" y="151413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UUIDTool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E732469F-108E-49D8-8303-B8C2B70AC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82" y="1727914"/>
            <a:ext cx="7368540" cy="2334207"/>
          </a:xfrm>
          <a:prstGeom prst="rect">
            <a:avLst/>
          </a:prstGeom>
        </p:spPr>
      </p:pic>
      <p:sp>
        <p:nvSpPr>
          <p:cNvPr id="2" name="矩形: 圓角 1">
            <a:extLst>
              <a:ext uri="{FF2B5EF4-FFF2-40B4-BE49-F238E27FC236}">
                <a16:creationId xmlns:a16="http://schemas.microsoft.com/office/drawing/2014/main" id="{79A21833-DE91-4C53-A19B-27870545087B}"/>
              </a:ext>
            </a:extLst>
          </p:cNvPr>
          <p:cNvSpPr/>
          <p:nvPr/>
        </p:nvSpPr>
        <p:spPr>
          <a:xfrm>
            <a:off x="3029638" y="4549343"/>
            <a:ext cx="3781961" cy="1333041"/>
          </a:xfrm>
          <a:prstGeom prst="roundRect">
            <a:avLst>
              <a:gd name="adj" fmla="val 10301"/>
            </a:avLst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BBCFB9B-F270-4865-A7D9-2EF1A0CD3FF2}"/>
              </a:ext>
            </a:extLst>
          </p:cNvPr>
          <p:cNvSpPr txBox="1"/>
          <p:nvPr/>
        </p:nvSpPr>
        <p:spPr>
          <a:xfrm>
            <a:off x="3170573" y="4741764"/>
            <a:ext cx="3781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D5383"/>
              </a:buClr>
            </a:pP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產生長度為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n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碼之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UUID 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字串</a:t>
            </a:r>
            <a:endParaRPr lang="en-US" altLang="zh-TW" sz="15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若未傳入或傳入超過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UUID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本身長度就回傳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UUID</a:t>
            </a:r>
          </a:p>
          <a:p>
            <a:pPr marL="171450" indent="-1714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若未超過就擷取該長度之 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UUID</a:t>
            </a:r>
            <a:endParaRPr lang="zh-TW" altLang="en-US" sz="15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E92DC7-896A-421F-9CB2-551E9089812C}"/>
              </a:ext>
            </a:extLst>
          </p:cNvPr>
          <p:cNvSpPr txBox="1"/>
          <p:nvPr/>
        </p:nvSpPr>
        <p:spPr>
          <a:xfrm>
            <a:off x="3735524" y="4398576"/>
            <a:ext cx="2113623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>
            <a:defPPr>
              <a:defRPr lang="zh-TW"/>
            </a:defPPr>
            <a:lvl1pPr algn="ctr">
              <a:defRPr sz="1200">
                <a:solidFill>
                  <a:srgbClr val="3D5383"/>
                </a:solidFill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71044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前置作業與環境啟動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B14953BF-03AF-4A28-AA93-1DFC002F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33" y="1786824"/>
            <a:ext cx="2069911" cy="1360505"/>
          </a:xfrm>
          <a:prstGeom prst="rect">
            <a:avLst/>
          </a:prstGeom>
        </p:spPr>
      </p:pic>
      <p:sp>
        <p:nvSpPr>
          <p:cNvPr id="46" name="文字方塊 45">
            <a:extLst>
              <a:ext uri="{FF2B5EF4-FFF2-40B4-BE49-F238E27FC236}">
                <a16:creationId xmlns:a16="http://schemas.microsoft.com/office/drawing/2014/main" id="{6482AAC7-29BC-4B8D-9F1B-24044C3BD2DC}"/>
              </a:ext>
            </a:extLst>
          </p:cNvPr>
          <p:cNvSpPr txBox="1"/>
          <p:nvPr/>
        </p:nvSpPr>
        <p:spPr>
          <a:xfrm>
            <a:off x="751467" y="1346401"/>
            <a:ext cx="545971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dirty="0"/>
              <a:t>1. </a:t>
            </a:r>
            <a:r>
              <a:rPr lang="zh-TW" altLang="en-US" sz="1500" dirty="0"/>
              <a:t>設定 </a:t>
            </a:r>
            <a:r>
              <a:rPr lang="en-US" altLang="zh-TW" sz="1500" dirty="0" err="1"/>
              <a:t>OpenAI</a:t>
            </a:r>
            <a:r>
              <a:rPr lang="en-US" altLang="zh-TW" sz="1500" dirty="0"/>
              <a:t> API</a:t>
            </a:r>
            <a:r>
              <a:rPr lang="zh-TW" altLang="en-US" sz="1500" dirty="0"/>
              <a:t> </a:t>
            </a:r>
            <a:r>
              <a:rPr lang="en-US" altLang="zh-TW" sz="1500" dirty="0"/>
              <a:t>Key (</a:t>
            </a:r>
            <a:r>
              <a:rPr lang="zh-TW" altLang="en-US" sz="1500" dirty="0"/>
              <a:t>來源參考前章節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申請 </a:t>
            </a:r>
            <a:r>
              <a:rPr lang="en-US" altLang="zh-TW" sz="15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 API Key</a:t>
            </a:r>
            <a:r>
              <a:rPr lang="en-US" altLang="zh-TW" sz="1500" dirty="0"/>
              <a:t>)</a:t>
            </a:r>
            <a:endParaRPr lang="zh-TW" altLang="en-US" sz="1500" dirty="0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286F7C39-8CDE-45E9-8AAF-5E4B0F0CE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326" y="1765399"/>
            <a:ext cx="5459717" cy="1728087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08A8013-AF9E-4DC5-BC08-CA55636C477E}"/>
              </a:ext>
            </a:extLst>
          </p:cNvPr>
          <p:cNvSpPr/>
          <p:nvPr/>
        </p:nvSpPr>
        <p:spPr>
          <a:xfrm>
            <a:off x="3481325" y="2403200"/>
            <a:ext cx="2729859" cy="205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2DB062-685E-44A6-B2DB-994C02B33C08}"/>
              </a:ext>
            </a:extLst>
          </p:cNvPr>
          <p:cNvSpPr txBox="1"/>
          <p:nvPr/>
        </p:nvSpPr>
        <p:spPr>
          <a:xfrm>
            <a:off x="1144713" y="3536693"/>
            <a:ext cx="27289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2. </a:t>
            </a:r>
            <a:r>
              <a:rPr lang="zh-TW" altLang="en-US" sz="1500" dirty="0"/>
              <a:t>將 </a:t>
            </a:r>
            <a:r>
              <a:rPr lang="en-US" altLang="zh-TW" sz="1500" dirty="0" err="1"/>
              <a:t>redis</a:t>
            </a:r>
            <a:r>
              <a:rPr lang="en-US" altLang="zh-TW" sz="1500" dirty="0"/>
              <a:t> container </a:t>
            </a:r>
            <a:r>
              <a:rPr lang="zh-TW" altLang="en-US" sz="1500" dirty="0"/>
              <a:t>啟動</a:t>
            </a: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8086A24-3E83-41FE-9913-A793F4B93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713" y="3933361"/>
            <a:ext cx="3546744" cy="857454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1EEE5A-B1ED-4511-A330-BE65A8CAE166}"/>
              </a:ext>
            </a:extLst>
          </p:cNvPr>
          <p:cNvSpPr txBox="1"/>
          <p:nvPr/>
        </p:nvSpPr>
        <p:spPr>
          <a:xfrm>
            <a:off x="4725970" y="3555416"/>
            <a:ext cx="30397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3. </a:t>
            </a:r>
            <a:r>
              <a:rPr lang="zh-TW" altLang="en-US" sz="1500" dirty="0"/>
              <a:t>將 </a:t>
            </a:r>
            <a:r>
              <a:rPr lang="en-US" altLang="zh-TW" sz="1500" dirty="0"/>
              <a:t>spring-ai-</a:t>
            </a:r>
            <a:r>
              <a:rPr lang="en-US" altLang="zh-TW" sz="1500" dirty="0" err="1"/>
              <a:t>mcp</a:t>
            </a:r>
            <a:r>
              <a:rPr lang="en-US" altLang="zh-TW" sz="1500" dirty="0"/>
              <a:t>-server</a:t>
            </a:r>
            <a:r>
              <a:rPr lang="zh-TW" altLang="en-US" sz="1500" dirty="0"/>
              <a:t> 啟動</a:t>
            </a: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71EA0AEB-C5EB-4BF2-A825-151A0478A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2184" y="3859858"/>
            <a:ext cx="3919130" cy="1277148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165F2A99-85D5-4126-9307-41574D6DE083}"/>
              </a:ext>
            </a:extLst>
          </p:cNvPr>
          <p:cNvSpPr txBox="1"/>
          <p:nvPr/>
        </p:nvSpPr>
        <p:spPr>
          <a:xfrm>
            <a:off x="2841903" y="5238423"/>
            <a:ext cx="30397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4. </a:t>
            </a:r>
            <a:r>
              <a:rPr lang="zh-TW" altLang="en-US" sz="1500" dirty="0"/>
              <a:t>將 </a:t>
            </a:r>
            <a:r>
              <a:rPr lang="en-US" altLang="zh-TW" sz="1500" dirty="0"/>
              <a:t>spring-ai-</a:t>
            </a:r>
            <a:r>
              <a:rPr lang="en-US" altLang="zh-TW" sz="1500" dirty="0" err="1"/>
              <a:t>mcp</a:t>
            </a:r>
            <a:r>
              <a:rPr lang="en-US" altLang="zh-TW" sz="1500" dirty="0"/>
              <a:t>-client </a:t>
            </a:r>
            <a:r>
              <a:rPr lang="zh-TW" altLang="en-US" sz="1500" dirty="0"/>
              <a:t>啟動</a:t>
            </a:r>
          </a:p>
          <a:p>
            <a:endParaRPr lang="zh-TW" altLang="en-US" sz="1500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DB95FCF-5F0C-4D90-BA3E-43007649F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844" y="5540319"/>
            <a:ext cx="3918005" cy="111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388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900741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907104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99052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901956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F1C7BA9-F50E-4420-BAE5-D3D9D1D5E062}"/>
              </a:ext>
            </a:extLst>
          </p:cNvPr>
          <p:cNvSpPr txBox="1"/>
          <p:nvPr/>
        </p:nvSpPr>
        <p:spPr>
          <a:xfrm>
            <a:off x="2431992" y="1390272"/>
            <a:ext cx="471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使用 </a:t>
            </a:r>
            <a:r>
              <a:rPr lang="en-US" altLang="zh-TW" dirty="0">
                <a:ea typeface="微軟正黑體" panose="020B0604030504040204" pitchFamily="34" charset="-120"/>
              </a:rPr>
              <a:t>Postman </a:t>
            </a:r>
            <a:r>
              <a:rPr lang="zh-TW" altLang="en-US" dirty="0">
                <a:ea typeface="微軟正黑體" panose="020B0604030504040204" pitchFamily="34" charset="-120"/>
              </a:rPr>
              <a:t>調用 </a:t>
            </a:r>
            <a:r>
              <a:rPr lang="en-US" altLang="zh-TW" dirty="0">
                <a:ea typeface="微軟正黑體" panose="020B0604030504040204" pitchFamily="34" charset="-120"/>
              </a:rPr>
              <a:t>MCP</a:t>
            </a:r>
            <a:r>
              <a:rPr lang="zh-TW" altLang="en-US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Client Chat API </a:t>
            </a:r>
            <a:r>
              <a:rPr lang="zh-TW" altLang="en-US" dirty="0">
                <a:ea typeface="微軟正黑體" panose="020B0604030504040204" pitchFamily="34" charset="-120"/>
              </a:rPr>
              <a:t>來測試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74D106D9-B809-49FE-95D9-37361A96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855" y="1834760"/>
            <a:ext cx="4445232" cy="2063402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B9185BAD-C31B-4231-8216-403EB6ADB53A}"/>
              </a:ext>
            </a:extLst>
          </p:cNvPr>
          <p:cNvSpPr txBox="1"/>
          <p:nvPr/>
        </p:nvSpPr>
        <p:spPr>
          <a:xfrm>
            <a:off x="2484737" y="4086602"/>
            <a:ext cx="1872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測試完成後關閉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98132B76-E1C3-4AEB-B7D3-F13CD38BB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855" y="4527532"/>
            <a:ext cx="4944165" cy="137179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D8CEAA92-DF98-45AD-87E5-D6AA5422D48B}"/>
              </a:ext>
            </a:extLst>
          </p:cNvPr>
          <p:cNvSpPr txBox="1"/>
          <p:nvPr/>
        </p:nvSpPr>
        <p:spPr>
          <a:xfrm>
            <a:off x="4791149" y="2928124"/>
            <a:ext cx="12268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產生長度為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4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的 </a:t>
            </a:r>
            <a:r>
              <a:rPr lang="en-US" altLang="zh-TW" sz="800" b="0" i="0" dirty="0" err="1">
                <a:solidFill>
                  <a:srgbClr val="FF0000"/>
                </a:solidFill>
                <a:effectLst/>
                <a:latin typeface="Inter"/>
              </a:rPr>
              <a:t>uuid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E5DE72D-0B5D-4DCD-82AB-FC7275865345}"/>
              </a:ext>
            </a:extLst>
          </p:cNvPr>
          <p:cNvSpPr txBox="1"/>
          <p:nvPr/>
        </p:nvSpPr>
        <p:spPr>
          <a:xfrm>
            <a:off x="6364813" y="3258917"/>
            <a:ext cx="27944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請查詢 </a:t>
            </a:r>
            <a:r>
              <a:rPr lang="en-US" altLang="zh-TW" sz="800" b="0" i="0" dirty="0" err="1">
                <a:solidFill>
                  <a:srgbClr val="FF0000"/>
                </a:solidFill>
                <a:effectLst/>
                <a:latin typeface="Inter"/>
              </a:rPr>
              <a:t>kong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 workspace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為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'ai'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之所有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routes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及其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plugin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資訊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E4BCCE7-D91A-4BFB-965B-274D489416B8}"/>
              </a:ext>
            </a:extLst>
          </p:cNvPr>
          <p:cNvSpPr txBox="1"/>
          <p:nvPr/>
        </p:nvSpPr>
        <p:spPr>
          <a:xfrm>
            <a:off x="6795384" y="3602231"/>
            <a:ext cx="2575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產生長度為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4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的 </a:t>
            </a:r>
            <a:r>
              <a:rPr lang="en-US" altLang="zh-TW" sz="800" b="0" i="0" dirty="0" err="1">
                <a:solidFill>
                  <a:srgbClr val="FF0000"/>
                </a:solidFill>
                <a:effectLst/>
                <a:latin typeface="Inter"/>
              </a:rPr>
              <a:t>uuid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 ,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並將該值當作 </a:t>
            </a:r>
            <a:r>
              <a:rPr lang="en-US" altLang="zh-TW" sz="800" b="0" i="0" dirty="0" err="1">
                <a:solidFill>
                  <a:srgbClr val="FF0000"/>
                </a:solidFill>
                <a:effectLst/>
                <a:latin typeface="Inter"/>
              </a:rPr>
              <a:t>kong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 workspace </a:t>
            </a:r>
          </a:p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查詢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routes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及其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plugins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資訊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8745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練習題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57D2E411-A148-4BCA-A742-DE7A9B3DF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87" y="1421575"/>
            <a:ext cx="8320830" cy="4859005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請創建一個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TodoListTool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類</a:t>
            </a:r>
          </a:p>
          <a:p>
            <a:pPr>
              <a:buSzPct val="50000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其中放入以下工具方法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add_todo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title:string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建議設計唯一編號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及狀態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初始狀態是未完成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狀態值主要分為未完成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已完成兩種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可自行擴充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list_todos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status:string|enum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require:false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建議方法回傳包括唯一編號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, status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沒帶入就全查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update_todo_status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id:string|long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status:string|enum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update_todo_title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id:string|long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title:string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delete_todo_with_id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id:string|long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SzPct val="50000"/>
            </a:pP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delete_todo_with_status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status:string|enum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SzPct val="50000"/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50000"/>
            </a:pPr>
            <a:endParaRPr lang="en-US" altLang="zh-TW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3517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spring-ai-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-server-account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應用設定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B69402E5-FE33-47C6-BC3C-7533253A6D45}"/>
              </a:ext>
            </a:extLst>
          </p:cNvPr>
          <p:cNvGrpSpPr/>
          <p:nvPr/>
        </p:nvGrpSpPr>
        <p:grpSpPr>
          <a:xfrm>
            <a:off x="2951202" y="1635392"/>
            <a:ext cx="5736243" cy="4366260"/>
            <a:chOff x="1102020" y="1690688"/>
            <a:chExt cx="5736243" cy="4366260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955BB52C-D9CF-4D34-9796-D6E5A343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2020" y="1690688"/>
              <a:ext cx="3935950" cy="4366260"/>
            </a:xfrm>
            <a:prstGeom prst="rect">
              <a:avLst/>
            </a:prstGeom>
          </p:spPr>
        </p:pic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DD3921EB-FC15-4166-8FDB-997AD3CA4AC6}"/>
                </a:ext>
              </a:extLst>
            </p:cNvPr>
            <p:cNvSpPr txBox="1"/>
            <p:nvPr/>
          </p:nvSpPr>
          <p:spPr>
            <a:xfrm>
              <a:off x="4898270" y="2959871"/>
              <a:ext cx="97230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server </a:t>
              </a:r>
              <a:r>
                <a:rPr lang="zh-TW" altLang="en-US" sz="900" dirty="0">
                  <a:solidFill>
                    <a:srgbClr val="FF0000"/>
                  </a:solidFill>
                </a:rPr>
                <a:t>名稱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4CAD7E1A-9020-4F77-8731-3E931C68EBD0}"/>
                </a:ext>
              </a:extLst>
            </p:cNvPr>
            <p:cNvSpPr txBox="1"/>
            <p:nvPr/>
          </p:nvSpPr>
          <p:spPr>
            <a:xfrm>
              <a:off x="3791903" y="3175558"/>
              <a:ext cx="30463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</a:t>
              </a:r>
              <a:r>
                <a:rPr lang="zh-TW" altLang="en-US" sz="900" dirty="0">
                  <a:solidFill>
                    <a:srgbClr val="FF0000"/>
                  </a:solidFill>
                </a:rPr>
                <a:t>傳輸協定 </a:t>
              </a:r>
              <a:r>
                <a:rPr lang="en-US" altLang="zh-TW" sz="900" dirty="0">
                  <a:solidFill>
                    <a:srgbClr val="FF0000"/>
                  </a:solidFill>
                </a:rPr>
                <a:t>, </a:t>
              </a:r>
              <a:r>
                <a:rPr lang="zh-TW" altLang="en-US" sz="900" dirty="0">
                  <a:solidFill>
                    <a:srgbClr val="FF0000"/>
                  </a:solidFill>
                </a:rPr>
                <a:t>目前推薦以 </a:t>
              </a:r>
              <a:r>
                <a:rPr lang="en-US" altLang="zh-TW" sz="900" dirty="0" err="1">
                  <a:solidFill>
                    <a:srgbClr val="FF0000"/>
                  </a:solidFill>
                </a:rPr>
                <a:t>streamable</a:t>
              </a:r>
              <a:r>
                <a:rPr lang="en-US" altLang="zh-TW" sz="900" dirty="0">
                  <a:solidFill>
                    <a:srgbClr val="FF0000"/>
                  </a:solidFill>
                </a:rPr>
                <a:t>  </a:t>
              </a:r>
              <a:r>
                <a:rPr lang="zh-TW" altLang="en-US" sz="900" dirty="0">
                  <a:solidFill>
                    <a:srgbClr val="FF0000"/>
                  </a:solidFill>
                </a:rPr>
                <a:t>取代 </a:t>
              </a:r>
              <a:r>
                <a:rPr lang="en-US" altLang="zh-TW" sz="900" dirty="0">
                  <a:solidFill>
                    <a:srgbClr val="FF0000"/>
                  </a:solidFill>
                </a:rPr>
                <a:t>SSE  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CD44B98-4D11-4C99-95C4-9B2480DF1878}"/>
                </a:ext>
              </a:extLst>
            </p:cNvPr>
            <p:cNvSpPr txBox="1"/>
            <p:nvPr/>
          </p:nvSpPr>
          <p:spPr>
            <a:xfrm>
              <a:off x="2990095" y="3429000"/>
              <a:ext cx="14971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採同步或非同步實作工具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7B41561-A126-4FC3-A45B-3FC9A565AF83}"/>
                </a:ext>
              </a:extLst>
            </p:cNvPr>
            <p:cNvSpPr txBox="1"/>
            <p:nvPr/>
          </p:nvSpPr>
          <p:spPr>
            <a:xfrm>
              <a:off x="3170196" y="3616498"/>
              <a:ext cx="1979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是否開啟 </a:t>
              </a:r>
              <a:r>
                <a:rPr lang="en-US" altLang="zh-TW" sz="900" dirty="0">
                  <a:solidFill>
                    <a:srgbClr val="FF0000"/>
                  </a:solidFill>
                </a:rPr>
                <a:t>spring ai MCP server starter </a:t>
              </a:r>
              <a:r>
                <a:rPr lang="zh-TW" altLang="en-US" sz="900" dirty="0">
                  <a:solidFill>
                    <a:srgbClr val="FF0000"/>
                  </a:solidFill>
                </a:rPr>
                <a:t>自動配置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3E6C55A5-F16D-4E16-83F7-81D3B2668006}"/>
                </a:ext>
              </a:extLst>
            </p:cNvPr>
            <p:cNvSpPr txBox="1"/>
            <p:nvPr/>
          </p:nvSpPr>
          <p:spPr>
            <a:xfrm>
              <a:off x="3114256" y="3934260"/>
              <a:ext cx="11719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是否啟用 </a:t>
              </a:r>
              <a:r>
                <a:rPr lang="en-US" altLang="zh-TW" sz="900" dirty="0" err="1">
                  <a:solidFill>
                    <a:srgbClr val="FF0000"/>
                  </a:solidFill>
                </a:rPr>
                <a:t>stdio</a:t>
              </a:r>
              <a:r>
                <a:rPr lang="en-US" altLang="zh-TW" sz="900" dirty="0">
                  <a:solidFill>
                    <a:srgbClr val="FF0000"/>
                  </a:solidFill>
                </a:rPr>
                <a:t> </a:t>
              </a:r>
              <a:r>
                <a:rPr lang="zh-TW" altLang="en-US" sz="900" dirty="0">
                  <a:solidFill>
                    <a:srgbClr val="FF0000"/>
                  </a:solidFill>
                </a:rPr>
                <a:t>協定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4AD2D23-FE1E-4BA6-81C2-D1AAB851CDAA}"/>
                </a:ext>
              </a:extLst>
            </p:cNvPr>
            <p:cNvSpPr txBox="1"/>
            <p:nvPr/>
          </p:nvSpPr>
          <p:spPr>
            <a:xfrm>
              <a:off x="3323926" y="4426598"/>
              <a:ext cx="1977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rgbClr val="FF0000"/>
                  </a:solidFill>
                </a:rPr>
                <a:t>是否自動掃描與註冊 </a:t>
              </a:r>
              <a:r>
                <a:rPr lang="en-US" altLang="zh-TW" sz="900" dirty="0">
                  <a:solidFill>
                    <a:srgbClr val="FF0000"/>
                  </a:solidFill>
                </a:rPr>
                <a:t>MCP </a:t>
              </a:r>
              <a:r>
                <a:rPr lang="zh-TW" altLang="en-US" sz="900" dirty="0">
                  <a:solidFill>
                    <a:srgbClr val="FF0000"/>
                  </a:solidFill>
                </a:rPr>
                <a:t>工具</a:t>
              </a:r>
              <a:endParaRPr lang="en-US" altLang="zh-TW" sz="900" dirty="0">
                <a:solidFill>
                  <a:srgbClr val="FF0000"/>
                </a:solidFill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059A968-3FA1-4C89-B2D7-6A2A3CB58D27}"/>
                </a:ext>
              </a:extLst>
            </p:cNvPr>
            <p:cNvSpPr txBox="1"/>
            <p:nvPr/>
          </p:nvSpPr>
          <p:spPr>
            <a:xfrm>
              <a:off x="3844547" y="5398144"/>
              <a:ext cx="247148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>
                  <a:solidFill>
                    <a:srgbClr val="FF0000"/>
                  </a:solidFill>
                </a:rPr>
                <a:t>MCP server </a:t>
              </a:r>
              <a:r>
                <a:rPr lang="en-US" altLang="zh-TW" sz="900" dirty="0" err="1">
                  <a:solidFill>
                    <a:srgbClr val="FF0000"/>
                  </a:solidFill>
                </a:rPr>
                <a:t>streamable</a:t>
              </a:r>
              <a:r>
                <a:rPr lang="zh-TW" altLang="en-US" sz="900" dirty="0">
                  <a:solidFill>
                    <a:srgbClr val="FF0000"/>
                  </a:solidFill>
                </a:rPr>
                <a:t> 傳輸協定之 </a:t>
              </a:r>
              <a:r>
                <a:rPr lang="en-US" altLang="zh-TW" sz="900" dirty="0">
                  <a:solidFill>
                    <a:srgbClr val="FF0000"/>
                  </a:solidFill>
                </a:rPr>
                <a:t>endpoint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20687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AccountTool &amp; AccountService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4AFC90D6-485D-4A9D-8EAB-03B21720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184" y="1510723"/>
            <a:ext cx="3890646" cy="3218925"/>
          </a:xfrm>
          <a:prstGeom prst="rect">
            <a:avLst/>
          </a:prstGeom>
        </p:spPr>
      </p:pic>
      <p:sp>
        <p:nvSpPr>
          <p:cNvPr id="45" name="文字方塊 44">
            <a:extLst>
              <a:ext uri="{FF2B5EF4-FFF2-40B4-BE49-F238E27FC236}">
                <a16:creationId xmlns:a16="http://schemas.microsoft.com/office/drawing/2014/main" id="{6EC2240A-1B56-461E-906D-A83BC83CBD54}"/>
              </a:ext>
            </a:extLst>
          </p:cNvPr>
          <p:cNvSpPr txBox="1"/>
          <p:nvPr/>
        </p:nvSpPr>
        <p:spPr>
          <a:xfrm>
            <a:off x="2069710" y="1444621"/>
            <a:ext cx="1411720" cy="3231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5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9A5AB5-F439-438C-A237-4B6337C8B5CC}"/>
              </a:ext>
            </a:extLst>
          </p:cNvPr>
          <p:cNvSpPr/>
          <p:nvPr/>
        </p:nvSpPr>
        <p:spPr>
          <a:xfrm>
            <a:off x="234752" y="2580478"/>
            <a:ext cx="5081636" cy="217113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4650391D-CF1E-4832-A460-FB40195BB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18" y="2778996"/>
            <a:ext cx="2361426" cy="17925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6BD81F8A-D5DD-4BC8-93C6-817811A74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710" y="2799157"/>
            <a:ext cx="2291790" cy="1772353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966B8A7-AEAA-4508-924D-20E05F04D251}"/>
              </a:ext>
            </a:extLst>
          </p:cNvPr>
          <p:cNvCxnSpPr>
            <a:stCxn id="45" idx="2"/>
            <a:endCxn id="49" idx="0"/>
          </p:cNvCxnSpPr>
          <p:nvPr/>
        </p:nvCxnSpPr>
        <p:spPr>
          <a:xfrm flipH="1">
            <a:off x="1550231" y="1767786"/>
            <a:ext cx="1225339" cy="1011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0E58E66-0DF0-40BD-9873-BF5157F0A6EF}"/>
              </a:ext>
            </a:extLst>
          </p:cNvPr>
          <p:cNvCxnSpPr>
            <a:stCxn id="45" idx="2"/>
            <a:endCxn id="50" idx="0"/>
          </p:cNvCxnSpPr>
          <p:nvPr/>
        </p:nvCxnSpPr>
        <p:spPr>
          <a:xfrm>
            <a:off x="2775570" y="1767786"/>
            <a:ext cx="1236035" cy="1031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9413CAC9-42DC-4E30-97F9-FF38C9F9D9F7}"/>
              </a:ext>
            </a:extLst>
          </p:cNvPr>
          <p:cNvSpPr/>
          <p:nvPr/>
        </p:nvSpPr>
        <p:spPr>
          <a:xfrm>
            <a:off x="1423143" y="2334565"/>
            <a:ext cx="2914650" cy="33509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H2 DB : test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1F9D513-5C14-4929-B4FF-CBB7D5CB4276}"/>
              </a:ext>
            </a:extLst>
          </p:cNvPr>
          <p:cNvSpPr txBox="1"/>
          <p:nvPr/>
        </p:nvSpPr>
        <p:spPr>
          <a:xfrm>
            <a:off x="864524" y="1851913"/>
            <a:ext cx="25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查帳戶餘額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轉帳操作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B2EF2A3-104F-4DCE-A906-D1D6F3AD4F9C}"/>
              </a:ext>
            </a:extLst>
          </p:cNvPr>
          <p:cNvSpPr txBox="1"/>
          <p:nvPr/>
        </p:nvSpPr>
        <p:spPr>
          <a:xfrm>
            <a:off x="3393587" y="1840426"/>
            <a:ext cx="314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查帳戶轉帳歷史紀錄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儲存轉帳紀錄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5245D05D-3218-4520-95CB-6FEE765E9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806" y="5102014"/>
            <a:ext cx="4854855" cy="1594617"/>
          </a:xfrm>
          <a:prstGeom prst="rect">
            <a:avLst/>
          </a:prstGeom>
        </p:spPr>
      </p:pic>
      <p:sp>
        <p:nvSpPr>
          <p:cNvPr id="55" name="文字方塊 54">
            <a:extLst>
              <a:ext uri="{FF2B5EF4-FFF2-40B4-BE49-F238E27FC236}">
                <a16:creationId xmlns:a16="http://schemas.microsoft.com/office/drawing/2014/main" id="{697BABB4-C205-4E2A-BA55-6F6F2EE6AA84}"/>
              </a:ext>
            </a:extLst>
          </p:cNvPr>
          <p:cNvSpPr txBox="1"/>
          <p:nvPr/>
        </p:nvSpPr>
        <p:spPr>
          <a:xfrm>
            <a:off x="4140107" y="4765967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AccountService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40649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查詢帳戶餘額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轉帳紀錄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轉帳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73D5FE5-89F7-4D08-BF57-213AFF15A857}"/>
              </a:ext>
            </a:extLst>
          </p:cNvPr>
          <p:cNvSpPr txBox="1"/>
          <p:nvPr/>
        </p:nvSpPr>
        <p:spPr>
          <a:xfrm>
            <a:off x="767832" y="1362993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查詢帳戶餘額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EC5A6CE-C603-4258-AAEB-08A381A4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59" y="1769507"/>
            <a:ext cx="4877573" cy="2124816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CE480B7D-A60C-47CB-923C-7CCB8618D0AB}"/>
              </a:ext>
            </a:extLst>
          </p:cNvPr>
          <p:cNvSpPr txBox="1"/>
          <p:nvPr/>
        </p:nvSpPr>
        <p:spPr>
          <a:xfrm>
            <a:off x="6006879" y="1399390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轉帳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CB45A5F4-91DC-4BF5-A2C3-49CFBFA04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839" y="1769507"/>
            <a:ext cx="3394757" cy="449845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F51406D7-C056-42D6-88FF-F761AAB61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03" y="4367432"/>
            <a:ext cx="5275286" cy="1891841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349EED86-3C4E-4E05-96ED-D084F0A4840E}"/>
              </a:ext>
            </a:extLst>
          </p:cNvPr>
          <p:cNvSpPr txBox="1"/>
          <p:nvPr/>
        </p:nvSpPr>
        <p:spPr>
          <a:xfrm>
            <a:off x="813454" y="3970665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查詢轉帳紀錄</a:t>
            </a:r>
          </a:p>
        </p:txBody>
      </p:sp>
    </p:spTree>
    <p:extLst>
      <p:ext uri="{BB962C8B-B14F-4D97-AF65-F5344CB8AC3E}">
        <p14:creationId xmlns:p14="http://schemas.microsoft.com/office/powerpoint/2010/main" val="40338008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32C16A4-1110-47AE-A50E-218E090B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113" y="264097"/>
            <a:ext cx="7965380" cy="68619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 DB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初始資料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DF8473-44A7-46C5-93E5-39856156C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2087B6-A220-4AD0-A3BC-B7D5D827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A19B9D-1984-4DD9-9992-56BBE189587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7EE061-FCDA-45A2-8BF5-8A0B8487581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4CE5968-8C0B-467D-81EE-B8883444DE80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25ADC3-FB57-4CED-9E4B-7A1E14308403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157DDE-F070-466B-905D-A8EDCC14F45A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3882EA-7F3E-4D4C-9080-2AF20C4BBBA9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41EF6A-1B73-495F-8AA6-C162E02162DE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646170-2065-4F44-85C1-1E264AD04DE7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9FAF604-2AEE-45A7-AAE7-562F833DAA3F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0A3F358-4B7D-49D5-AAEF-494D118E1B1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268ED772-8042-4317-A1B9-3000BA75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574861"/>
            <a:ext cx="8100060" cy="2565289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0B62D1-3A97-4212-948B-219CB7404116}"/>
              </a:ext>
            </a:extLst>
          </p:cNvPr>
          <p:cNvSpPr txBox="1"/>
          <p:nvPr/>
        </p:nvSpPr>
        <p:spPr>
          <a:xfrm>
            <a:off x="2703725" y="1871233"/>
            <a:ext cx="465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放入三筆測試帳戶資料進 </a:t>
            </a:r>
            <a:r>
              <a:rPr lang="en-US" altLang="zh-TW" dirty="0"/>
              <a:t>account table </a:t>
            </a:r>
            <a:r>
              <a:rPr lang="zh-TW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32442491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前置作業與環境啟動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B14953BF-03AF-4A28-AA93-1DFC002F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33" y="1786824"/>
            <a:ext cx="2069911" cy="1360505"/>
          </a:xfrm>
          <a:prstGeom prst="rect">
            <a:avLst/>
          </a:prstGeom>
        </p:spPr>
      </p:pic>
      <p:sp>
        <p:nvSpPr>
          <p:cNvPr id="46" name="文字方塊 45">
            <a:extLst>
              <a:ext uri="{FF2B5EF4-FFF2-40B4-BE49-F238E27FC236}">
                <a16:creationId xmlns:a16="http://schemas.microsoft.com/office/drawing/2014/main" id="{6482AAC7-29BC-4B8D-9F1B-24044C3BD2DC}"/>
              </a:ext>
            </a:extLst>
          </p:cNvPr>
          <p:cNvSpPr txBox="1"/>
          <p:nvPr/>
        </p:nvSpPr>
        <p:spPr>
          <a:xfrm>
            <a:off x="751467" y="1346401"/>
            <a:ext cx="545971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dirty="0">
                <a:ea typeface="微軟正黑體" panose="020B0604030504040204" pitchFamily="34" charset="-120"/>
              </a:rPr>
              <a:t>1. </a:t>
            </a:r>
            <a:r>
              <a:rPr lang="zh-TW" altLang="en-US" sz="1500" dirty="0">
                <a:ea typeface="微軟正黑體" panose="020B0604030504040204" pitchFamily="34" charset="-120"/>
              </a:rPr>
              <a:t>設定 </a:t>
            </a:r>
            <a:r>
              <a:rPr lang="en-US" altLang="zh-TW" sz="1500" dirty="0" err="1">
                <a:ea typeface="微軟正黑體" panose="020B0604030504040204" pitchFamily="34" charset="-120"/>
              </a:rPr>
              <a:t>OpenAI</a:t>
            </a:r>
            <a:r>
              <a:rPr lang="en-US" altLang="zh-TW" sz="1500" dirty="0">
                <a:ea typeface="微軟正黑體" panose="020B0604030504040204" pitchFamily="34" charset="-120"/>
              </a:rPr>
              <a:t> API</a:t>
            </a:r>
            <a:r>
              <a:rPr lang="zh-TW" altLang="en-US" sz="1500" dirty="0">
                <a:ea typeface="微軟正黑體" panose="020B0604030504040204" pitchFamily="34" charset="-120"/>
              </a:rPr>
              <a:t> </a:t>
            </a:r>
            <a:r>
              <a:rPr lang="en-US" altLang="zh-TW" sz="1500" dirty="0">
                <a:ea typeface="微軟正黑體" panose="020B0604030504040204" pitchFamily="34" charset="-120"/>
              </a:rPr>
              <a:t>Key (</a:t>
            </a:r>
            <a:r>
              <a:rPr lang="zh-TW" altLang="en-US" sz="1500" dirty="0">
                <a:ea typeface="微軟正黑體" panose="020B0604030504040204" pitchFamily="34" charset="-120"/>
              </a:rPr>
              <a:t>來源參考前章節</a:t>
            </a:r>
            <a:r>
              <a:rPr lang="zh-TW" altLang="en-US" sz="1500" dirty="0"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申請 </a:t>
            </a:r>
            <a:r>
              <a:rPr lang="en-US" altLang="zh-TW" sz="1500" dirty="0" err="1"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OpenAI</a:t>
            </a:r>
            <a:r>
              <a:rPr lang="en-US" altLang="zh-TW" sz="1500" dirty="0"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 API Key</a:t>
            </a:r>
            <a:r>
              <a:rPr lang="en-US" altLang="zh-TW" sz="1500" dirty="0">
                <a:ea typeface="微軟正黑體" panose="020B0604030504040204" pitchFamily="34" charset="-120"/>
              </a:rPr>
              <a:t>)</a:t>
            </a:r>
            <a:endParaRPr lang="zh-TW" altLang="en-US" sz="1500" dirty="0">
              <a:ea typeface="微軟正黑體" panose="020B0604030504040204" pitchFamily="34" charset="-120"/>
            </a:endParaRPr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286F7C39-8CDE-45E9-8AAF-5E4B0F0CE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186" y="1744815"/>
            <a:ext cx="5459717" cy="1728087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08A8013-AF9E-4DC5-BC08-CA55636C477E}"/>
              </a:ext>
            </a:extLst>
          </p:cNvPr>
          <p:cNvSpPr/>
          <p:nvPr/>
        </p:nvSpPr>
        <p:spPr>
          <a:xfrm>
            <a:off x="3481325" y="2403200"/>
            <a:ext cx="2729859" cy="1619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2DB062-685E-44A6-B2DB-994C02B33C08}"/>
              </a:ext>
            </a:extLst>
          </p:cNvPr>
          <p:cNvSpPr txBox="1"/>
          <p:nvPr/>
        </p:nvSpPr>
        <p:spPr>
          <a:xfrm>
            <a:off x="1144713" y="3536693"/>
            <a:ext cx="27289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ea typeface="微軟正黑體" panose="020B0604030504040204" pitchFamily="34" charset="-120"/>
              </a:rPr>
              <a:t>2. </a:t>
            </a:r>
            <a:r>
              <a:rPr lang="zh-TW" altLang="en-US" sz="1500" dirty="0">
                <a:ea typeface="微軟正黑體" panose="020B0604030504040204" pitchFamily="34" charset="-120"/>
              </a:rPr>
              <a:t>將 </a:t>
            </a:r>
            <a:r>
              <a:rPr lang="en-US" altLang="zh-TW" sz="1500" dirty="0" err="1">
                <a:ea typeface="微軟正黑體" panose="020B0604030504040204" pitchFamily="34" charset="-120"/>
              </a:rPr>
              <a:t>redis</a:t>
            </a:r>
            <a:r>
              <a:rPr lang="en-US" altLang="zh-TW" sz="1500" dirty="0">
                <a:ea typeface="微軟正黑體" panose="020B0604030504040204" pitchFamily="34" charset="-120"/>
              </a:rPr>
              <a:t> container </a:t>
            </a:r>
            <a:r>
              <a:rPr lang="zh-TW" altLang="en-US" sz="1500" dirty="0">
                <a:ea typeface="微軟正黑體" panose="020B0604030504040204" pitchFamily="34" charset="-120"/>
              </a:rPr>
              <a:t>啟動</a:t>
            </a: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8086A24-3E83-41FE-9913-A793F4B93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713" y="3933361"/>
            <a:ext cx="3546744" cy="857454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1EEE5A-B1ED-4511-A330-BE65A8CAE166}"/>
              </a:ext>
            </a:extLst>
          </p:cNvPr>
          <p:cNvSpPr txBox="1"/>
          <p:nvPr/>
        </p:nvSpPr>
        <p:spPr>
          <a:xfrm>
            <a:off x="4725970" y="3555416"/>
            <a:ext cx="5332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ea typeface="微軟正黑體" panose="020B0604030504040204" pitchFamily="34" charset="-120"/>
              </a:rPr>
              <a:t>3.</a:t>
            </a:r>
            <a:r>
              <a:rPr lang="zh-TW" altLang="en-US" sz="1500" dirty="0">
                <a:ea typeface="微軟正黑體" panose="020B0604030504040204" pitchFamily="34" charset="-120"/>
              </a:rPr>
              <a:t>將 </a:t>
            </a:r>
            <a:r>
              <a:rPr lang="en-US" altLang="zh-TW" sz="1500" dirty="0">
                <a:ea typeface="微軟正黑體" panose="020B0604030504040204" pitchFamily="34" charset="-120"/>
              </a:rPr>
              <a:t>spring-ai-</a:t>
            </a:r>
            <a:r>
              <a:rPr lang="en-US" altLang="zh-TW" sz="1500" dirty="0" err="1">
                <a:ea typeface="微軟正黑體" panose="020B0604030504040204" pitchFamily="34" charset="-120"/>
              </a:rPr>
              <a:t>mcp</a:t>
            </a:r>
            <a:r>
              <a:rPr lang="en-US" altLang="zh-TW" sz="1500" dirty="0">
                <a:ea typeface="微軟正黑體" panose="020B0604030504040204" pitchFamily="34" charset="-120"/>
              </a:rPr>
              <a:t>-server-account </a:t>
            </a:r>
            <a:r>
              <a:rPr lang="zh-TW" altLang="en-US" sz="1500" dirty="0">
                <a:ea typeface="微軟正黑體" panose="020B0604030504040204" pitchFamily="34" charset="-120"/>
              </a:rPr>
              <a:t>啟動</a:t>
            </a:r>
          </a:p>
          <a:p>
            <a:endParaRPr lang="zh-TW" altLang="en-US" sz="1500" dirty="0">
              <a:ea typeface="微軟正黑體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65F2A99-85D5-4126-9307-41574D6DE083}"/>
              </a:ext>
            </a:extLst>
          </p:cNvPr>
          <p:cNvSpPr txBox="1"/>
          <p:nvPr/>
        </p:nvSpPr>
        <p:spPr>
          <a:xfrm>
            <a:off x="2841903" y="5238423"/>
            <a:ext cx="30397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>
                <a:ea typeface="微軟正黑體" panose="020B0604030504040204" pitchFamily="34" charset="-120"/>
              </a:rPr>
              <a:t>4. </a:t>
            </a:r>
            <a:r>
              <a:rPr lang="zh-TW" altLang="en-US" sz="1500" dirty="0">
                <a:ea typeface="微軟正黑體" panose="020B0604030504040204" pitchFamily="34" charset="-120"/>
              </a:rPr>
              <a:t>將 </a:t>
            </a:r>
            <a:r>
              <a:rPr lang="en-US" altLang="zh-TW" sz="1500" dirty="0">
                <a:ea typeface="微軟正黑體" panose="020B0604030504040204" pitchFamily="34" charset="-120"/>
              </a:rPr>
              <a:t>spring-ai-</a:t>
            </a:r>
            <a:r>
              <a:rPr lang="en-US" altLang="zh-TW" sz="1500" dirty="0" err="1">
                <a:ea typeface="微軟正黑體" panose="020B0604030504040204" pitchFamily="34" charset="-120"/>
              </a:rPr>
              <a:t>mcp</a:t>
            </a:r>
            <a:r>
              <a:rPr lang="en-US" altLang="zh-TW" sz="1500" dirty="0">
                <a:ea typeface="微軟正黑體" panose="020B0604030504040204" pitchFamily="34" charset="-120"/>
              </a:rPr>
              <a:t>-client </a:t>
            </a:r>
            <a:r>
              <a:rPr lang="zh-TW" altLang="en-US" sz="1500" dirty="0">
                <a:ea typeface="微軟正黑體" panose="020B0604030504040204" pitchFamily="34" charset="-120"/>
              </a:rPr>
              <a:t>啟動</a:t>
            </a:r>
          </a:p>
          <a:p>
            <a:endParaRPr lang="zh-TW" altLang="en-US" sz="1500" dirty="0">
              <a:ea typeface="微軟正黑體" panose="020B0604030504040204" pitchFamily="34" charset="-120"/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48EE4E9E-8C8D-4CFA-A83D-CE681C4F3E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254" y="3883596"/>
            <a:ext cx="4007469" cy="1197330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477E9B2F-D9E7-40AB-B651-593672BA4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844" y="5575049"/>
            <a:ext cx="4007469" cy="114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958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89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3AC2646-F479-4558-9FE2-F853BEC19122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ADE106-7E4F-494E-91C0-7537560936E0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96815A-A156-4F48-9246-275BD676F788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6870C9F-3417-40FA-AC6F-5667139BEF67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18BD7E-1948-4B4A-A176-12EAA88D954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5B75E4-8AD5-4C65-BABF-FA8EC4EB84E3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7E7D30-F04A-4E2E-8BDD-8A94F15C5278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63F4D5B-B19D-46A5-8A2B-ACDF4481D64C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EC7E85C-761F-4659-B2AD-15F1511F494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50260E-E6E2-44E8-8FA1-4915F751C36C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F1C7BA9-F50E-4420-BAE5-D3D9D1D5E062}"/>
              </a:ext>
            </a:extLst>
          </p:cNvPr>
          <p:cNvSpPr txBox="1"/>
          <p:nvPr/>
        </p:nvSpPr>
        <p:spPr>
          <a:xfrm>
            <a:off x="2431992" y="1390272"/>
            <a:ext cx="471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使用 </a:t>
            </a:r>
            <a:r>
              <a:rPr lang="en-US" altLang="zh-TW" dirty="0">
                <a:ea typeface="微軟正黑體" panose="020B0604030504040204" pitchFamily="34" charset="-120"/>
              </a:rPr>
              <a:t>postman </a:t>
            </a:r>
            <a:r>
              <a:rPr lang="zh-TW" altLang="en-US" dirty="0">
                <a:ea typeface="微軟正黑體" panose="020B0604030504040204" pitchFamily="34" charset="-120"/>
              </a:rPr>
              <a:t>調用 </a:t>
            </a:r>
            <a:r>
              <a:rPr lang="en-US" altLang="zh-TW" dirty="0">
                <a:ea typeface="微軟正黑體" panose="020B0604030504040204" pitchFamily="34" charset="-120"/>
              </a:rPr>
              <a:t>MCP client chat API </a:t>
            </a:r>
            <a:r>
              <a:rPr lang="zh-TW" altLang="en-US" dirty="0">
                <a:ea typeface="微軟正黑體" panose="020B0604030504040204" pitchFamily="34" charset="-120"/>
              </a:rPr>
              <a:t>來測試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9185BAD-C31B-4231-8216-403EB6ADB53A}"/>
              </a:ext>
            </a:extLst>
          </p:cNvPr>
          <p:cNvSpPr txBox="1"/>
          <p:nvPr/>
        </p:nvSpPr>
        <p:spPr>
          <a:xfrm>
            <a:off x="2480334" y="4171390"/>
            <a:ext cx="1872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測試完成後關閉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6ED98162-08DD-4797-82F3-B3122A6AB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369" y="1844344"/>
            <a:ext cx="3491262" cy="2162330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DAD30958-019E-4205-8872-787D2D3D9CFA}"/>
              </a:ext>
            </a:extLst>
          </p:cNvPr>
          <p:cNvGrpSpPr/>
          <p:nvPr/>
        </p:nvGrpSpPr>
        <p:grpSpPr>
          <a:xfrm>
            <a:off x="2573560" y="4584662"/>
            <a:ext cx="4944165" cy="1371791"/>
            <a:chOff x="3372457" y="2377344"/>
            <a:chExt cx="4944165" cy="1371791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47528AE-97AC-4A1B-9ECA-F5B57D65F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2457" y="2377344"/>
              <a:ext cx="4944165" cy="1371791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7EE2899-5CC6-403B-A535-6DD37F3D7B7B}"/>
                </a:ext>
              </a:extLst>
            </p:cNvPr>
            <p:cNvSpPr/>
            <p:nvPr/>
          </p:nvSpPr>
          <p:spPr>
            <a:xfrm>
              <a:off x="5956825" y="2377344"/>
              <a:ext cx="388938" cy="3658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15586E5-6B18-41E2-B63C-B0C9959102CC}"/>
              </a:ext>
            </a:extLst>
          </p:cNvPr>
          <p:cNvSpPr txBox="1"/>
          <p:nvPr/>
        </p:nvSpPr>
        <p:spPr>
          <a:xfrm>
            <a:off x="5669573" y="3064411"/>
            <a:ext cx="20647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查詢帳戶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ACC001 , ACC002 , ACC003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之餘額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40E02B0-A683-4DBC-BE71-70E5DFC40301}"/>
              </a:ext>
            </a:extLst>
          </p:cNvPr>
          <p:cNvSpPr txBox="1"/>
          <p:nvPr/>
        </p:nvSpPr>
        <p:spPr>
          <a:xfrm>
            <a:off x="4791149" y="3392826"/>
            <a:ext cx="20647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將帳戶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ACC001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之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500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元轉至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ACC002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4B8B51C-1531-42E0-803F-F5830C747313}"/>
              </a:ext>
            </a:extLst>
          </p:cNvPr>
          <p:cNvSpPr txBox="1"/>
          <p:nvPr/>
        </p:nvSpPr>
        <p:spPr>
          <a:xfrm>
            <a:off x="6138997" y="3716814"/>
            <a:ext cx="20647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查詢帳戶 </a:t>
            </a:r>
            <a:r>
              <a:rPr lang="en-US" altLang="zh-TW" sz="800" b="0" i="0" dirty="0">
                <a:solidFill>
                  <a:srgbClr val="FF0000"/>
                </a:solidFill>
                <a:effectLst/>
                <a:latin typeface="Inter"/>
              </a:rPr>
              <a:t>ACC001 , ACC002 </a:t>
            </a:r>
            <a:r>
              <a:rPr lang="zh-TW" altLang="en-US" sz="800" b="0" i="0" dirty="0">
                <a:solidFill>
                  <a:srgbClr val="FF0000"/>
                </a:solidFill>
                <a:effectLst/>
                <a:latin typeface="Inter"/>
              </a:rPr>
              <a:t>之轉帳歷史資訊</a:t>
            </a:r>
            <a:endParaRPr lang="zh-TW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8925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3"/>
            <a:ext cx="7187424" cy="5269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01-spring-ai-chat-gpt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套件與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熟悉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MCP client &amp;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</a:t>
            </a:r>
          </a:p>
          <a:p>
            <a:pPr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spring security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相關套件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整合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認證授權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04-copilot-mcp-with-spring-ai-mcp-server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copilot plugin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串接自行撰寫之轉帳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05-mcp-inspector-debug-spring-ai-mcp-server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inspector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B49DDD4-78F6-4EE3-9CCB-6D786FC5B8B3}"/>
              </a:ext>
            </a:extLst>
          </p:cNvPr>
          <p:cNvSpPr/>
          <p:nvPr/>
        </p:nvSpPr>
        <p:spPr>
          <a:xfrm>
            <a:off x="3597481" y="2615159"/>
            <a:ext cx="5569379" cy="1196445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63582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Lab03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說明圖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25C3EE-5D52-4512-A57D-8D96FA9BC357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8077E8-D15A-4461-8BBF-2038068DD8E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0250390-FA70-4EE9-A7B1-6413AD1EE235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93A597-C6E4-4D02-8C4B-008164BA5D0D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36836-423B-4913-9249-64494B69C0E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192539-0293-4E2E-9551-8C9B7626619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3588E-EB8E-40A1-93CA-30CB22F2D6B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49241F-4044-467B-8622-4CF9ED892840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5B5ED44-0041-4F0B-8EE0-5980271B13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CC3C3A-CA80-4877-99AF-D75ACCDEE12D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CEE5C81-3C2F-41D5-8229-A84C64237588}"/>
              </a:ext>
            </a:extLst>
          </p:cNvPr>
          <p:cNvGrpSpPr/>
          <p:nvPr/>
        </p:nvGrpSpPr>
        <p:grpSpPr>
          <a:xfrm>
            <a:off x="2141751" y="4600531"/>
            <a:ext cx="1003876" cy="1056627"/>
            <a:chOff x="3389734" y="3529877"/>
            <a:chExt cx="1003876" cy="622171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68B71FBA-CA3D-4341-9EEB-5A2250C966E7}"/>
                </a:ext>
              </a:extLst>
            </p:cNvPr>
            <p:cNvSpPr/>
            <p:nvPr/>
          </p:nvSpPr>
          <p:spPr>
            <a:xfrm>
              <a:off x="3389734" y="3667019"/>
              <a:ext cx="1003876" cy="485029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application</a:t>
              </a:r>
              <a:endParaRPr kumimoji="0" lang="zh-TW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4DD97C7-C575-4DDA-AF5F-B0D75CD748A9}"/>
                </a:ext>
              </a:extLst>
            </p:cNvPr>
            <p:cNvSpPr txBox="1"/>
            <p:nvPr/>
          </p:nvSpPr>
          <p:spPr>
            <a:xfrm>
              <a:off x="3658741" y="3529877"/>
              <a:ext cx="569688" cy="126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800" b="1" dirty="0">
                  <a:ea typeface="微軟正黑體" panose="020B0604030504040204" pitchFamily="34" charset="-120"/>
                </a:rPr>
                <a:t>client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296387B-2040-428E-B5E8-57D0B4079798}"/>
              </a:ext>
            </a:extLst>
          </p:cNvPr>
          <p:cNvGrpSpPr/>
          <p:nvPr/>
        </p:nvGrpSpPr>
        <p:grpSpPr>
          <a:xfrm>
            <a:off x="340509" y="2963742"/>
            <a:ext cx="903690" cy="775756"/>
            <a:chOff x="1689030" y="1543682"/>
            <a:chExt cx="903690" cy="775756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2EA54C64-4D25-4CFC-B57F-B9AC92B64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9030" y="1651404"/>
              <a:ext cx="668034" cy="668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E44DF6C-D222-4632-831C-CDD91F5C1A4F}"/>
                </a:ext>
              </a:extLst>
            </p:cNvPr>
            <p:cNvSpPr txBox="1"/>
            <p:nvPr/>
          </p:nvSpPr>
          <p:spPr>
            <a:xfrm>
              <a:off x="1702174" y="1543682"/>
              <a:ext cx="8905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800" b="1" dirty="0">
                  <a:ea typeface="微軟正黑體" panose="020B0604030504040204" pitchFamily="34" charset="-120"/>
                </a:rPr>
                <a:t>Resource owner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2232D0CA-F196-452E-8D6C-19CB3AE20349}"/>
              </a:ext>
            </a:extLst>
          </p:cNvPr>
          <p:cNvGrpSpPr/>
          <p:nvPr/>
        </p:nvGrpSpPr>
        <p:grpSpPr>
          <a:xfrm>
            <a:off x="1843647" y="2816099"/>
            <a:ext cx="1131096" cy="775756"/>
            <a:chOff x="3016023" y="809555"/>
            <a:chExt cx="1131096" cy="775756"/>
          </a:xfrm>
        </p:grpSpPr>
        <p:pic>
          <p:nvPicPr>
            <p:cNvPr id="23" name="Picture 8" descr="讓Chrome 跑得比別人更快！效率狂必學的4 招隱藏技巧- 自由電子報3C科技">
              <a:extLst>
                <a:ext uri="{FF2B5EF4-FFF2-40B4-BE49-F238E27FC236}">
                  <a16:creationId xmlns:a16="http://schemas.microsoft.com/office/drawing/2014/main" id="{A6ECD5EF-EB6A-4516-85C8-AE68DEDB4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023" y="917277"/>
              <a:ext cx="1003876" cy="668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C95C53A-2562-440B-BA7E-A9B632DCA08F}"/>
                </a:ext>
              </a:extLst>
            </p:cNvPr>
            <p:cNvSpPr txBox="1"/>
            <p:nvPr/>
          </p:nvSpPr>
          <p:spPr>
            <a:xfrm>
              <a:off x="3256573" y="809555"/>
              <a:ext cx="8905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User-agent</a:t>
              </a:r>
              <a:endParaRPr kumimoji="0" lang="zh-TW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6FCA28D4-0422-4906-B77C-D23F971F074F}"/>
              </a:ext>
            </a:extLst>
          </p:cNvPr>
          <p:cNvGrpSpPr/>
          <p:nvPr/>
        </p:nvGrpSpPr>
        <p:grpSpPr>
          <a:xfrm>
            <a:off x="6383432" y="5181951"/>
            <a:ext cx="890546" cy="667196"/>
            <a:chOff x="6341739" y="3660817"/>
            <a:chExt cx="890546" cy="667196"/>
          </a:xfrm>
        </p:grpSpPr>
        <p:pic>
          <p:nvPicPr>
            <p:cNvPr id="26" name="Picture 6" descr="Spring Boot 入門自學資源統整. 這篇文章會提供我在自學Spring Boot… | by Louis Chang | Medium">
              <a:extLst>
                <a:ext uri="{FF2B5EF4-FFF2-40B4-BE49-F238E27FC236}">
                  <a16:creationId xmlns:a16="http://schemas.microsoft.com/office/drawing/2014/main" id="{F99F0C54-438D-4E3C-BABF-9F0022A72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739" y="3909533"/>
              <a:ext cx="795882" cy="418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EB717600-E42E-4846-A564-52C8F816C93C}"/>
                </a:ext>
              </a:extLst>
            </p:cNvPr>
            <p:cNvSpPr txBox="1"/>
            <p:nvPr/>
          </p:nvSpPr>
          <p:spPr>
            <a:xfrm>
              <a:off x="6341739" y="3660817"/>
              <a:ext cx="8905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Resource server</a:t>
              </a:r>
              <a:endParaRPr kumimoji="0" lang="zh-TW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0EF70E25-00DF-4D65-B37A-DD5C3C9EC671}"/>
              </a:ext>
            </a:extLst>
          </p:cNvPr>
          <p:cNvSpPr/>
          <p:nvPr/>
        </p:nvSpPr>
        <p:spPr>
          <a:xfrm>
            <a:off x="329895" y="1583693"/>
            <a:ext cx="2274073" cy="369332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code flow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446F700-5E21-49F2-AE5F-2DC35757EF55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 flipV="1">
            <a:off x="1008543" y="3257838"/>
            <a:ext cx="835104" cy="147643"/>
          </a:xfrm>
          <a:prstGeom prst="straightConnector1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B49806B-C703-427A-8EB8-F5D7FB5150DB}"/>
              </a:ext>
            </a:extLst>
          </p:cNvPr>
          <p:cNvSpPr txBox="1"/>
          <p:nvPr/>
        </p:nvSpPr>
        <p:spPr>
          <a:xfrm>
            <a:off x="1040619" y="3076240"/>
            <a:ext cx="1128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1.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打開瀏覽器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BB515ABA-387F-40D3-A570-26E282C2F4EC}"/>
              </a:ext>
            </a:extLst>
          </p:cNvPr>
          <p:cNvCxnSpPr>
            <a:cxnSpLocks/>
            <a:stCxn id="23" idx="2"/>
            <a:endCxn id="17" idx="1"/>
          </p:cNvCxnSpPr>
          <p:nvPr/>
        </p:nvCxnSpPr>
        <p:spPr>
          <a:xfrm>
            <a:off x="2345585" y="3591855"/>
            <a:ext cx="65173" cy="1116398"/>
          </a:xfrm>
          <a:prstGeom prst="straightConnector1">
            <a:avLst/>
          </a:prstGeom>
          <a:noFill/>
          <a:ln w="6350" cap="flat" cmpd="sng" algn="ctr">
            <a:solidFill>
              <a:srgbClr val="7030A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4342744-5004-49FA-AD13-95645240EBB6}"/>
              </a:ext>
            </a:extLst>
          </p:cNvPr>
          <p:cNvSpPr txBox="1"/>
          <p:nvPr/>
        </p:nvSpPr>
        <p:spPr>
          <a:xfrm>
            <a:off x="1633125" y="3991616"/>
            <a:ext cx="1128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2.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訪問應用程式</a:t>
            </a:r>
            <a:endParaRPr kumimoji="0" lang="en-US" altLang="zh-TW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442B4E21-F37B-4862-ACD9-EFB4BAC6D1D1}"/>
              </a:ext>
            </a:extLst>
          </p:cNvPr>
          <p:cNvCxnSpPr>
            <a:cxnSpLocks/>
            <a:stCxn id="17" idx="0"/>
            <a:endCxn id="23" idx="3"/>
          </p:cNvCxnSpPr>
          <p:nvPr/>
        </p:nvCxnSpPr>
        <p:spPr>
          <a:xfrm flipV="1">
            <a:off x="2695602" y="3257838"/>
            <a:ext cx="151921" cy="1342693"/>
          </a:xfrm>
          <a:prstGeom prst="straightConnector1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7448BA8-3D3F-4F2E-AD1A-12751E756AAA}"/>
              </a:ext>
            </a:extLst>
          </p:cNvPr>
          <p:cNvSpPr txBox="1"/>
          <p:nvPr/>
        </p:nvSpPr>
        <p:spPr>
          <a:xfrm>
            <a:off x="2822226" y="3242326"/>
            <a:ext cx="1128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3. http status 302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user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導轉至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登入頁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並帶入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?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redirect_uri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等參數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7A829912-0831-4D35-B45B-0B0F079B6877}"/>
              </a:ext>
            </a:extLst>
          </p:cNvPr>
          <p:cNvCxnSpPr>
            <a:cxnSpLocks/>
            <a:stCxn id="23" idx="3"/>
            <a:endCxn id="61" idx="1"/>
          </p:cNvCxnSpPr>
          <p:nvPr/>
        </p:nvCxnSpPr>
        <p:spPr>
          <a:xfrm flipV="1">
            <a:off x="2847523" y="3109106"/>
            <a:ext cx="4460201" cy="148732"/>
          </a:xfrm>
          <a:prstGeom prst="straightConnector1">
            <a:avLst/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39" name="圖片 38">
            <a:extLst>
              <a:ext uri="{FF2B5EF4-FFF2-40B4-BE49-F238E27FC236}">
                <a16:creationId xmlns:a16="http://schemas.microsoft.com/office/drawing/2014/main" id="{A72DBCA8-7FE6-4464-AB88-6FC02A01B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156" y="2616508"/>
            <a:ext cx="1233865" cy="913535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2AAD59A3-EA0D-4328-9B83-F30467BBC927}"/>
              </a:ext>
            </a:extLst>
          </p:cNvPr>
          <p:cNvSpPr txBox="1"/>
          <p:nvPr/>
        </p:nvSpPr>
        <p:spPr>
          <a:xfrm>
            <a:off x="8289936" y="2201114"/>
            <a:ext cx="1128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4. User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輸入帳密並提交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驗證</a:t>
            </a: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6BAB4DC4-82E5-4C6F-AE48-BF4ECE1BD029}"/>
              </a:ext>
            </a:extLst>
          </p:cNvPr>
          <p:cNvCxnSpPr>
            <a:cxnSpLocks/>
            <a:stCxn id="39" idx="0"/>
            <a:endCxn id="24" idx="0"/>
          </p:cNvCxnSpPr>
          <p:nvPr/>
        </p:nvCxnSpPr>
        <p:spPr>
          <a:xfrm flipH="1">
            <a:off x="2529470" y="2616508"/>
            <a:ext cx="6271619" cy="199591"/>
          </a:xfrm>
          <a:prstGeom prst="straightConnector1">
            <a:avLst/>
          </a:prstGeom>
          <a:noFill/>
          <a:ln w="6350" cap="flat" cmpd="sng" algn="ctr">
            <a:solidFill>
              <a:srgbClr val="FFC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A5AEC81-6DDC-4027-B609-05153B1EDDF2}"/>
              </a:ext>
            </a:extLst>
          </p:cNvPr>
          <p:cNvCxnSpPr>
            <a:cxnSpLocks/>
            <a:stCxn id="24" idx="0"/>
            <a:endCxn id="16" idx="0"/>
          </p:cNvCxnSpPr>
          <p:nvPr/>
        </p:nvCxnSpPr>
        <p:spPr>
          <a:xfrm>
            <a:off x="2529470" y="2816099"/>
            <a:ext cx="114219" cy="2017337"/>
          </a:xfrm>
          <a:prstGeom prst="straightConnector1">
            <a:avLst/>
          </a:prstGeom>
          <a:noFill/>
          <a:ln w="6350" cap="flat" cmpd="sng" algn="ctr">
            <a:solidFill>
              <a:srgbClr val="FFC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0DD49B7-FC95-4C2F-8EF9-40AAD8365D9C}"/>
              </a:ext>
            </a:extLst>
          </p:cNvPr>
          <p:cNvSpPr txBox="1"/>
          <p:nvPr/>
        </p:nvSpPr>
        <p:spPr>
          <a:xfrm>
            <a:off x="1965427" y="2159599"/>
            <a:ext cx="112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5. http status 302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user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導轉回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client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指定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redirect_uri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網址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並帶入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?code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等參數</a:t>
            </a:r>
            <a:endParaRPr kumimoji="0" lang="en-US" altLang="zh-TW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10E275B-9400-4BC7-B3D5-CCD939D34850}"/>
              </a:ext>
            </a:extLst>
          </p:cNvPr>
          <p:cNvCxnSpPr>
            <a:cxnSpLocks/>
            <a:stCxn id="16" idx="6"/>
            <a:endCxn id="61" idx="1"/>
          </p:cNvCxnSpPr>
          <p:nvPr/>
        </p:nvCxnSpPr>
        <p:spPr>
          <a:xfrm flipV="1">
            <a:off x="3145627" y="3109106"/>
            <a:ext cx="4162097" cy="213619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97FC339-3C5C-47D9-BBB8-236AA1E65162}"/>
              </a:ext>
            </a:extLst>
          </p:cNvPr>
          <p:cNvSpPr txBox="1"/>
          <p:nvPr/>
        </p:nvSpPr>
        <p:spPr>
          <a:xfrm>
            <a:off x="4753238" y="3793300"/>
            <a:ext cx="112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6.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擷取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code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參數並和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換取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</a:t>
            </a: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A8F1AEF-566B-4A0F-A51E-5523D23D5A5D}"/>
              </a:ext>
            </a:extLst>
          </p:cNvPr>
          <p:cNvCxnSpPr>
            <a:cxnSpLocks/>
            <a:stCxn id="83" idx="3"/>
            <a:endCxn id="26" idx="1"/>
          </p:cNvCxnSpPr>
          <p:nvPr/>
        </p:nvCxnSpPr>
        <p:spPr>
          <a:xfrm>
            <a:off x="3003345" y="5425739"/>
            <a:ext cx="3380087" cy="214168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486997A-AE7E-47E2-9C41-2321DD025403}"/>
              </a:ext>
            </a:extLst>
          </p:cNvPr>
          <p:cNvSpPr txBox="1"/>
          <p:nvPr/>
        </p:nvSpPr>
        <p:spPr>
          <a:xfrm>
            <a:off x="4434893" y="5169630"/>
            <a:ext cx="112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7.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存取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resource server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資源並攜帶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access_token</a:t>
            </a:r>
            <a:endParaRPr kumimoji="0" lang="en-US" altLang="zh-TW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57DCA2E-A491-46CF-8E14-FC5C046E6A81}"/>
              </a:ext>
            </a:extLst>
          </p:cNvPr>
          <p:cNvSpPr txBox="1"/>
          <p:nvPr/>
        </p:nvSpPr>
        <p:spPr>
          <a:xfrm>
            <a:off x="5924700" y="4209243"/>
            <a:ext cx="11280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8-1.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線上驗證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呼叫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introspect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api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驗證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access_token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是否有效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(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不限於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如為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 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推薦用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8-2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離線驗證</a:t>
            </a:r>
            <a:endParaRPr kumimoji="0" lang="en-US" altLang="zh-TW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0DC277B-C4A3-4020-8C18-25C069DB820A}"/>
              </a:ext>
            </a:extLst>
          </p:cNvPr>
          <p:cNvSpPr txBox="1"/>
          <p:nvPr/>
        </p:nvSpPr>
        <p:spPr>
          <a:xfrm>
            <a:off x="7120156" y="3790096"/>
            <a:ext cx="11280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8-2.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離線驗證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啟動或初次驗證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access_token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時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呼叫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jwk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url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將回傳之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json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資訊緩存至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memory 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驗證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時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header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中的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kid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對應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json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裡相同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kid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之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jwk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資訊抓出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回推簽章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之私鑰所對應之公鑰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將簽章部分進行驗章動作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如成功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代表是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頒發的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 (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僅限於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token)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B678A6DF-5AF7-454C-9FA8-D7005B8914AE}"/>
              </a:ext>
            </a:extLst>
          </p:cNvPr>
          <p:cNvGrpSpPr/>
          <p:nvPr/>
        </p:nvGrpSpPr>
        <p:grpSpPr>
          <a:xfrm>
            <a:off x="7179314" y="2700345"/>
            <a:ext cx="1258894" cy="651275"/>
            <a:chOff x="6931360" y="2185687"/>
            <a:chExt cx="1258894" cy="651275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E44026C-87B4-4C0B-9C65-ECAF062EE906}"/>
                </a:ext>
              </a:extLst>
            </p:cNvPr>
            <p:cNvSpPr txBox="1"/>
            <p:nvPr/>
          </p:nvSpPr>
          <p:spPr>
            <a:xfrm>
              <a:off x="6931360" y="2185687"/>
              <a:ext cx="12588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1" dirty="0">
                  <a:ea typeface="微軟正黑體" panose="020B0604030504040204" pitchFamily="34" charset="-120"/>
                </a:rPr>
                <a:t>Authorization server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  <p:pic>
          <p:nvPicPr>
            <p:cNvPr id="61" name="Picture 2" descr="Keycloak SSO: Advantages, installation, protips and the real cost - Pretius">
              <a:extLst>
                <a:ext uri="{FF2B5EF4-FFF2-40B4-BE49-F238E27FC236}">
                  <a16:creationId xmlns:a16="http://schemas.microsoft.com/office/drawing/2014/main" id="{371BD33C-7B2C-4D01-A282-8C9572C7A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9770" y="2351933"/>
              <a:ext cx="728869" cy="485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B16524D-7CE2-4E03-8AED-E2DB760AB60F}"/>
              </a:ext>
            </a:extLst>
          </p:cNvPr>
          <p:cNvCxnSpPr>
            <a:cxnSpLocks/>
            <a:stCxn id="26" idx="0"/>
            <a:endCxn id="61" idx="1"/>
          </p:cNvCxnSpPr>
          <p:nvPr/>
        </p:nvCxnSpPr>
        <p:spPr>
          <a:xfrm flipV="1">
            <a:off x="6781373" y="3109106"/>
            <a:ext cx="526351" cy="2321561"/>
          </a:xfrm>
          <a:prstGeom prst="straightConnector1">
            <a:avLst/>
          </a:prstGeom>
          <a:noFill/>
          <a:ln w="9525" cap="flat" cmpd="sng" algn="ctr">
            <a:solidFill>
              <a:srgbClr val="4472C4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79A2BE6F-1CA7-4920-91F1-76AD7273E3B7}"/>
              </a:ext>
            </a:extLst>
          </p:cNvPr>
          <p:cNvSpPr txBox="1"/>
          <p:nvPr/>
        </p:nvSpPr>
        <p:spPr>
          <a:xfrm>
            <a:off x="1863888" y="4162167"/>
            <a:ext cx="5523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highlight>
                  <a:srgbClr val="FFFF00"/>
                </a:highlight>
              </a:rPr>
              <a:t>Chat UI</a:t>
            </a:r>
            <a:endParaRPr lang="zh-TW" altLang="en-US" sz="800" dirty="0">
              <a:highlight>
                <a:srgbClr val="FFFF00"/>
              </a:highlight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8B29DDEA-7A26-4E60-9306-644A771A4B3D}"/>
              </a:ext>
            </a:extLst>
          </p:cNvPr>
          <p:cNvSpPr txBox="1"/>
          <p:nvPr/>
        </p:nvSpPr>
        <p:spPr>
          <a:xfrm>
            <a:off x="2345585" y="5696510"/>
            <a:ext cx="6074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highlight>
                  <a:srgbClr val="FFFF00"/>
                </a:highlight>
              </a:rPr>
              <a:t>MCP host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B208A31-95D3-4A16-857D-32A8B11CA306}"/>
              </a:ext>
            </a:extLst>
          </p:cNvPr>
          <p:cNvSpPr txBox="1"/>
          <p:nvPr/>
        </p:nvSpPr>
        <p:spPr>
          <a:xfrm>
            <a:off x="6457923" y="5784053"/>
            <a:ext cx="6771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highlight>
                  <a:srgbClr val="FFFF00"/>
                </a:highlight>
              </a:rPr>
              <a:t>MCP server</a:t>
            </a:r>
            <a:endParaRPr lang="zh-TW" altLang="en-US" sz="800" dirty="0">
              <a:highlight>
                <a:srgbClr val="FFFF00"/>
              </a:highlight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A2C511F-F4FD-4D33-82C1-C4A6AF3DF01B}"/>
              </a:ext>
            </a:extLst>
          </p:cNvPr>
          <p:cNvSpPr/>
          <p:nvPr/>
        </p:nvSpPr>
        <p:spPr>
          <a:xfrm>
            <a:off x="2284032" y="5342000"/>
            <a:ext cx="719313" cy="16747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>
                <a:solidFill>
                  <a:schemeClr val="tx1"/>
                </a:solidFill>
              </a:rPr>
              <a:t>MCP client</a:t>
            </a:r>
            <a:endParaRPr lang="zh-TW" altLang="en-US" sz="800" dirty="0">
              <a:solidFill>
                <a:schemeClr val="tx1"/>
              </a:solidFill>
            </a:endParaRPr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8EE39729-85E4-44E0-9143-366167A71797}"/>
              </a:ext>
            </a:extLst>
          </p:cNvPr>
          <p:cNvGrpSpPr/>
          <p:nvPr/>
        </p:nvGrpSpPr>
        <p:grpSpPr>
          <a:xfrm>
            <a:off x="3722832" y="5562123"/>
            <a:ext cx="2319061" cy="461665"/>
            <a:chOff x="11602070" y="6025796"/>
            <a:chExt cx="2319061" cy="461665"/>
          </a:xfrm>
        </p:grpSpPr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F54B46E2-6681-47C7-8516-8E80C721BCC0}"/>
                </a:ext>
              </a:extLst>
            </p:cNvPr>
            <p:cNvSpPr txBox="1"/>
            <p:nvPr/>
          </p:nvSpPr>
          <p:spPr>
            <a:xfrm>
              <a:off x="11932393" y="6025796"/>
              <a:ext cx="19887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向對應之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MCP server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調用該工具及參數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 panose="020B0604030504040204" pitchFamily="34" charset="-120"/>
                </a:rPr>
                <a:t> (tools/call)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endParaRPr>
            </a:p>
          </p:txBody>
        </p:sp>
        <p:sp>
          <p:nvSpPr>
            <p:cNvPr id="96" name="七邊形 95">
              <a:extLst>
                <a:ext uri="{FF2B5EF4-FFF2-40B4-BE49-F238E27FC236}">
                  <a16:creationId xmlns:a16="http://schemas.microsoft.com/office/drawing/2014/main" id="{B575E4BA-81C3-4BBB-B7BB-AE3CA8BEB5A7}"/>
                </a:ext>
              </a:extLst>
            </p:cNvPr>
            <p:cNvSpPr/>
            <p:nvPr/>
          </p:nvSpPr>
          <p:spPr>
            <a:xfrm>
              <a:off x="11602070" y="6149247"/>
              <a:ext cx="286104" cy="240783"/>
            </a:xfrm>
            <a:prstGeom prst="heptag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5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54999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Lab03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說明圖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25C3EE-5D52-4512-A57D-8D96FA9BC357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8077E8-D15A-4461-8BBF-2038068DD8E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0250390-FA70-4EE9-A7B1-6413AD1EE235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93A597-C6E4-4D02-8C4B-008164BA5D0D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36836-423B-4913-9249-64494B69C0E0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192539-0293-4E2E-9551-8C9B7626619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3588E-EB8E-40A1-93CA-30CB22F2D6B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49241F-4044-467B-8622-4CF9ED892840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5B5ED44-0041-4F0B-8EE0-5980271B13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CC3C3A-CA80-4877-99AF-D75ACCDEE12D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A3F52081-43C8-4236-B86E-F329997A27C6}"/>
              </a:ext>
            </a:extLst>
          </p:cNvPr>
          <p:cNvGrpSpPr/>
          <p:nvPr/>
        </p:nvGrpSpPr>
        <p:grpSpPr>
          <a:xfrm>
            <a:off x="1927543" y="3976328"/>
            <a:ext cx="1003876" cy="1023887"/>
            <a:chOff x="3389734" y="3511359"/>
            <a:chExt cx="1003876" cy="640689"/>
          </a:xfrm>
        </p:grpSpPr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DA9DBA7E-AB37-42B2-8F07-6D5D8DB195CF}"/>
                </a:ext>
              </a:extLst>
            </p:cNvPr>
            <p:cNvSpPr/>
            <p:nvPr/>
          </p:nvSpPr>
          <p:spPr>
            <a:xfrm>
              <a:off x="3389734" y="3667019"/>
              <a:ext cx="1003876" cy="4850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>
                  <a:ea typeface="微軟正黑體" panose="020B0604030504040204" pitchFamily="34" charset="-120"/>
                </a:rPr>
                <a:t>application</a:t>
              </a:r>
              <a:endParaRPr lang="zh-TW" altLang="en-US" sz="900" dirty="0">
                <a:ea typeface="微軟正黑體" panose="020B0604030504040204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BD1AE198-4748-465C-A9A5-2BAA43205BCC}"/>
                </a:ext>
              </a:extLst>
            </p:cNvPr>
            <p:cNvSpPr txBox="1"/>
            <p:nvPr/>
          </p:nvSpPr>
          <p:spPr>
            <a:xfrm>
              <a:off x="3688138" y="3511359"/>
              <a:ext cx="508773" cy="134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1" dirty="0">
                  <a:ea typeface="微軟正黑體" panose="020B0604030504040204" pitchFamily="34" charset="-120"/>
                </a:rPr>
                <a:t>client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33F9798D-F317-4C3B-AEEB-32F2BEB5C096}"/>
              </a:ext>
            </a:extLst>
          </p:cNvPr>
          <p:cNvGrpSpPr/>
          <p:nvPr/>
        </p:nvGrpSpPr>
        <p:grpSpPr>
          <a:xfrm>
            <a:off x="6169224" y="4597449"/>
            <a:ext cx="890546" cy="667196"/>
            <a:chOff x="6341739" y="3660817"/>
            <a:chExt cx="890546" cy="667196"/>
          </a:xfrm>
        </p:grpSpPr>
        <p:pic>
          <p:nvPicPr>
            <p:cNvPr id="59" name="Picture 6" descr="Spring Boot 入門自學資源統整. 這篇文章會提供我在自學Spring Boot… | by Louis Chang | Medium">
              <a:extLst>
                <a:ext uri="{FF2B5EF4-FFF2-40B4-BE49-F238E27FC236}">
                  <a16:creationId xmlns:a16="http://schemas.microsoft.com/office/drawing/2014/main" id="{198CE9F8-4835-453D-9CE3-07D1DCCE4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739" y="3909533"/>
              <a:ext cx="795882" cy="418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F4F01C5F-7372-4AC8-8FAB-D0A9E9C46102}"/>
                </a:ext>
              </a:extLst>
            </p:cNvPr>
            <p:cNvSpPr txBox="1"/>
            <p:nvPr/>
          </p:nvSpPr>
          <p:spPr>
            <a:xfrm>
              <a:off x="6341739" y="3660817"/>
              <a:ext cx="8905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1" dirty="0">
                  <a:ea typeface="微軟正黑體" panose="020B0604030504040204" pitchFamily="34" charset="-120"/>
                </a:rPr>
                <a:t>Resource server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04EC8A76-A80A-4067-A124-B841A380DD79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2931419" y="2945542"/>
            <a:ext cx="4397882" cy="1667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D909C078-12BF-4786-9D74-A8A2155B2FC9}"/>
              </a:ext>
            </a:extLst>
          </p:cNvPr>
          <p:cNvSpPr txBox="1"/>
          <p:nvPr/>
        </p:nvSpPr>
        <p:spPr>
          <a:xfrm>
            <a:off x="4316128" y="3334312"/>
            <a:ext cx="1128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ea typeface="微軟正黑體" panose="020B0604030504040204" pitchFamily="34" charset="-120"/>
              </a:rPr>
              <a:t>1. </a:t>
            </a:r>
            <a:r>
              <a:rPr lang="zh-TW" altLang="en-US" sz="800" dirty="0">
                <a:ea typeface="微軟正黑體" panose="020B0604030504040204" pitchFamily="34" charset="-120"/>
              </a:rPr>
              <a:t>將 </a:t>
            </a:r>
            <a:r>
              <a:rPr lang="en-US" altLang="zh-TW" sz="800" dirty="0">
                <a:ea typeface="微軟正黑體" panose="020B0604030504040204" pitchFamily="34" charset="-120"/>
              </a:rPr>
              <a:t>client id </a:t>
            </a:r>
            <a:r>
              <a:rPr lang="zh-TW" altLang="en-US" sz="800" dirty="0">
                <a:ea typeface="微軟正黑體" panose="020B0604030504040204" pitchFamily="34" charset="-120"/>
              </a:rPr>
              <a:t>和 </a:t>
            </a:r>
            <a:r>
              <a:rPr lang="en-US" altLang="zh-TW" sz="800" dirty="0">
                <a:ea typeface="微軟正黑體" panose="020B0604030504040204" pitchFamily="34" charset="-120"/>
              </a:rPr>
              <a:t>client secret </a:t>
            </a:r>
            <a:r>
              <a:rPr lang="zh-TW" altLang="en-US" sz="800" dirty="0">
                <a:ea typeface="微軟正黑體" panose="020B0604030504040204" pitchFamily="34" charset="-120"/>
              </a:rPr>
              <a:t>送至 </a:t>
            </a:r>
            <a:r>
              <a:rPr lang="en-US" altLang="zh-TW" sz="800" dirty="0">
                <a:ea typeface="微軟正黑體" panose="020B0604030504040204" pitchFamily="34" charset="-120"/>
              </a:rPr>
              <a:t>auth server </a:t>
            </a:r>
            <a:r>
              <a:rPr lang="zh-TW" altLang="en-US" sz="800" dirty="0">
                <a:ea typeface="微軟正黑體" panose="020B0604030504040204" pitchFamily="34" charset="-120"/>
              </a:rPr>
              <a:t>驗證 </a:t>
            </a:r>
            <a:r>
              <a:rPr lang="en-US" altLang="zh-TW" sz="800" dirty="0">
                <a:ea typeface="微軟正黑體" panose="020B0604030504040204" pitchFamily="34" charset="-120"/>
              </a:rPr>
              <a:t>, </a:t>
            </a:r>
            <a:r>
              <a:rPr lang="zh-TW" altLang="en-US" sz="800" dirty="0">
                <a:ea typeface="微軟正黑體" panose="020B0604030504040204" pitchFamily="34" charset="-120"/>
              </a:rPr>
              <a:t>並換取 </a:t>
            </a:r>
            <a:r>
              <a:rPr lang="en-US" altLang="zh-TW" sz="800" dirty="0">
                <a:ea typeface="微軟正黑體" panose="020B0604030504040204" pitchFamily="34" charset="-120"/>
              </a:rPr>
              <a:t>token</a:t>
            </a:r>
          </a:p>
        </p:txBody>
      </p: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6FB4A813-B4B6-4527-8065-4784AC5AEECE}"/>
              </a:ext>
            </a:extLst>
          </p:cNvPr>
          <p:cNvCxnSpPr>
            <a:cxnSpLocks/>
            <a:stCxn id="38" idx="3"/>
            <a:endCxn id="59" idx="1"/>
          </p:cNvCxnSpPr>
          <p:nvPr/>
        </p:nvCxnSpPr>
        <p:spPr>
          <a:xfrm>
            <a:off x="2795588" y="4772627"/>
            <a:ext cx="3373636" cy="28277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681FE9FF-B183-4C29-A2F7-8C91DE434539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6567165" y="2945541"/>
            <a:ext cx="762136" cy="1900624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FCEB0645-1C9E-433F-97CB-D86EE05BD905}"/>
              </a:ext>
            </a:extLst>
          </p:cNvPr>
          <p:cNvSpPr txBox="1"/>
          <p:nvPr/>
        </p:nvSpPr>
        <p:spPr>
          <a:xfrm>
            <a:off x="3977060" y="4496727"/>
            <a:ext cx="1128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ea typeface="微軟正黑體" panose="020B0604030504040204" pitchFamily="34" charset="-120"/>
              </a:rPr>
              <a:t>2.</a:t>
            </a:r>
            <a:r>
              <a:rPr lang="zh-TW" altLang="en-US" sz="800" dirty="0">
                <a:ea typeface="微軟正黑體" panose="020B0604030504040204" pitchFamily="34" charset="-120"/>
              </a:rPr>
              <a:t> 存取 </a:t>
            </a:r>
            <a:r>
              <a:rPr lang="en-US" altLang="zh-TW" sz="800" dirty="0">
                <a:ea typeface="微軟正黑體" panose="020B0604030504040204" pitchFamily="34" charset="-120"/>
              </a:rPr>
              <a:t>resource server</a:t>
            </a:r>
            <a:r>
              <a:rPr lang="zh-TW" altLang="en-US" sz="800" dirty="0">
                <a:ea typeface="微軟正黑體" panose="020B0604030504040204" pitchFamily="34" charset="-120"/>
              </a:rPr>
              <a:t> 資源並攜帶</a:t>
            </a:r>
            <a:r>
              <a:rPr lang="en-US" altLang="zh-TW" sz="800" dirty="0" err="1">
                <a:ea typeface="微軟正黑體" panose="020B0604030504040204" pitchFamily="34" charset="-120"/>
              </a:rPr>
              <a:t>access_token</a:t>
            </a:r>
            <a:endParaRPr lang="en-US" altLang="zh-TW" sz="800" dirty="0">
              <a:ea typeface="微軟正黑體" panose="020B0604030504040204" pitchFamily="34" charset="-12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CEFD61F0-8283-4CBE-8647-2F08429FD095}"/>
              </a:ext>
            </a:extLst>
          </p:cNvPr>
          <p:cNvSpPr txBox="1"/>
          <p:nvPr/>
        </p:nvSpPr>
        <p:spPr>
          <a:xfrm>
            <a:off x="5846498" y="3418799"/>
            <a:ext cx="11280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800" dirty="0">
                <a:ea typeface="微軟正黑體" panose="020B0604030504040204" pitchFamily="34" charset="-120"/>
              </a:rPr>
              <a:t>3-1.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線上驗證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呼叫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introspect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api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驗證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access_token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是否有效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(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不限於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如為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 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推薦用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8-2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離線驗證</a:t>
            </a:r>
            <a:endParaRPr kumimoji="0" lang="en-US" altLang="zh-TW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軟正黑體" panose="020B0604030504040204" pitchFamily="34" charset="-12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1DD75EC8-2DE1-4C9E-B900-1B378CBA8FAC}"/>
              </a:ext>
            </a:extLst>
          </p:cNvPr>
          <p:cNvSpPr txBox="1"/>
          <p:nvPr/>
        </p:nvSpPr>
        <p:spPr>
          <a:xfrm>
            <a:off x="7059770" y="3429000"/>
            <a:ext cx="11280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ea typeface="微軟正黑體" panose="020B0604030504040204" pitchFamily="34" charset="-120"/>
              </a:rPr>
              <a:t>3-2.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離線驗證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啟動或初次驗證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access_token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時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呼叫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jwk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url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將回傳之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json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資訊緩存至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memory 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驗證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時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header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中的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kid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對應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json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裡相同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kid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之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jwk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資訊抓出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回推簽章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之私鑰所對應之公鑰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將簽章部分進行驗章動作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如成功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,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代表是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auth server 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頒發的 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token (</a:t>
            </a:r>
            <a:r>
              <a:rPr kumimoji="0" lang="zh-TW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僅限於 </a:t>
            </a:r>
            <a:r>
              <a:rPr kumimoji="0" lang="en-US" altLang="zh-TW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jwt</a:t>
            </a: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" panose="020B0604030504040204" pitchFamily="34" charset="-120"/>
              </a:rPr>
              <a:t> token)</a:t>
            </a:r>
            <a:endParaRPr lang="en-US" altLang="zh-TW" sz="800" dirty="0">
              <a:ea typeface="微軟正黑體" panose="020B0604030504040204" pitchFamily="34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DC9BAEA-529C-44D8-953E-4B62DC45B267}"/>
              </a:ext>
            </a:extLst>
          </p:cNvPr>
          <p:cNvSpPr/>
          <p:nvPr/>
        </p:nvSpPr>
        <p:spPr>
          <a:xfrm>
            <a:off x="1383973" y="2205202"/>
            <a:ext cx="2274073" cy="369332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微軟正黑體" panose="020B0604030504040204" pitchFamily="34" charset="-120"/>
              </a:rPr>
              <a:t>Client credentials flow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C6DCE73B-7F39-4DB7-BC07-9182CC9E8CD1}"/>
              </a:ext>
            </a:extLst>
          </p:cNvPr>
          <p:cNvGrpSpPr/>
          <p:nvPr/>
        </p:nvGrpSpPr>
        <p:grpSpPr>
          <a:xfrm>
            <a:off x="7059770" y="2252533"/>
            <a:ext cx="1258894" cy="651275"/>
            <a:chOff x="6931360" y="2185687"/>
            <a:chExt cx="1258894" cy="651275"/>
          </a:xfrm>
        </p:grpSpPr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929F3318-9571-4DF1-8E70-5B3CE8843E69}"/>
                </a:ext>
              </a:extLst>
            </p:cNvPr>
            <p:cNvSpPr txBox="1"/>
            <p:nvPr/>
          </p:nvSpPr>
          <p:spPr>
            <a:xfrm>
              <a:off x="6931360" y="2185687"/>
              <a:ext cx="12588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b="1" dirty="0">
                  <a:ea typeface="微軟正黑體" panose="020B0604030504040204" pitchFamily="34" charset="-120"/>
                </a:rPr>
                <a:t>Authorization server</a:t>
              </a:r>
              <a:endParaRPr lang="zh-TW" altLang="en-US" sz="800" b="1" dirty="0">
                <a:ea typeface="微軟正黑體" panose="020B0604030504040204" pitchFamily="34" charset="-120"/>
              </a:endParaRPr>
            </a:p>
          </p:txBody>
        </p:sp>
        <p:pic>
          <p:nvPicPr>
            <p:cNvPr id="1026" name="Picture 2" descr="Keycloak SSO: Advantages, installation, protips and the real cost - Pretius">
              <a:extLst>
                <a:ext uri="{FF2B5EF4-FFF2-40B4-BE49-F238E27FC236}">
                  <a16:creationId xmlns:a16="http://schemas.microsoft.com/office/drawing/2014/main" id="{8E3DD006-B74A-44D4-AD1F-B123267D1F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9770" y="2351933"/>
              <a:ext cx="728869" cy="485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915BEA6-9CF3-4DA1-8BD9-1429D12BC9EF}"/>
              </a:ext>
            </a:extLst>
          </p:cNvPr>
          <p:cNvSpPr txBox="1"/>
          <p:nvPr/>
        </p:nvSpPr>
        <p:spPr>
          <a:xfrm>
            <a:off x="2070462" y="5156923"/>
            <a:ext cx="6074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highlight>
                  <a:srgbClr val="FFFF00"/>
                </a:highlight>
              </a:rPr>
              <a:t>MCP host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DACBD09-A649-4B0E-9877-6C1F0D93627F}"/>
              </a:ext>
            </a:extLst>
          </p:cNvPr>
          <p:cNvSpPr/>
          <p:nvPr/>
        </p:nvSpPr>
        <p:spPr>
          <a:xfrm>
            <a:off x="2125906" y="4699088"/>
            <a:ext cx="669682" cy="14707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800" dirty="0">
                <a:solidFill>
                  <a:schemeClr val="tx1"/>
                </a:solidFill>
              </a:rPr>
              <a:t>MCP client</a:t>
            </a:r>
            <a:endParaRPr lang="zh-TW" altLang="en-US" sz="800" dirty="0">
              <a:solidFill>
                <a:schemeClr val="tx1"/>
              </a:solidFill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F409AF9A-A006-424A-9A70-4F44A4555A42}"/>
              </a:ext>
            </a:extLst>
          </p:cNvPr>
          <p:cNvGrpSpPr/>
          <p:nvPr/>
        </p:nvGrpSpPr>
        <p:grpSpPr>
          <a:xfrm>
            <a:off x="4011013" y="4998534"/>
            <a:ext cx="1407852" cy="276999"/>
            <a:chOff x="8467052" y="1423514"/>
            <a:chExt cx="1407852" cy="276999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ED5E47F3-08B6-42A9-9313-2378CF029A9C}"/>
                </a:ext>
              </a:extLst>
            </p:cNvPr>
            <p:cNvSpPr txBox="1"/>
            <p:nvPr/>
          </p:nvSpPr>
          <p:spPr>
            <a:xfrm>
              <a:off x="8836679" y="1423514"/>
              <a:ext cx="10382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initialize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七邊形 44">
              <a:extLst>
                <a:ext uri="{FF2B5EF4-FFF2-40B4-BE49-F238E27FC236}">
                  <a16:creationId xmlns:a16="http://schemas.microsoft.com/office/drawing/2014/main" id="{75D7946D-EA59-4559-9D5D-8DED38AAEB37}"/>
                </a:ext>
              </a:extLst>
            </p:cNvPr>
            <p:cNvSpPr/>
            <p:nvPr/>
          </p:nvSpPr>
          <p:spPr>
            <a:xfrm>
              <a:off x="8467052" y="1445178"/>
              <a:ext cx="348793" cy="233977"/>
            </a:xfrm>
            <a:prstGeom prst="heptagon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9C203CD-EA69-4EDE-B28E-0FC77DF23D42}"/>
              </a:ext>
            </a:extLst>
          </p:cNvPr>
          <p:cNvSpPr txBox="1"/>
          <p:nvPr/>
        </p:nvSpPr>
        <p:spPr>
          <a:xfrm>
            <a:off x="6192659" y="5217173"/>
            <a:ext cx="6771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highlight>
                  <a:srgbClr val="FFFF00"/>
                </a:highlight>
              </a:rPr>
              <a:t>MCP server</a:t>
            </a:r>
            <a:endParaRPr lang="zh-TW" altLang="en-US" sz="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42381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前置作業與環境啟動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B14953BF-03AF-4A28-AA93-1DFC002F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33" y="1786824"/>
            <a:ext cx="2069911" cy="1360505"/>
          </a:xfrm>
          <a:prstGeom prst="rect">
            <a:avLst/>
          </a:prstGeom>
        </p:spPr>
      </p:pic>
      <p:sp>
        <p:nvSpPr>
          <p:cNvPr id="46" name="文字方塊 45">
            <a:extLst>
              <a:ext uri="{FF2B5EF4-FFF2-40B4-BE49-F238E27FC236}">
                <a16:creationId xmlns:a16="http://schemas.microsoft.com/office/drawing/2014/main" id="{6482AAC7-29BC-4B8D-9F1B-24044C3BD2DC}"/>
              </a:ext>
            </a:extLst>
          </p:cNvPr>
          <p:cNvSpPr txBox="1"/>
          <p:nvPr/>
        </p:nvSpPr>
        <p:spPr>
          <a:xfrm>
            <a:off x="751467" y="1346401"/>
            <a:ext cx="545971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500" dirty="0"/>
              <a:t>1. </a:t>
            </a:r>
            <a:r>
              <a:rPr lang="zh-TW" altLang="en-US" sz="1500" dirty="0"/>
              <a:t>設定 </a:t>
            </a:r>
            <a:r>
              <a:rPr lang="en-US" altLang="zh-TW" sz="1500" dirty="0" err="1"/>
              <a:t>OpenAI</a:t>
            </a:r>
            <a:r>
              <a:rPr lang="en-US" altLang="zh-TW" sz="1500" dirty="0"/>
              <a:t> API</a:t>
            </a:r>
            <a:r>
              <a:rPr lang="zh-TW" altLang="en-US" sz="1500" dirty="0"/>
              <a:t> </a:t>
            </a:r>
            <a:r>
              <a:rPr lang="en-US" altLang="zh-TW" sz="1500" dirty="0"/>
              <a:t>Key (</a:t>
            </a:r>
            <a:r>
              <a:rPr lang="zh-TW" altLang="en-US" sz="1500" dirty="0"/>
              <a:t>來源參考前章節</a:t>
            </a:r>
            <a:r>
              <a:rPr lang="zh-TW" altLang="en-US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申請 </a:t>
            </a:r>
            <a:r>
              <a:rPr lang="en-US" altLang="zh-TW" sz="1500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 action="ppaction://hlinksldjump"/>
              </a:rPr>
              <a:t> API Key</a:t>
            </a:r>
            <a:r>
              <a:rPr lang="en-US" altLang="zh-TW" sz="1500" dirty="0"/>
              <a:t>)</a:t>
            </a:r>
            <a:endParaRPr lang="zh-TW" altLang="en-US" sz="1500" dirty="0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286F7C39-8CDE-45E9-8AAF-5E4B0F0CE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326" y="1765399"/>
            <a:ext cx="4444161" cy="1406647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C08A8013-AF9E-4DC5-BC08-CA55636C477E}"/>
              </a:ext>
            </a:extLst>
          </p:cNvPr>
          <p:cNvSpPr/>
          <p:nvPr/>
        </p:nvSpPr>
        <p:spPr>
          <a:xfrm>
            <a:off x="3367025" y="2258722"/>
            <a:ext cx="2226055" cy="202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402DB062-685E-44A6-B2DB-994C02B33C08}"/>
              </a:ext>
            </a:extLst>
          </p:cNvPr>
          <p:cNvSpPr txBox="1"/>
          <p:nvPr/>
        </p:nvSpPr>
        <p:spPr>
          <a:xfrm>
            <a:off x="737089" y="3303632"/>
            <a:ext cx="39191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2. </a:t>
            </a:r>
            <a:r>
              <a:rPr lang="zh-TW" altLang="en-US" sz="1500" dirty="0"/>
              <a:t>將 </a:t>
            </a:r>
            <a:r>
              <a:rPr lang="en-US" altLang="zh-TW" sz="1500" dirty="0" err="1"/>
              <a:t>redis</a:t>
            </a:r>
            <a:r>
              <a:rPr lang="en-US" altLang="zh-TW" sz="1500" dirty="0"/>
              <a:t> , keycloak , </a:t>
            </a:r>
            <a:r>
              <a:rPr lang="en-US" altLang="zh-TW" sz="1500" dirty="0" err="1"/>
              <a:t>postgresql</a:t>
            </a:r>
            <a:r>
              <a:rPr lang="en-US" altLang="zh-TW" sz="1500" dirty="0"/>
              <a:t> container </a:t>
            </a:r>
            <a:r>
              <a:rPr lang="zh-TW" altLang="en-US" sz="1500" dirty="0"/>
              <a:t>啟動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1EEE5A-B1ED-4511-A330-BE65A8CAE166}"/>
              </a:ext>
            </a:extLst>
          </p:cNvPr>
          <p:cNvSpPr txBox="1"/>
          <p:nvPr/>
        </p:nvSpPr>
        <p:spPr>
          <a:xfrm>
            <a:off x="5140780" y="3277468"/>
            <a:ext cx="45310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3.</a:t>
            </a:r>
            <a:r>
              <a:rPr lang="zh-TW" altLang="en-US" sz="1500" dirty="0"/>
              <a:t>將 </a:t>
            </a:r>
            <a:r>
              <a:rPr lang="en-US" altLang="zh-TW" sz="1500" dirty="0"/>
              <a:t>spring-ai-</a:t>
            </a:r>
            <a:r>
              <a:rPr lang="en-US" altLang="zh-TW" sz="1500" dirty="0" err="1"/>
              <a:t>mcp</a:t>
            </a:r>
            <a:r>
              <a:rPr lang="en-US" altLang="zh-TW" sz="1500" dirty="0"/>
              <a:t>-server-account-security </a:t>
            </a:r>
            <a:r>
              <a:rPr lang="zh-TW" altLang="en-US" sz="1500" dirty="0"/>
              <a:t>啟動</a:t>
            </a:r>
          </a:p>
          <a:p>
            <a:endParaRPr lang="zh-TW" altLang="en-US" sz="15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65F2A99-85D5-4126-9307-41574D6DE083}"/>
              </a:ext>
            </a:extLst>
          </p:cNvPr>
          <p:cNvSpPr txBox="1"/>
          <p:nvPr/>
        </p:nvSpPr>
        <p:spPr>
          <a:xfrm>
            <a:off x="750289" y="4772705"/>
            <a:ext cx="387530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4. </a:t>
            </a:r>
            <a:r>
              <a:rPr lang="zh-TW" altLang="en-US" sz="1600" dirty="0"/>
              <a:t>將 </a:t>
            </a:r>
            <a:r>
              <a:rPr lang="en-US" altLang="zh-TW" sz="1600" dirty="0"/>
              <a:t>spring-ai-</a:t>
            </a:r>
            <a:r>
              <a:rPr lang="en-US" altLang="zh-TW" sz="1600" dirty="0" err="1"/>
              <a:t>mcp</a:t>
            </a:r>
            <a:r>
              <a:rPr lang="en-US" altLang="zh-TW" sz="1600" dirty="0"/>
              <a:t>-client-security</a:t>
            </a:r>
            <a:r>
              <a:rPr lang="zh-TW" altLang="en-US" sz="1600" dirty="0"/>
              <a:t> 啟動</a:t>
            </a:r>
          </a:p>
          <a:p>
            <a:endParaRPr lang="zh-TW" altLang="en-US" sz="15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F078F00B-0D8B-488E-A175-519D37248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830" y="3702781"/>
            <a:ext cx="4126622" cy="905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2E3F536A-D3D9-45F3-8955-F51010A73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0406" y="3663783"/>
            <a:ext cx="2858005" cy="18067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9CA0F58D-B9BD-4D7B-9B9E-4C1E782D70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33" y="5138935"/>
            <a:ext cx="4126623" cy="1405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02228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群組 37">
            <a:extLst>
              <a:ext uri="{FF2B5EF4-FFF2-40B4-BE49-F238E27FC236}">
                <a16:creationId xmlns:a16="http://schemas.microsoft.com/office/drawing/2014/main" id="{E90EE7C6-CF57-4B30-A10B-1257B065A338}"/>
              </a:ext>
            </a:extLst>
          </p:cNvPr>
          <p:cNvGrpSpPr/>
          <p:nvPr/>
        </p:nvGrpSpPr>
        <p:grpSpPr>
          <a:xfrm>
            <a:off x="2972077" y="2886137"/>
            <a:ext cx="2533977" cy="2492588"/>
            <a:chOff x="1244600" y="2499580"/>
            <a:chExt cx="4059604" cy="3993295"/>
          </a:xfrm>
        </p:grpSpPr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4D4387BC-2F72-4770-A6F8-29BCB8FC7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4600" y="2499580"/>
              <a:ext cx="4059604" cy="3993295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A39D937-4342-40F5-A3C2-34C49F002CAD}"/>
                </a:ext>
              </a:extLst>
            </p:cNvPr>
            <p:cNvSpPr/>
            <p:nvPr/>
          </p:nvSpPr>
          <p:spPr>
            <a:xfrm>
              <a:off x="1244600" y="4602836"/>
              <a:ext cx="1130300" cy="2231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292D45F-78FF-4B77-9CB1-FC06AD3CE0C8}"/>
                </a:ext>
              </a:extLst>
            </p:cNvPr>
            <p:cNvSpPr/>
            <p:nvPr/>
          </p:nvSpPr>
          <p:spPr>
            <a:xfrm>
              <a:off x="3942045" y="6231611"/>
              <a:ext cx="414055" cy="1691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B9A20EB9-4719-47FB-8547-4B8B542CDB5D}"/>
              </a:ext>
            </a:extLst>
          </p:cNvPr>
          <p:cNvGrpSpPr/>
          <p:nvPr/>
        </p:nvGrpSpPr>
        <p:grpSpPr>
          <a:xfrm>
            <a:off x="179787" y="2879988"/>
            <a:ext cx="2614068" cy="2177713"/>
            <a:chOff x="1892300" y="2712651"/>
            <a:chExt cx="5423564" cy="3780224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313BCE77-813E-464C-9F45-69F30C3ED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2300" y="2712651"/>
              <a:ext cx="5423564" cy="3780224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7CBDAC8-8F0F-4974-8B85-2E2C9BEF81D9}"/>
                </a:ext>
              </a:extLst>
            </p:cNvPr>
            <p:cNvSpPr/>
            <p:nvPr/>
          </p:nvSpPr>
          <p:spPr>
            <a:xfrm>
              <a:off x="4120982" y="6025236"/>
              <a:ext cx="2724318" cy="2612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EEFF45E-079E-4B83-B321-0023CBF66081}"/>
              </a:ext>
            </a:extLst>
          </p:cNvPr>
          <p:cNvSpPr txBox="1"/>
          <p:nvPr/>
        </p:nvSpPr>
        <p:spPr>
          <a:xfrm>
            <a:off x="874877" y="1365402"/>
            <a:ext cx="54597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登入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keycloak web console :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http://localhost:8080/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輸入帳號密碼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admin/admin</a:t>
            </a: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切換至 </a:t>
            </a:r>
            <a:r>
              <a:rPr lang="en-US" altLang="zh-TW" dirty="0" err="1">
                <a:solidFill>
                  <a:schemeClr val="accent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realm</a:t>
            </a: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2FA83BCE-CD9C-4DDF-A9BA-231C5B7E4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064" y="2879988"/>
            <a:ext cx="4202783" cy="1941813"/>
          </a:xfrm>
          <a:prstGeom prst="rect">
            <a:avLst/>
          </a:prstGeom>
        </p:spPr>
      </p:pic>
      <p:sp>
        <p:nvSpPr>
          <p:cNvPr id="43" name="橢圓 42">
            <a:extLst>
              <a:ext uri="{FF2B5EF4-FFF2-40B4-BE49-F238E27FC236}">
                <a16:creationId xmlns:a16="http://schemas.microsoft.com/office/drawing/2014/main" id="{81B37F3B-FC4F-4236-A5BB-CB0AEDD1DC7E}"/>
              </a:ext>
            </a:extLst>
          </p:cNvPr>
          <p:cNvSpPr/>
          <p:nvPr/>
        </p:nvSpPr>
        <p:spPr>
          <a:xfrm>
            <a:off x="69987" y="277716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36669FE-C4F2-44A1-925C-8E44A537B530}"/>
              </a:ext>
            </a:extLst>
          </p:cNvPr>
          <p:cNvSpPr/>
          <p:nvPr/>
        </p:nvSpPr>
        <p:spPr>
          <a:xfrm>
            <a:off x="2862277" y="2769173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BD478960-DF87-47D7-8670-6A30A0207020}"/>
              </a:ext>
            </a:extLst>
          </p:cNvPr>
          <p:cNvSpPr/>
          <p:nvPr/>
        </p:nvSpPr>
        <p:spPr>
          <a:xfrm>
            <a:off x="5491870" y="2770188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0801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F2DB6E6A-C9D3-44B7-8A1B-3B84325CDF0B}"/>
              </a:ext>
            </a:extLst>
          </p:cNvPr>
          <p:cNvGrpSpPr/>
          <p:nvPr/>
        </p:nvGrpSpPr>
        <p:grpSpPr>
          <a:xfrm>
            <a:off x="1033230" y="1777988"/>
            <a:ext cx="4124533" cy="2650793"/>
            <a:chOff x="380107" y="2641600"/>
            <a:chExt cx="4674493" cy="3034162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685587A3-1CD8-44A1-B212-A13F0ED18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107" y="2641600"/>
              <a:ext cx="4674493" cy="3034162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B512020-046F-4C7F-A426-42BE571CC17C}"/>
                </a:ext>
              </a:extLst>
            </p:cNvPr>
            <p:cNvSpPr/>
            <p:nvPr/>
          </p:nvSpPr>
          <p:spPr>
            <a:xfrm>
              <a:off x="449263" y="5093373"/>
              <a:ext cx="388938" cy="2231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74F408C-80EC-4BEE-BB98-A881AB9173DE}"/>
                </a:ext>
              </a:extLst>
            </p:cNvPr>
            <p:cNvSpPr/>
            <p:nvPr/>
          </p:nvSpPr>
          <p:spPr>
            <a:xfrm>
              <a:off x="3730625" y="5452598"/>
              <a:ext cx="750888" cy="2231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EEFF45E-079E-4B83-B321-0023CBF66081}"/>
              </a:ext>
            </a:extLst>
          </p:cNvPr>
          <p:cNvSpPr txBox="1"/>
          <p:nvPr/>
        </p:nvSpPr>
        <p:spPr>
          <a:xfrm>
            <a:off x="874877" y="1365402"/>
            <a:ext cx="5459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新增使用者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81B37F3B-FC4F-4236-A5BB-CB0AEDD1DC7E}"/>
              </a:ext>
            </a:extLst>
          </p:cNvPr>
          <p:cNvSpPr/>
          <p:nvPr/>
        </p:nvSpPr>
        <p:spPr>
          <a:xfrm>
            <a:off x="923430" y="170443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6079458-D0AD-40CB-92F2-7DA73FF23CC5}"/>
              </a:ext>
            </a:extLst>
          </p:cNvPr>
          <p:cNvGrpSpPr/>
          <p:nvPr/>
        </p:nvGrpSpPr>
        <p:grpSpPr>
          <a:xfrm>
            <a:off x="5361010" y="2529362"/>
            <a:ext cx="3415623" cy="3689037"/>
            <a:chOff x="5361010" y="2529362"/>
            <a:chExt cx="3415623" cy="3689037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8D300530-3A96-4D04-9CA7-1AF2B8656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0810" y="2639162"/>
              <a:ext cx="3305823" cy="3579237"/>
            </a:xfrm>
            <a:prstGeom prst="rect">
              <a:avLst/>
            </a:prstGeom>
          </p:spPr>
        </p:pic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636669FE-C4F2-44A1-925C-8E44A537B530}"/>
                </a:ext>
              </a:extLst>
            </p:cNvPr>
            <p:cNvSpPr/>
            <p:nvPr/>
          </p:nvSpPr>
          <p:spPr>
            <a:xfrm>
              <a:off x="5361010" y="2529362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C88E8E0-9D6D-46E3-BBF7-4DB0613778F8}"/>
                </a:ext>
              </a:extLst>
            </p:cNvPr>
            <p:cNvSpPr/>
            <p:nvPr/>
          </p:nvSpPr>
          <p:spPr>
            <a:xfrm>
              <a:off x="6999771" y="5494777"/>
              <a:ext cx="343179" cy="1949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61220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573AAA1F-B54A-403E-931F-E34B41555DE6}"/>
              </a:ext>
            </a:extLst>
          </p:cNvPr>
          <p:cNvGrpSpPr/>
          <p:nvPr/>
        </p:nvGrpSpPr>
        <p:grpSpPr>
          <a:xfrm>
            <a:off x="3126699" y="4378402"/>
            <a:ext cx="3909661" cy="2192697"/>
            <a:chOff x="6283636" y="4521225"/>
            <a:chExt cx="3909661" cy="2192697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CD440B5D-439F-4B7F-9978-799AA6026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3636" y="4521225"/>
              <a:ext cx="3909661" cy="2192697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80332BB-1CE5-412D-A9FA-79635F8C55B7}"/>
                </a:ext>
              </a:extLst>
            </p:cNvPr>
            <p:cNvSpPr/>
            <p:nvPr/>
          </p:nvSpPr>
          <p:spPr>
            <a:xfrm>
              <a:off x="8446520" y="6408782"/>
              <a:ext cx="468880" cy="1624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4E85E239-C95D-4661-85F5-5A6EC21906E7}"/>
              </a:ext>
            </a:extLst>
          </p:cNvPr>
          <p:cNvGrpSpPr/>
          <p:nvPr/>
        </p:nvGrpSpPr>
        <p:grpSpPr>
          <a:xfrm>
            <a:off x="5785094" y="1837549"/>
            <a:ext cx="3898734" cy="2365572"/>
            <a:chOff x="6283636" y="1983922"/>
            <a:chExt cx="4181767" cy="2537303"/>
          </a:xfrm>
        </p:grpSpPr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12177751-EC65-44D4-8D8F-38FAC7C0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3636" y="1983922"/>
              <a:ext cx="4181767" cy="2537303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34CBD1F-80DB-402D-BFFC-4ABF73061DF4}"/>
                </a:ext>
              </a:extLst>
            </p:cNvPr>
            <p:cNvSpPr/>
            <p:nvPr/>
          </p:nvSpPr>
          <p:spPr>
            <a:xfrm>
              <a:off x="9263518" y="3622832"/>
              <a:ext cx="153532" cy="2943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C8CCCF2-CFA9-42E6-8138-793B5AEEA52B}"/>
                </a:ext>
              </a:extLst>
            </p:cNvPr>
            <p:cNvSpPr/>
            <p:nvPr/>
          </p:nvSpPr>
          <p:spPr>
            <a:xfrm>
              <a:off x="9234943" y="3956207"/>
              <a:ext cx="153532" cy="1192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B4DAB82-B94D-4B76-AD12-B478A23DB457}"/>
                </a:ext>
              </a:extLst>
            </p:cNvPr>
            <p:cNvSpPr/>
            <p:nvPr/>
          </p:nvSpPr>
          <p:spPr>
            <a:xfrm>
              <a:off x="8555492" y="4158718"/>
              <a:ext cx="271007" cy="1624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C916D1A-2A7E-46AC-8179-279576AC9C4B}"/>
              </a:ext>
            </a:extLst>
          </p:cNvPr>
          <p:cNvGrpSpPr/>
          <p:nvPr/>
        </p:nvGrpSpPr>
        <p:grpSpPr>
          <a:xfrm>
            <a:off x="1033231" y="1814231"/>
            <a:ext cx="4551998" cy="2294808"/>
            <a:chOff x="617219" y="2468880"/>
            <a:chExt cx="5033011" cy="2537302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F926044D-D1B4-4F00-86C8-C04BD9C44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7220" y="2468880"/>
              <a:ext cx="5033010" cy="2537302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A677F93-443F-44ED-9495-40641F11D4E9}"/>
                </a:ext>
              </a:extLst>
            </p:cNvPr>
            <p:cNvSpPr/>
            <p:nvPr/>
          </p:nvSpPr>
          <p:spPr>
            <a:xfrm>
              <a:off x="617219" y="4429125"/>
              <a:ext cx="220981" cy="1476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4E9FE25-E9E5-4151-8097-2FD9230C8757}"/>
                </a:ext>
              </a:extLst>
            </p:cNvPr>
            <p:cNvSpPr/>
            <p:nvPr/>
          </p:nvSpPr>
          <p:spPr>
            <a:xfrm>
              <a:off x="4387849" y="4640935"/>
              <a:ext cx="498475" cy="2231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DF89718-FA6F-4FA5-AEC3-DF8874C89D17}"/>
                </a:ext>
              </a:extLst>
            </p:cNvPr>
            <p:cNvSpPr/>
            <p:nvPr/>
          </p:nvSpPr>
          <p:spPr>
            <a:xfrm>
              <a:off x="2015173" y="3785790"/>
              <a:ext cx="388938" cy="2231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EEFF45E-079E-4B83-B321-0023CBF66081}"/>
              </a:ext>
            </a:extLst>
          </p:cNvPr>
          <p:cNvSpPr txBox="1"/>
          <p:nvPr/>
        </p:nvSpPr>
        <p:spPr>
          <a:xfrm>
            <a:off x="874877" y="1365402"/>
            <a:ext cx="5459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設定使用者密碼</a:t>
            </a: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81B37F3B-FC4F-4236-A5BB-CB0AEDD1DC7E}"/>
              </a:ext>
            </a:extLst>
          </p:cNvPr>
          <p:cNvSpPr/>
          <p:nvPr/>
        </p:nvSpPr>
        <p:spPr>
          <a:xfrm>
            <a:off x="923430" y="170443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636669FE-C4F2-44A1-925C-8E44A537B530}"/>
              </a:ext>
            </a:extLst>
          </p:cNvPr>
          <p:cNvSpPr/>
          <p:nvPr/>
        </p:nvSpPr>
        <p:spPr>
          <a:xfrm>
            <a:off x="5695031" y="1704431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42AFD684-BA36-401A-9301-E9500D88EF7D}"/>
              </a:ext>
            </a:extLst>
          </p:cNvPr>
          <p:cNvSpPr/>
          <p:nvPr/>
        </p:nvSpPr>
        <p:spPr>
          <a:xfrm>
            <a:off x="3028662" y="4268602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8248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OAuth2 auth code flow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741DDD15-0867-4ED5-98B4-07E42D92F487}"/>
              </a:ext>
            </a:extLst>
          </p:cNvPr>
          <p:cNvGrpSpPr/>
          <p:nvPr/>
        </p:nvGrpSpPr>
        <p:grpSpPr>
          <a:xfrm>
            <a:off x="347316" y="1467063"/>
            <a:ext cx="4802278" cy="1867991"/>
            <a:chOff x="1074420" y="2052688"/>
            <a:chExt cx="5510864" cy="2760242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F3B0CDB4-A570-4C5C-A5BD-6C199FF34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420" y="2052688"/>
              <a:ext cx="5510864" cy="2752623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197DA74-FB30-407D-8214-E71407AB0F14}"/>
                </a:ext>
              </a:extLst>
            </p:cNvPr>
            <p:cNvSpPr/>
            <p:nvPr/>
          </p:nvSpPr>
          <p:spPr>
            <a:xfrm>
              <a:off x="1140984" y="2357460"/>
              <a:ext cx="786875" cy="3019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A12CA1C-E397-4071-BB08-F72A21B49A82}"/>
                </a:ext>
              </a:extLst>
            </p:cNvPr>
            <p:cNvSpPr/>
            <p:nvPr/>
          </p:nvSpPr>
          <p:spPr>
            <a:xfrm>
              <a:off x="3602244" y="4549140"/>
              <a:ext cx="969756" cy="2637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49" name="圖片 48">
            <a:extLst>
              <a:ext uri="{FF2B5EF4-FFF2-40B4-BE49-F238E27FC236}">
                <a16:creationId xmlns:a16="http://schemas.microsoft.com/office/drawing/2014/main" id="{726B9D46-5DBF-41F2-9A8D-D1AE722CB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19" y="3969741"/>
            <a:ext cx="3140847" cy="2397068"/>
          </a:xfrm>
          <a:prstGeom prst="rect">
            <a:avLst/>
          </a:prstGeom>
        </p:spPr>
      </p:pic>
      <p:grpSp>
        <p:nvGrpSpPr>
          <p:cNvPr id="55" name="群組 54">
            <a:extLst>
              <a:ext uri="{FF2B5EF4-FFF2-40B4-BE49-F238E27FC236}">
                <a16:creationId xmlns:a16="http://schemas.microsoft.com/office/drawing/2014/main" id="{B54B9C46-138C-4949-8B3E-D4E8E3008877}"/>
              </a:ext>
            </a:extLst>
          </p:cNvPr>
          <p:cNvGrpSpPr/>
          <p:nvPr/>
        </p:nvGrpSpPr>
        <p:grpSpPr>
          <a:xfrm>
            <a:off x="5264670" y="4503974"/>
            <a:ext cx="3576643" cy="1862835"/>
            <a:chOff x="6250369" y="1491489"/>
            <a:chExt cx="4115374" cy="2143424"/>
          </a:xfrm>
        </p:grpSpPr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2144A6EB-0394-4AAF-9C79-A833160D4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0369" y="1491489"/>
              <a:ext cx="4115374" cy="2143424"/>
            </a:xfrm>
            <a:prstGeom prst="rect">
              <a:avLst/>
            </a:prstGeom>
          </p:spPr>
        </p:pic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F3561365-B605-47F9-AC41-D79A9556EA9C}"/>
                </a:ext>
              </a:extLst>
            </p:cNvPr>
            <p:cNvSpPr/>
            <p:nvPr/>
          </p:nvSpPr>
          <p:spPr>
            <a:xfrm>
              <a:off x="9388198" y="3121667"/>
              <a:ext cx="781205" cy="3847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3C7FFE63-96B0-4D9D-8FBF-26E73C727B16}"/>
              </a:ext>
            </a:extLst>
          </p:cNvPr>
          <p:cNvGrpSpPr/>
          <p:nvPr/>
        </p:nvGrpSpPr>
        <p:grpSpPr>
          <a:xfrm>
            <a:off x="5264670" y="1467063"/>
            <a:ext cx="4078498" cy="2329657"/>
            <a:chOff x="6616129" y="4326041"/>
            <a:chExt cx="3553274" cy="2029647"/>
          </a:xfrm>
        </p:grpSpPr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0CB92260-ADA8-4462-9FE0-0AB06BDCE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16129" y="4326041"/>
              <a:ext cx="3553274" cy="2029647"/>
            </a:xfrm>
            <a:prstGeom prst="rect">
              <a:avLst/>
            </a:prstGeom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E5E98906-55BA-4FF4-89C8-EA84654476B3}"/>
                </a:ext>
              </a:extLst>
            </p:cNvPr>
            <p:cNvSpPr/>
            <p:nvPr/>
          </p:nvSpPr>
          <p:spPr>
            <a:xfrm>
              <a:off x="7797530" y="4922042"/>
              <a:ext cx="2371873" cy="14336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67299E43-FF27-456D-A6E7-F8A663996609}"/>
              </a:ext>
            </a:extLst>
          </p:cNvPr>
          <p:cNvSpPr/>
          <p:nvPr/>
        </p:nvSpPr>
        <p:spPr>
          <a:xfrm>
            <a:off x="2533332" y="3449944"/>
            <a:ext cx="361126" cy="404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箭號: 向下 63">
            <a:extLst>
              <a:ext uri="{FF2B5EF4-FFF2-40B4-BE49-F238E27FC236}">
                <a16:creationId xmlns:a16="http://schemas.microsoft.com/office/drawing/2014/main" id="{8580BB58-2C02-4DBD-9D55-279C4786BC5F}"/>
              </a:ext>
            </a:extLst>
          </p:cNvPr>
          <p:cNvSpPr/>
          <p:nvPr/>
        </p:nvSpPr>
        <p:spPr>
          <a:xfrm rot="16200000">
            <a:off x="4570355" y="5146403"/>
            <a:ext cx="361126" cy="404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箭號: 向下 64">
            <a:extLst>
              <a:ext uri="{FF2B5EF4-FFF2-40B4-BE49-F238E27FC236}">
                <a16:creationId xmlns:a16="http://schemas.microsoft.com/office/drawing/2014/main" id="{6468E907-A902-4573-A44E-F82A835949D3}"/>
              </a:ext>
            </a:extLst>
          </p:cNvPr>
          <p:cNvSpPr/>
          <p:nvPr/>
        </p:nvSpPr>
        <p:spPr>
          <a:xfrm rot="10800000">
            <a:off x="6906252" y="3947912"/>
            <a:ext cx="361126" cy="404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9141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OAuth2 auth code flow </a:t>
            </a:r>
            <a:r>
              <a:rPr lang="zh-TW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續</a:t>
            </a:r>
            <a:endParaRPr lang="en-US" altLang="zh-TW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84214E0-379E-48FC-A1D1-74D45C0CA1DD}"/>
              </a:ext>
            </a:extLst>
          </p:cNvPr>
          <p:cNvSpPr txBox="1"/>
          <p:nvPr/>
        </p:nvSpPr>
        <p:spPr>
          <a:xfrm>
            <a:off x="874877" y="1487962"/>
            <a:ext cx="5459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至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3"/>
              </a:rPr>
              <a:t>https://www.jwt.io/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貼上 </a:t>
            </a:r>
            <a:r>
              <a:rPr lang="en-US" altLang="zh-TW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access_token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EA74F9C0-26A7-49C8-8AEE-46BEC46B8810}"/>
              </a:ext>
            </a:extLst>
          </p:cNvPr>
          <p:cNvGrpSpPr/>
          <p:nvPr/>
        </p:nvGrpSpPr>
        <p:grpSpPr>
          <a:xfrm>
            <a:off x="778329" y="1593915"/>
            <a:ext cx="8499897" cy="4442976"/>
            <a:chOff x="411843" y="2110534"/>
            <a:chExt cx="9061027" cy="4736284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8A50E627-E587-4A03-B3FA-6EEC71B44CF7}"/>
                </a:ext>
              </a:extLst>
            </p:cNvPr>
            <p:cNvGrpSpPr/>
            <p:nvPr/>
          </p:nvGrpSpPr>
          <p:grpSpPr>
            <a:xfrm>
              <a:off x="411843" y="2667000"/>
              <a:ext cx="9061027" cy="3825875"/>
              <a:chOff x="571500" y="2387600"/>
              <a:chExt cx="9061027" cy="3825875"/>
            </a:xfrm>
          </p:grpSpPr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578474ED-0E8E-411F-88E6-66238F15A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" y="2864191"/>
                <a:ext cx="6318906" cy="3108288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18E83CE8-E23A-40BA-8C58-EDA216058F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35874"/>
              <a:stretch/>
            </p:blipFill>
            <p:spPr>
              <a:xfrm>
                <a:off x="7568146" y="2387600"/>
                <a:ext cx="2064381" cy="382587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1734FB4F-EFBF-4043-98FD-023C7F202BAA}"/>
                  </a:ext>
                </a:extLst>
              </p:cNvPr>
              <p:cNvSpPr/>
              <p:nvPr/>
            </p:nvSpPr>
            <p:spPr>
              <a:xfrm>
                <a:off x="3953935" y="3503496"/>
                <a:ext cx="2142065" cy="1541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1AC523C5-FA96-4A7C-8727-2A19B541284E}"/>
                  </a:ext>
                </a:extLst>
              </p:cNvPr>
              <p:cNvSpPr/>
              <p:nvPr/>
            </p:nvSpPr>
            <p:spPr>
              <a:xfrm>
                <a:off x="3953935" y="5818375"/>
                <a:ext cx="1905845" cy="1541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0FF2B83A-D48F-46C5-8370-CA18F2E0B437}"/>
                  </a:ext>
                </a:extLst>
              </p:cNvPr>
              <p:cNvSpPr/>
              <p:nvPr/>
            </p:nvSpPr>
            <p:spPr>
              <a:xfrm>
                <a:off x="7726680" y="5201155"/>
                <a:ext cx="872091" cy="1404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49541A9B-2352-431C-A1EA-B85A91F1D661}"/>
                  </a:ext>
                </a:extLst>
              </p:cNvPr>
              <p:cNvSpPr/>
              <p:nvPr/>
            </p:nvSpPr>
            <p:spPr>
              <a:xfrm>
                <a:off x="7726681" y="2592370"/>
                <a:ext cx="1336299" cy="24134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D7D9DE4A-44E8-4032-BFB4-FC1BE80BDFD5}"/>
                </a:ext>
              </a:extLst>
            </p:cNvPr>
            <p:cNvSpPr txBox="1"/>
            <p:nvPr/>
          </p:nvSpPr>
          <p:spPr>
            <a:xfrm>
              <a:off x="5961514" y="6138932"/>
              <a:ext cx="9798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FF0000"/>
                  </a:solidFill>
                </a:rPr>
                <a:t>spring security oauth2 resource server </a:t>
              </a:r>
              <a:r>
                <a:rPr lang="zh-TW" altLang="en-US" sz="800" dirty="0">
                  <a:solidFill>
                    <a:srgbClr val="FF0000"/>
                  </a:solidFill>
                </a:rPr>
                <a:t>套件</a:t>
              </a:r>
              <a:endParaRPr lang="en-US" altLang="zh-TW" sz="800" dirty="0">
                <a:solidFill>
                  <a:srgbClr val="FF0000"/>
                </a:solidFill>
              </a:endParaRPr>
            </a:p>
            <a:p>
              <a:r>
                <a:rPr lang="zh-TW" altLang="en-US" sz="800" dirty="0">
                  <a:solidFill>
                    <a:srgbClr val="FF0000"/>
                  </a:solidFill>
                </a:rPr>
                <a:t>預設使用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sid</a:t>
              </a:r>
              <a:r>
                <a:rPr lang="en-US" altLang="zh-TW" sz="800" dirty="0">
                  <a:solidFill>
                    <a:srgbClr val="FF0000"/>
                  </a:solidFill>
                </a:rPr>
                <a:t> </a:t>
              </a:r>
              <a:r>
                <a:rPr lang="zh-TW" altLang="en-US" sz="800" dirty="0">
                  <a:solidFill>
                    <a:srgbClr val="FF0000"/>
                  </a:solidFill>
                </a:rPr>
                <a:t>當作 </a:t>
              </a:r>
              <a:r>
                <a:rPr lang="en-US" altLang="zh-TW" sz="800" dirty="0">
                  <a:solidFill>
                    <a:srgbClr val="FF0000"/>
                  </a:solidFill>
                </a:rPr>
                <a:t>username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89A34FA3-E90D-467E-A89E-8E0C0A97F260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 flipV="1">
              <a:off x="5700123" y="5550788"/>
              <a:ext cx="1866900" cy="62403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815483A6-38F8-4300-BC88-B088710C170E}"/>
                </a:ext>
              </a:extLst>
            </p:cNvPr>
            <p:cNvSpPr txBox="1"/>
            <p:nvPr/>
          </p:nvSpPr>
          <p:spPr>
            <a:xfrm>
              <a:off x="6721406" y="4830965"/>
              <a:ext cx="6564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rgbClr val="FF0000"/>
                  </a:solidFill>
                </a:rPr>
                <a:t>客製化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jwt</a:t>
              </a:r>
              <a:r>
                <a:rPr lang="en-US" altLang="zh-TW" sz="800" dirty="0">
                  <a:solidFill>
                    <a:srgbClr val="FF0000"/>
                  </a:solidFill>
                </a:rPr>
                <a:t> converter </a:t>
              </a:r>
              <a:r>
                <a:rPr lang="zh-TW" altLang="en-US" sz="800" dirty="0">
                  <a:solidFill>
                    <a:srgbClr val="FF0000"/>
                  </a:solidFill>
                </a:rPr>
                <a:t>改為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chiName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2A98AFA1-A2F6-42E0-8C1B-040E670EFCEC}"/>
                </a:ext>
              </a:extLst>
            </p:cNvPr>
            <p:cNvSpPr txBox="1"/>
            <p:nvPr/>
          </p:nvSpPr>
          <p:spPr>
            <a:xfrm>
              <a:off x="6177747" y="2110534"/>
              <a:ext cx="142652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rgbClr val="FF0000"/>
                  </a:solidFill>
                </a:rPr>
                <a:t>客製化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jwt</a:t>
              </a:r>
              <a:r>
                <a:rPr lang="zh-TW" altLang="en-US" sz="800" dirty="0">
                  <a:solidFill>
                    <a:srgbClr val="FF0000"/>
                  </a:solidFill>
                </a:rPr>
                <a:t> </a:t>
              </a:r>
              <a:r>
                <a:rPr lang="en-US" altLang="zh-TW" sz="800" dirty="0">
                  <a:solidFill>
                    <a:srgbClr val="FF0000"/>
                  </a:solidFill>
                </a:rPr>
                <a:t>granted converter </a:t>
              </a:r>
              <a:r>
                <a:rPr lang="zh-TW" altLang="en-US" sz="800" dirty="0">
                  <a:solidFill>
                    <a:srgbClr val="FF0000"/>
                  </a:solidFill>
                </a:rPr>
                <a:t>改為</a:t>
              </a:r>
              <a:endParaRPr lang="en-US" altLang="zh-TW" sz="800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TW" altLang="en-US" sz="800" dirty="0">
                  <a:solidFill>
                    <a:srgbClr val="FF0000"/>
                  </a:solidFill>
                </a:rPr>
                <a:t>全域 </a:t>
              </a:r>
              <a:r>
                <a:rPr lang="en-US" altLang="zh-TW" sz="800" dirty="0">
                  <a:solidFill>
                    <a:srgbClr val="FF0000"/>
                  </a:solidFill>
                </a:rPr>
                <a:t>role </a:t>
              </a:r>
              <a:r>
                <a:rPr lang="zh-TW" altLang="en-US" sz="800" dirty="0">
                  <a:solidFill>
                    <a:srgbClr val="FF0000"/>
                  </a:solidFill>
                </a:rPr>
                <a:t>轉成 </a:t>
              </a:r>
              <a:r>
                <a:rPr lang="en-US" altLang="zh-TW" sz="800" dirty="0">
                  <a:solidFill>
                    <a:srgbClr val="FF0000"/>
                  </a:solidFill>
                </a:rPr>
                <a:t>ROLE_${role}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TW" sz="800" dirty="0">
                  <a:solidFill>
                    <a:srgbClr val="FF0000"/>
                  </a:solidFill>
                </a:rPr>
                <a:t>Client role </a:t>
              </a:r>
              <a:r>
                <a:rPr lang="zh-TW" altLang="en-US" sz="800" dirty="0">
                  <a:solidFill>
                    <a:srgbClr val="FF0000"/>
                  </a:solidFill>
                </a:rPr>
                <a:t>轉成</a:t>
              </a:r>
              <a:r>
                <a:rPr lang="en-US" altLang="zh-TW" sz="800" dirty="0">
                  <a:solidFill>
                    <a:srgbClr val="FF0000"/>
                  </a:solidFill>
                </a:rPr>
                <a:t>ROLE_${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client_id</a:t>
              </a:r>
              <a:r>
                <a:rPr lang="en-US" altLang="zh-TW" sz="800" dirty="0">
                  <a:solidFill>
                    <a:srgbClr val="FF0000"/>
                  </a:solidFill>
                </a:rPr>
                <a:t>}_${role}</a:t>
              </a:r>
            </a:p>
            <a:p>
              <a:endParaRPr lang="zh-TW" altLang="en-US" sz="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46134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99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OAuth2 client credentials flow</a:t>
            </a:r>
            <a:endParaRPr lang="en-US" altLang="zh-TW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F549B0DA-4233-49C2-9528-B29DBC23E40D}"/>
              </a:ext>
            </a:extLst>
          </p:cNvPr>
          <p:cNvGrpSpPr/>
          <p:nvPr/>
        </p:nvGrpSpPr>
        <p:grpSpPr>
          <a:xfrm>
            <a:off x="310819" y="1431029"/>
            <a:ext cx="4618394" cy="2269664"/>
            <a:chOff x="890401" y="1483911"/>
            <a:chExt cx="4115374" cy="2022460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FFDD6F0A-1CDA-4C2F-A3A2-2526559EB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0401" y="1483911"/>
              <a:ext cx="4115374" cy="2022460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40E313F-3E36-478B-AA5A-286963759DF7}"/>
                </a:ext>
              </a:extLst>
            </p:cNvPr>
            <p:cNvSpPr/>
            <p:nvPr/>
          </p:nvSpPr>
          <p:spPr>
            <a:xfrm>
              <a:off x="1048591" y="1919287"/>
              <a:ext cx="633882" cy="1524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FFB9C18-8171-4E04-9A45-839EA136B5AB}"/>
                </a:ext>
              </a:extLst>
            </p:cNvPr>
            <p:cNvSpPr/>
            <p:nvPr/>
          </p:nvSpPr>
          <p:spPr>
            <a:xfrm>
              <a:off x="2677408" y="3314019"/>
              <a:ext cx="781205" cy="1650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0C0BB59-2E59-4CF1-9AD9-01B8D5F7F351}"/>
              </a:ext>
            </a:extLst>
          </p:cNvPr>
          <p:cNvGrpSpPr/>
          <p:nvPr/>
        </p:nvGrpSpPr>
        <p:grpSpPr>
          <a:xfrm>
            <a:off x="2871526" y="4103945"/>
            <a:ext cx="4115374" cy="2143424"/>
            <a:chOff x="6250369" y="1491489"/>
            <a:chExt cx="4115374" cy="2143424"/>
          </a:xfrm>
        </p:grpSpPr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3B421968-7B7F-44B6-B3F7-EC767A933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0369" y="1491489"/>
              <a:ext cx="4115374" cy="2143424"/>
            </a:xfrm>
            <a:prstGeom prst="rect">
              <a:avLst/>
            </a:prstGeom>
          </p:spPr>
        </p:pic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5E860B50-897F-4C48-AAB9-71CFC0EDA7CB}"/>
                </a:ext>
              </a:extLst>
            </p:cNvPr>
            <p:cNvSpPr/>
            <p:nvPr/>
          </p:nvSpPr>
          <p:spPr>
            <a:xfrm>
              <a:off x="9388198" y="3121667"/>
              <a:ext cx="781205" cy="3847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5624F18E-0A15-4082-808D-029D5D7D2409}"/>
              </a:ext>
            </a:extLst>
          </p:cNvPr>
          <p:cNvGrpSpPr/>
          <p:nvPr/>
        </p:nvGrpSpPr>
        <p:grpSpPr>
          <a:xfrm>
            <a:off x="5232475" y="1431029"/>
            <a:ext cx="4298225" cy="2333731"/>
            <a:chOff x="6155744" y="4387366"/>
            <a:chExt cx="4298225" cy="2333731"/>
          </a:xfrm>
        </p:grpSpPr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C0B0F465-F9E8-471B-8F62-F314992C5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5744" y="4387366"/>
              <a:ext cx="4298225" cy="2274914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17BF280B-53BA-4D8F-B721-7C698AD497CA}"/>
                </a:ext>
              </a:extLst>
            </p:cNvPr>
            <p:cNvSpPr/>
            <p:nvPr/>
          </p:nvSpPr>
          <p:spPr>
            <a:xfrm>
              <a:off x="8082096" y="5287452"/>
              <a:ext cx="2371873" cy="14336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1" name="箭號: 向下 60">
            <a:extLst>
              <a:ext uri="{FF2B5EF4-FFF2-40B4-BE49-F238E27FC236}">
                <a16:creationId xmlns:a16="http://schemas.microsoft.com/office/drawing/2014/main" id="{E28787E0-2B70-4D7F-8BBC-04722AAFDB68}"/>
              </a:ext>
            </a:extLst>
          </p:cNvPr>
          <p:cNvSpPr/>
          <p:nvPr/>
        </p:nvSpPr>
        <p:spPr>
          <a:xfrm rot="19251049">
            <a:off x="2230414" y="3833312"/>
            <a:ext cx="361126" cy="404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3F696605-672D-4E8E-AE28-07F0CC60D1D5}"/>
              </a:ext>
            </a:extLst>
          </p:cNvPr>
          <p:cNvSpPr/>
          <p:nvPr/>
        </p:nvSpPr>
        <p:spPr>
          <a:xfrm rot="13368367">
            <a:off x="7261114" y="3833084"/>
            <a:ext cx="361126" cy="404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806427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(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低權限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83DB6E3-E932-4C1E-AEB0-0CB9CB11DA3A}"/>
              </a:ext>
            </a:extLst>
          </p:cNvPr>
          <p:cNvSpPr txBox="1"/>
          <p:nvPr/>
        </p:nvSpPr>
        <p:spPr>
          <a:xfrm>
            <a:off x="874877" y="1487127"/>
            <a:ext cx="5889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訪問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DemoController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頁面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3"/>
              </a:rPr>
              <a:t>http://localhost:8987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拿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postman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Lab02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prompt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來貼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3CFC0BE2-1554-4A1C-BC2E-8ACC32FD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32" y="2324674"/>
            <a:ext cx="3321450" cy="3757780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8B136921-CC7D-4C17-8D32-20D203B4F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139" y="2883804"/>
            <a:ext cx="3848441" cy="2383550"/>
          </a:xfrm>
          <a:prstGeom prst="rect">
            <a:avLst/>
          </a:prstGeom>
        </p:spPr>
      </p:pic>
      <p:sp>
        <p:nvSpPr>
          <p:cNvPr id="38" name="橢圓 37">
            <a:extLst>
              <a:ext uri="{FF2B5EF4-FFF2-40B4-BE49-F238E27FC236}">
                <a16:creationId xmlns:a16="http://schemas.microsoft.com/office/drawing/2014/main" id="{9BCBDB28-C12E-454A-86A7-8C48C0A1357B}"/>
              </a:ext>
            </a:extLst>
          </p:cNvPr>
          <p:cNvSpPr/>
          <p:nvPr/>
        </p:nvSpPr>
        <p:spPr>
          <a:xfrm>
            <a:off x="1063632" y="221487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1E88827A-E956-4A6C-B5AD-5B6D9FD36C8C}"/>
              </a:ext>
            </a:extLst>
          </p:cNvPr>
          <p:cNvSpPr/>
          <p:nvPr/>
        </p:nvSpPr>
        <p:spPr>
          <a:xfrm>
            <a:off x="5148356" y="2782006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339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83DB6E3-E932-4C1E-AEB0-0CB9CB11DA3A}"/>
              </a:ext>
            </a:extLst>
          </p:cNvPr>
          <p:cNvSpPr txBox="1"/>
          <p:nvPr/>
        </p:nvSpPr>
        <p:spPr>
          <a:xfrm>
            <a:off x="874877" y="1487127"/>
            <a:ext cx="588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設定使用者擁有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 server admin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之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role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799D8CC3-70B2-4127-A22D-61DBA2A0B1F8}"/>
              </a:ext>
            </a:extLst>
          </p:cNvPr>
          <p:cNvGrpSpPr/>
          <p:nvPr/>
        </p:nvGrpSpPr>
        <p:grpSpPr>
          <a:xfrm>
            <a:off x="789216" y="2084827"/>
            <a:ext cx="4094181" cy="2954326"/>
            <a:chOff x="838200" y="2468880"/>
            <a:chExt cx="6100781" cy="4041446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37883163-2154-4605-B098-A7C336F23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468880"/>
              <a:ext cx="6100781" cy="4041446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568ECBF-E952-4B57-8C03-FF1715D211DD}"/>
                </a:ext>
              </a:extLst>
            </p:cNvPr>
            <p:cNvSpPr/>
            <p:nvPr/>
          </p:nvSpPr>
          <p:spPr>
            <a:xfrm>
              <a:off x="838200" y="6162381"/>
              <a:ext cx="419100" cy="3304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7914232-C911-4213-9D4F-4CD2339114DC}"/>
                </a:ext>
              </a:extLst>
            </p:cNvPr>
            <p:cNvSpPr/>
            <p:nvPr/>
          </p:nvSpPr>
          <p:spPr>
            <a:xfrm>
              <a:off x="4420124" y="4943180"/>
              <a:ext cx="837675" cy="2765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A153473-319B-41EC-BCDD-CB81F82EE681}"/>
                </a:ext>
              </a:extLst>
            </p:cNvPr>
            <p:cNvSpPr/>
            <p:nvPr/>
          </p:nvSpPr>
          <p:spPr>
            <a:xfrm>
              <a:off x="5901530" y="5324180"/>
              <a:ext cx="791369" cy="2511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49762764-F7BD-4B72-B6D9-9D579F88CA11}"/>
              </a:ext>
            </a:extLst>
          </p:cNvPr>
          <p:cNvGrpSpPr/>
          <p:nvPr/>
        </p:nvGrpSpPr>
        <p:grpSpPr>
          <a:xfrm>
            <a:off x="4827221" y="3896758"/>
            <a:ext cx="4593093" cy="2284790"/>
            <a:chOff x="5334000" y="3034937"/>
            <a:chExt cx="5444609" cy="2708368"/>
          </a:xfrm>
        </p:grpSpPr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D09CD039-8774-4CCD-9403-AE522C578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0" y="3034937"/>
              <a:ext cx="5444609" cy="2708368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D5FD24F9-4DF4-42A2-919F-4E0EDFE32B75}"/>
                </a:ext>
              </a:extLst>
            </p:cNvPr>
            <p:cNvSpPr/>
            <p:nvPr/>
          </p:nvSpPr>
          <p:spPr>
            <a:xfrm>
              <a:off x="7341307" y="4516328"/>
              <a:ext cx="531081" cy="1835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74FF210-9512-403D-AABC-9CE9F341308D}"/>
                </a:ext>
              </a:extLst>
            </p:cNvPr>
            <p:cNvSpPr/>
            <p:nvPr/>
          </p:nvSpPr>
          <p:spPr>
            <a:xfrm>
              <a:off x="6522157" y="4872813"/>
              <a:ext cx="208843" cy="1835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3FAA2EE-5718-4F36-A7CA-DAF30321732C}"/>
                </a:ext>
              </a:extLst>
            </p:cNvPr>
            <p:cNvSpPr/>
            <p:nvPr/>
          </p:nvSpPr>
          <p:spPr>
            <a:xfrm>
              <a:off x="6465459" y="5530655"/>
              <a:ext cx="392541" cy="1835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4" name="橢圓 43">
            <a:extLst>
              <a:ext uri="{FF2B5EF4-FFF2-40B4-BE49-F238E27FC236}">
                <a16:creationId xmlns:a16="http://schemas.microsoft.com/office/drawing/2014/main" id="{AD6148EA-E1E1-4BAD-891D-1A058B53828E}"/>
              </a:ext>
            </a:extLst>
          </p:cNvPr>
          <p:cNvSpPr/>
          <p:nvPr/>
        </p:nvSpPr>
        <p:spPr>
          <a:xfrm>
            <a:off x="679416" y="197502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3DBE93D7-A0E7-4B39-93EA-E23A46A9E932}"/>
              </a:ext>
            </a:extLst>
          </p:cNvPr>
          <p:cNvSpPr/>
          <p:nvPr/>
        </p:nvSpPr>
        <p:spPr>
          <a:xfrm>
            <a:off x="4726525" y="3772344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60319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群組 34">
            <a:extLst>
              <a:ext uri="{FF2B5EF4-FFF2-40B4-BE49-F238E27FC236}">
                <a16:creationId xmlns:a16="http://schemas.microsoft.com/office/drawing/2014/main" id="{3E9A4C7F-7556-4656-BB1F-59D5C23D6F35}"/>
              </a:ext>
            </a:extLst>
          </p:cNvPr>
          <p:cNvGrpSpPr/>
          <p:nvPr/>
        </p:nvGrpSpPr>
        <p:grpSpPr>
          <a:xfrm>
            <a:off x="1028544" y="2233687"/>
            <a:ext cx="7812770" cy="2985367"/>
            <a:chOff x="1165860" y="2603933"/>
            <a:chExt cx="9003030" cy="3440182"/>
          </a:xfrm>
        </p:grpSpPr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1BB4CB6E-AD4E-46B2-9834-B042EFF85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5860" y="2603933"/>
              <a:ext cx="9003030" cy="3440182"/>
            </a:xfrm>
            <a:prstGeom prst="rect">
              <a:avLst/>
            </a:prstGeom>
          </p:spPr>
        </p:pic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94319D8-DFB5-4748-8FBB-A71E67A8E8BC}"/>
                </a:ext>
              </a:extLst>
            </p:cNvPr>
            <p:cNvSpPr/>
            <p:nvPr/>
          </p:nvSpPr>
          <p:spPr>
            <a:xfrm>
              <a:off x="1165860" y="5860545"/>
              <a:ext cx="531081" cy="1835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A139CE4-E567-47EE-96BC-6A691355172A}"/>
                </a:ext>
              </a:extLst>
            </p:cNvPr>
            <p:cNvSpPr/>
            <p:nvPr/>
          </p:nvSpPr>
          <p:spPr>
            <a:xfrm>
              <a:off x="9858376" y="5085016"/>
              <a:ext cx="190500" cy="201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FAC5EAF-C44B-4E5B-9924-269483CF216C}"/>
                </a:ext>
              </a:extLst>
            </p:cNvPr>
            <p:cNvSpPr/>
            <p:nvPr/>
          </p:nvSpPr>
          <p:spPr>
            <a:xfrm>
              <a:off x="9592835" y="5372101"/>
              <a:ext cx="531081" cy="201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83DB6E3-E932-4C1E-AEB0-0CB9CB11DA3A}"/>
              </a:ext>
            </a:extLst>
          </p:cNvPr>
          <p:cNvSpPr txBox="1"/>
          <p:nvPr/>
        </p:nvSpPr>
        <p:spPr>
          <a:xfrm>
            <a:off x="874877" y="1487127"/>
            <a:ext cx="588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清除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user session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AD6148EA-E1E1-4BAD-891D-1A058B53828E}"/>
              </a:ext>
            </a:extLst>
          </p:cNvPr>
          <p:cNvSpPr/>
          <p:nvPr/>
        </p:nvSpPr>
        <p:spPr>
          <a:xfrm>
            <a:off x="918744" y="213160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8060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重啟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243D70E-8383-4E16-B022-7FC2D83899B7}"/>
              </a:ext>
            </a:extLst>
          </p:cNvPr>
          <p:cNvGrpSpPr/>
          <p:nvPr/>
        </p:nvGrpSpPr>
        <p:grpSpPr>
          <a:xfrm>
            <a:off x="355600" y="4286907"/>
            <a:ext cx="9196024" cy="384245"/>
            <a:chOff x="564376" y="3786723"/>
            <a:chExt cx="11480800" cy="441569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23A073B3-7CA0-4E03-9A5B-7AE6CF1D1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376" y="3786723"/>
              <a:ext cx="11480800" cy="441569"/>
            </a:xfrm>
            <a:prstGeom prst="rect">
              <a:avLst/>
            </a:prstGeom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6498986-9AB6-4DA4-9FFD-840BA08C2236}"/>
                </a:ext>
              </a:extLst>
            </p:cNvPr>
            <p:cNvSpPr/>
            <p:nvPr/>
          </p:nvSpPr>
          <p:spPr>
            <a:xfrm>
              <a:off x="8162924" y="3805370"/>
              <a:ext cx="257175" cy="3094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BB3DCFD-98E0-46EE-A0CD-666C48205D14}"/>
              </a:ext>
            </a:extLst>
          </p:cNvPr>
          <p:cNvGrpSpPr/>
          <p:nvPr/>
        </p:nvGrpSpPr>
        <p:grpSpPr>
          <a:xfrm>
            <a:off x="355601" y="2198769"/>
            <a:ext cx="9196024" cy="983411"/>
            <a:chOff x="711199" y="1690688"/>
            <a:chExt cx="11333977" cy="1212041"/>
          </a:xfrm>
        </p:grpSpPr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E99AB31F-B787-4871-9E37-2524B6466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199" y="1690688"/>
              <a:ext cx="11333977" cy="1212041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A96881F-8F12-4564-9750-E3BED3DDA19B}"/>
                </a:ext>
              </a:extLst>
            </p:cNvPr>
            <p:cNvSpPr/>
            <p:nvPr/>
          </p:nvSpPr>
          <p:spPr>
            <a:xfrm>
              <a:off x="9642798" y="1690688"/>
              <a:ext cx="339402" cy="3540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2" name="橢圓 41">
            <a:extLst>
              <a:ext uri="{FF2B5EF4-FFF2-40B4-BE49-F238E27FC236}">
                <a16:creationId xmlns:a16="http://schemas.microsoft.com/office/drawing/2014/main" id="{B4990B7F-1055-4939-9195-265392399643}"/>
              </a:ext>
            </a:extLst>
          </p:cNvPr>
          <p:cNvSpPr/>
          <p:nvPr/>
        </p:nvSpPr>
        <p:spPr>
          <a:xfrm>
            <a:off x="244575" y="2088969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71EA70E6-518B-412A-9F55-1B35D4FFE2DC}"/>
              </a:ext>
            </a:extLst>
          </p:cNvPr>
          <p:cNvSpPr/>
          <p:nvPr/>
        </p:nvSpPr>
        <p:spPr>
          <a:xfrm>
            <a:off x="244575" y="4154745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5391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 43">
            <a:extLst>
              <a:ext uri="{FF2B5EF4-FFF2-40B4-BE49-F238E27FC236}">
                <a16:creationId xmlns:a16="http://schemas.microsoft.com/office/drawing/2014/main" id="{D3FA1EC9-B1E3-4E77-B142-400D9BDC6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86" y="2610719"/>
            <a:ext cx="3553321" cy="4020111"/>
          </a:xfrm>
          <a:prstGeom prst="rect">
            <a:avLst/>
          </a:prstGeom>
        </p:spPr>
      </p:pic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(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高權限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9BC344-3CDF-4245-97BA-CDA983000EE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571F6F-7B6A-4C9C-B623-B902E1632304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EF4424E-7E56-4292-A708-5688C97934A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AE6187-3EC9-45DE-9335-EE714B8D2CF6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45FC57-D21A-48DD-B995-A80152632C4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58213A-1BF8-4647-AB48-B67ED666B8AB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D10247-3EA3-47C5-A521-4B164E90A08D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C8C1625-6C5B-4830-B013-7931759D8F8B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4691A6-68D2-43B2-B1AD-534A04C0E5E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B632F037-1ACC-4C27-B759-8C2B0554E08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F287342-A7DC-4405-B6EF-8C2FE82DE9A3}"/>
              </a:ext>
            </a:extLst>
          </p:cNvPr>
          <p:cNvSpPr txBox="1"/>
          <p:nvPr/>
        </p:nvSpPr>
        <p:spPr>
          <a:xfrm>
            <a:off x="874877" y="1487127"/>
            <a:ext cx="5889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訪問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DemoController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頁面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hlinkClick r:id="rId4"/>
              </a:rPr>
              <a:t>http://localhost:8987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拿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postman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Lab02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prompt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來貼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測試完關閉</a:t>
            </a:r>
            <a:endParaRPr lang="en-US" altLang="zh-TW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8BEFE7E6-C4D9-4C74-84C8-2E0203677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140" y="2237225"/>
            <a:ext cx="3848441" cy="2383550"/>
          </a:xfrm>
          <a:prstGeom prst="rect">
            <a:avLst/>
          </a:prstGeom>
        </p:spPr>
      </p:pic>
      <p:sp>
        <p:nvSpPr>
          <p:cNvPr id="38" name="橢圓 37">
            <a:extLst>
              <a:ext uri="{FF2B5EF4-FFF2-40B4-BE49-F238E27FC236}">
                <a16:creationId xmlns:a16="http://schemas.microsoft.com/office/drawing/2014/main" id="{A0CC8C97-F398-4E08-BAD6-922604B44719}"/>
              </a:ext>
            </a:extLst>
          </p:cNvPr>
          <p:cNvSpPr/>
          <p:nvPr/>
        </p:nvSpPr>
        <p:spPr>
          <a:xfrm>
            <a:off x="1051844" y="2500919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1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B55DA0B1-610F-47A9-80A1-3436F4BC5C6D}"/>
              </a:ext>
            </a:extLst>
          </p:cNvPr>
          <p:cNvSpPr/>
          <p:nvPr/>
        </p:nvSpPr>
        <p:spPr>
          <a:xfrm>
            <a:off x="5148357" y="213542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2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A64923BA-3740-4978-B047-6BCC69E56FEE}"/>
              </a:ext>
            </a:extLst>
          </p:cNvPr>
          <p:cNvGrpSpPr/>
          <p:nvPr/>
        </p:nvGrpSpPr>
        <p:grpSpPr>
          <a:xfrm>
            <a:off x="5179249" y="5249687"/>
            <a:ext cx="4012512" cy="1113298"/>
            <a:chOff x="3372457" y="2377344"/>
            <a:chExt cx="4944165" cy="1371791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41C40596-A952-4CB3-A970-20FA3377B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72457" y="2377344"/>
              <a:ext cx="4944165" cy="1371791"/>
            </a:xfrm>
            <a:prstGeom prst="rect">
              <a:avLst/>
            </a:prstGeom>
          </p:spPr>
        </p:pic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FE653C4-5C49-47FC-83B4-60488F6A0F4D}"/>
                </a:ext>
              </a:extLst>
            </p:cNvPr>
            <p:cNvSpPr/>
            <p:nvPr/>
          </p:nvSpPr>
          <p:spPr>
            <a:xfrm>
              <a:off x="5901530" y="2377344"/>
              <a:ext cx="397669" cy="3658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49" name="橢圓 48">
            <a:extLst>
              <a:ext uri="{FF2B5EF4-FFF2-40B4-BE49-F238E27FC236}">
                <a16:creationId xmlns:a16="http://schemas.microsoft.com/office/drawing/2014/main" id="{EB48C400-A31F-4557-BFC3-5EA12471B8AB}"/>
              </a:ext>
            </a:extLst>
          </p:cNvPr>
          <p:cNvSpPr/>
          <p:nvPr/>
        </p:nvSpPr>
        <p:spPr>
          <a:xfrm>
            <a:off x="5085367" y="5139887"/>
            <a:ext cx="219600" cy="2196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D5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rgbClr val="3E5180"/>
                </a:solidFill>
              </a:rPr>
              <a:t>3</a:t>
            </a:r>
            <a:endParaRPr lang="zh-TW" altLang="en-US" sz="1200" dirty="0">
              <a:solidFill>
                <a:srgbClr val="3E51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2540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Lab03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套件說明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E7B0BC8-A0CB-4B8A-B85A-A74CB0B39FE6}"/>
              </a:ext>
            </a:extLst>
          </p:cNvPr>
          <p:cNvSpPr txBox="1"/>
          <p:nvPr/>
        </p:nvSpPr>
        <p:spPr>
          <a:xfrm>
            <a:off x="913247" y="1817119"/>
            <a:ext cx="291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Maven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dirty="0"/>
              <a:t>MCP Client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套件引用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1DFEA3A-E5A4-4BC8-AEA9-6E42A653BDCF}"/>
              </a:ext>
            </a:extLst>
          </p:cNvPr>
          <p:cNvSpPr txBox="1"/>
          <p:nvPr/>
        </p:nvSpPr>
        <p:spPr>
          <a:xfrm>
            <a:off x="48703" y="2061462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7867A9E-8855-412E-A4BB-097F9509CF8B}"/>
              </a:ext>
            </a:extLst>
          </p:cNvPr>
          <p:cNvSpPr txBox="1"/>
          <p:nvPr/>
        </p:nvSpPr>
        <p:spPr>
          <a:xfrm>
            <a:off x="5781798" y="1836224"/>
            <a:ext cx="292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Maven MCP server </a:t>
            </a:r>
            <a:r>
              <a:rPr lang="zh-TW" altLang="en-US" dirty="0">
                <a:ea typeface="微軟正黑體" panose="020B0604030504040204" pitchFamily="34" charset="-120"/>
              </a:rPr>
              <a:t>套件引用</a:t>
            </a:r>
            <a:r>
              <a:rPr lang="en-US" altLang="zh-TW" dirty="0">
                <a:ea typeface="微軟正黑體" panose="020B0604030504040204" pitchFamily="34" charset="-120"/>
              </a:rPr>
              <a:t> 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6786B5-BC28-48AB-9CA7-41772D44812D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3F5CC2-2D71-490B-8B61-475DB3793B3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21566F-D87C-4174-B58B-94D558F596DF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ACBA370-B84C-4C2C-904A-E1ACD448F4EA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BD9D0C-3931-45B6-96DA-90F7609D6A14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641846-6574-41E7-892A-ABC1649BAA15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AEBC1B-C487-4B65-BA6C-9A20794A30B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C97B688-9950-4A42-A13B-FB68128F6B41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BE5B1A6-BF28-4A61-866F-B8ABC9D3C510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00D02F1-C50A-4913-91A0-07B4AAB2598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A3C8493-1419-4988-B6E2-26B4B9E85B37}"/>
              </a:ext>
            </a:extLst>
          </p:cNvPr>
          <p:cNvGrpSpPr/>
          <p:nvPr/>
        </p:nvGrpSpPr>
        <p:grpSpPr>
          <a:xfrm>
            <a:off x="251862" y="2224836"/>
            <a:ext cx="4496704" cy="3161700"/>
            <a:chOff x="696719" y="2321672"/>
            <a:chExt cx="4675383" cy="3287332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4A1CE56-932B-42CD-ADCD-E6EB52000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719" y="2321672"/>
              <a:ext cx="4675383" cy="3287332"/>
            </a:xfrm>
            <a:prstGeom prst="rect">
              <a:avLst/>
            </a:prstGeom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8B48CB6-7556-4E0A-8C2F-03365913EA6D}"/>
                </a:ext>
              </a:extLst>
            </p:cNvPr>
            <p:cNvSpPr/>
            <p:nvPr/>
          </p:nvSpPr>
          <p:spPr>
            <a:xfrm>
              <a:off x="764261" y="2475358"/>
              <a:ext cx="3990619" cy="14794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34D92786-725D-45B7-9FEA-325F57912042}"/>
              </a:ext>
            </a:extLst>
          </p:cNvPr>
          <p:cNvGrpSpPr/>
          <p:nvPr/>
        </p:nvGrpSpPr>
        <p:grpSpPr>
          <a:xfrm>
            <a:off x="5030462" y="2242836"/>
            <a:ext cx="4713652" cy="3046931"/>
            <a:chOff x="5881724" y="2227821"/>
            <a:chExt cx="5085555" cy="3287331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D982F061-8613-4A18-B0D1-A2F18AD75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1724" y="2227821"/>
              <a:ext cx="5085555" cy="3287331"/>
            </a:xfrm>
            <a:prstGeom prst="rect">
              <a:avLst/>
            </a:prstGeom>
          </p:spPr>
        </p:pic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9D71013-3F46-41AF-8EBA-62DF8F7FBD66}"/>
                </a:ext>
              </a:extLst>
            </p:cNvPr>
            <p:cNvSpPr/>
            <p:nvPr/>
          </p:nvSpPr>
          <p:spPr>
            <a:xfrm>
              <a:off x="9072160" y="2757235"/>
              <a:ext cx="428551" cy="2156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FB01768-984F-4A30-8E90-278B57EC922D}"/>
                </a:ext>
              </a:extLst>
            </p:cNvPr>
            <p:cNvSpPr/>
            <p:nvPr/>
          </p:nvSpPr>
          <p:spPr>
            <a:xfrm>
              <a:off x="5881724" y="3200718"/>
              <a:ext cx="4965346" cy="22399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703091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641DA9-B181-42A3-A1D1-85E586B23254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071DC4-18C5-40E8-92FB-80C150444325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6CA867A-0565-46B2-8461-D397D597D09B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6AF5FB6-EC44-4BC3-9FEE-83C7B61135F5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05C0B8B-8BDC-4AF7-985D-EDBDA34F3E5E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07BDF6-9410-46EC-A779-31334E34B662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C2FD93F-62B8-477B-88BD-4803EA1FF79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317C38-104B-49CC-B286-EDE9BE1965C8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E1705CF-76EA-4F69-B6A4-72A1B6C8BAC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E76F82B-555B-473A-A61B-EB30C194CA44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Lab03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架構說明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7528EC8-F44B-4E8B-982A-0C26EE51E10D}"/>
              </a:ext>
            </a:extLst>
          </p:cNvPr>
          <p:cNvSpPr txBox="1"/>
          <p:nvPr/>
        </p:nvSpPr>
        <p:spPr>
          <a:xfrm>
            <a:off x="4476460" y="1580554"/>
            <a:ext cx="454053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>
                <a:ea typeface="微軟正黑體" panose="020B0604030504040204" pitchFamily="34" charset="-120"/>
              </a:rPr>
              <a:t>MCP Host 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spring-ai-</a:t>
            </a:r>
            <a:r>
              <a:rPr lang="en-US" altLang="zh-TW" dirty="0" err="1">
                <a:solidFill>
                  <a:schemeClr val="accent1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-client-security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zh-TW" altLang="en-US" sz="1500" dirty="0">
                <a:ea typeface="微軟正黑體" panose="020B0604030504040204" pitchFamily="34" charset="-120"/>
              </a:rPr>
              <a:t>為每個串接之 </a:t>
            </a:r>
            <a:r>
              <a:rPr lang="en-US" altLang="zh-TW" sz="1500" dirty="0">
                <a:ea typeface="微軟正黑體" panose="020B0604030504040204" pitchFamily="34" charset="-120"/>
              </a:rPr>
              <a:t>MCP server </a:t>
            </a:r>
            <a:r>
              <a:rPr lang="zh-TW" altLang="en-US" sz="1500" dirty="0">
                <a:ea typeface="微軟正黑體" panose="020B0604030504040204" pitchFamily="34" charset="-120"/>
              </a:rPr>
              <a:t>創建一個 </a:t>
            </a:r>
            <a:r>
              <a:rPr lang="en-US" altLang="zh-TW" sz="1500" dirty="0">
                <a:ea typeface="微軟正黑體" panose="020B0604030504040204" pitchFamily="34" charset="-120"/>
              </a:rPr>
              <a:t>MCP client</a:t>
            </a:r>
          </a:p>
          <a:p>
            <a:pPr marL="342900" indent="-342900">
              <a:buAutoNum type="arabicPeriod"/>
            </a:pPr>
            <a:r>
              <a:rPr lang="en-US" altLang="zh-TW" dirty="0">
                <a:ea typeface="微軟正黑體" panose="020B0604030504040204" pitchFamily="34" charset="-120"/>
              </a:rPr>
              <a:t>MCP Server: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spring-ai-</a:t>
            </a:r>
            <a:r>
              <a:rPr lang="en-US" altLang="zh-TW" dirty="0" err="1">
                <a:solidFill>
                  <a:schemeClr val="accent1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dirty="0">
                <a:solidFill>
                  <a:schemeClr val="accent1"/>
                </a:solidFill>
                <a:ea typeface="微軟正黑體" panose="020B0604030504040204" pitchFamily="34" charset="-120"/>
              </a:rPr>
              <a:t>-server-account-security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>
                <a:ea typeface="微軟正黑體" panose="020B0604030504040204" pitchFamily="34" charset="-120"/>
              </a:rPr>
              <a:t>AccountTool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getBalance</a:t>
            </a:r>
            <a:endParaRPr lang="en-US" altLang="zh-TW" dirty="0">
              <a:solidFill>
                <a:schemeClr val="accent2"/>
              </a:solidFill>
              <a:ea typeface="微軟正黑體" panose="020B0604030504040204" pitchFamily="34" charset="-120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accent2"/>
                </a:solidFill>
                <a:ea typeface="微軟正黑體" panose="020B0604030504040204" pitchFamily="34" charset="-120"/>
              </a:rPr>
              <a:t>transfer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getTransferHistory</a:t>
            </a:r>
            <a:endParaRPr lang="zh-TW" altLang="en-US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A07C4B3-E14E-4332-A8CA-C9AD741190F7}"/>
              </a:ext>
            </a:extLst>
          </p:cNvPr>
          <p:cNvSpPr txBox="1"/>
          <p:nvPr/>
        </p:nvSpPr>
        <p:spPr>
          <a:xfrm>
            <a:off x="1859563" y="1602840"/>
            <a:ext cx="138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目錄結構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41F0E3-A9FE-460D-A77B-19182DA344EE}"/>
              </a:ext>
            </a:extLst>
          </p:cNvPr>
          <p:cNvGrpSpPr/>
          <p:nvPr/>
        </p:nvGrpSpPr>
        <p:grpSpPr>
          <a:xfrm>
            <a:off x="1031621" y="2169080"/>
            <a:ext cx="2800741" cy="2543530"/>
            <a:chOff x="1031621" y="2169080"/>
            <a:chExt cx="2800741" cy="254353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9AE92B8-7EB2-4C08-AEC6-93119D88F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621" y="2169080"/>
              <a:ext cx="2800741" cy="2543530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8689916-B18D-4209-A469-9BA76D8830E6}"/>
                </a:ext>
              </a:extLst>
            </p:cNvPr>
            <p:cNvSpPr/>
            <p:nvPr/>
          </p:nvSpPr>
          <p:spPr>
            <a:xfrm>
              <a:off x="1103399" y="2898159"/>
              <a:ext cx="2728963" cy="4038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04394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spring-ai-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-client-security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應用設定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505389D-B0AE-4680-9964-5D146E9B73C6}"/>
              </a:ext>
            </a:extLst>
          </p:cNvPr>
          <p:cNvGrpSpPr/>
          <p:nvPr/>
        </p:nvGrpSpPr>
        <p:grpSpPr>
          <a:xfrm>
            <a:off x="337828" y="1443710"/>
            <a:ext cx="5553192" cy="4901163"/>
            <a:chOff x="1855347" y="1351296"/>
            <a:chExt cx="5553192" cy="49011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76EB3366-23E3-48F0-A6A8-64941059F379}"/>
                </a:ext>
              </a:extLst>
            </p:cNvPr>
            <p:cNvGrpSpPr/>
            <p:nvPr/>
          </p:nvGrpSpPr>
          <p:grpSpPr>
            <a:xfrm>
              <a:off x="1855347" y="1351296"/>
              <a:ext cx="5553192" cy="4901163"/>
              <a:chOff x="1982347" y="1329610"/>
              <a:chExt cx="5553192" cy="4901163"/>
            </a:xfrm>
          </p:grpSpPr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88551B9B-3894-4E8C-A25C-38434FBEE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347" y="1329610"/>
                <a:ext cx="5553192" cy="4901163"/>
              </a:xfrm>
              <a:prstGeom prst="rect">
                <a:avLst/>
              </a:prstGeom>
            </p:spPr>
          </p:pic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CA94899-3D78-4569-AA00-DBCD26B0D5CA}"/>
                  </a:ext>
                </a:extLst>
              </p:cNvPr>
              <p:cNvSpPr txBox="1"/>
              <p:nvPr/>
            </p:nvSpPr>
            <p:spPr>
              <a:xfrm>
                <a:off x="2981835" y="5006456"/>
                <a:ext cx="359707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官方文件說明只能使用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sync ,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因 </a:t>
                </a:r>
                <a:r>
                  <a:rPr lang="en-US" altLang="zh-TW" sz="800" dirty="0" err="1">
                    <a:solidFill>
                      <a:srgbClr val="FF0000"/>
                    </a:solidFill>
                  </a:rPr>
                  <a:t>mcp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-client-security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套件目前不支援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async</a:t>
                </a: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70E3BFF-E9A6-4526-9B6A-E9D01D447618}"/>
                  </a:ext>
                </a:extLst>
              </p:cNvPr>
              <p:cNvSpPr txBox="1"/>
              <p:nvPr/>
            </p:nvSpPr>
            <p:spPr>
              <a:xfrm>
                <a:off x="3085565" y="2104990"/>
                <a:ext cx="232082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自行取名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,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根據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oauth2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流程取名比較不容易忘記</a:t>
                </a:r>
                <a:endParaRPr lang="en-US" altLang="zh-TW" sz="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389900F-2AE9-4DBC-A2B0-6BBA4BDC16D8}"/>
                  </a:ext>
                </a:extLst>
              </p:cNvPr>
              <p:cNvSpPr txBox="1"/>
              <p:nvPr/>
            </p:nvSpPr>
            <p:spPr>
              <a:xfrm>
                <a:off x="3659805" y="2245050"/>
                <a:ext cx="169598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指定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Auth server provider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之名稱</a:t>
                </a:r>
                <a:endParaRPr lang="en-US" altLang="zh-TW" sz="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D46F93C9-D5D7-4F8D-988C-BF931724DF29}"/>
                  </a:ext>
                </a:extLst>
              </p:cNvPr>
              <p:cNvSpPr txBox="1"/>
              <p:nvPr/>
            </p:nvSpPr>
            <p:spPr>
              <a:xfrm>
                <a:off x="4864819" y="2395263"/>
                <a:ext cx="108617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>
                    <a:solidFill>
                      <a:srgbClr val="FF0000"/>
                    </a:solidFill>
                  </a:rPr>
                  <a:t>Oauth2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授權流程</a:t>
                </a:r>
                <a:endParaRPr lang="en-US" altLang="zh-TW" sz="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F74FD644-8AE3-442F-B9A7-472835116A03}"/>
                  </a:ext>
                </a:extLst>
              </p:cNvPr>
              <p:cNvSpPr txBox="1"/>
              <p:nvPr/>
            </p:nvSpPr>
            <p:spPr>
              <a:xfrm>
                <a:off x="3710406" y="2544639"/>
                <a:ext cx="169598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應用程式在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auth server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註冊之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id</a:t>
                </a:r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E8AFB384-5D79-4625-9525-50E00E87C0DA}"/>
                  </a:ext>
                </a:extLst>
              </p:cNvPr>
              <p:cNvSpPr txBox="1"/>
              <p:nvPr/>
            </p:nvSpPr>
            <p:spPr>
              <a:xfrm>
                <a:off x="5012720" y="2667209"/>
                <a:ext cx="197358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應用程式在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auth server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註冊之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password</a:t>
                </a: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B8ED1AA9-ECD2-4018-9845-8768D42F1A55}"/>
                  </a:ext>
                </a:extLst>
              </p:cNvPr>
              <p:cNvSpPr txBox="1"/>
              <p:nvPr/>
            </p:nvSpPr>
            <p:spPr>
              <a:xfrm>
                <a:off x="3118616" y="3628000"/>
                <a:ext cx="189410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自行取名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,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Auth server provider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之名稱</a:t>
                </a:r>
                <a:endParaRPr lang="en-US" altLang="zh-TW" sz="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B0D9C04-E23C-46F8-B372-A035BB9CE2C1}"/>
                </a:ext>
              </a:extLst>
            </p:cNvPr>
            <p:cNvSpPr/>
            <p:nvPr/>
          </p:nvSpPr>
          <p:spPr>
            <a:xfrm>
              <a:off x="2322599" y="5063951"/>
              <a:ext cx="579351" cy="1796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788D298-EB14-4550-8F6C-445E173E9730}"/>
                </a:ext>
              </a:extLst>
            </p:cNvPr>
            <p:cNvSpPr/>
            <p:nvPr/>
          </p:nvSpPr>
          <p:spPr>
            <a:xfrm>
              <a:off x="2019688" y="1640165"/>
              <a:ext cx="4839612" cy="23046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063100E6-90A3-4C07-B1F6-297BB2505CBE}"/>
              </a:ext>
            </a:extLst>
          </p:cNvPr>
          <p:cNvGrpSpPr/>
          <p:nvPr/>
        </p:nvGrpSpPr>
        <p:grpSpPr>
          <a:xfrm>
            <a:off x="5439460" y="1974111"/>
            <a:ext cx="3839053" cy="1821551"/>
            <a:chOff x="5971187" y="1963407"/>
            <a:chExt cx="3839053" cy="1821551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335B38F-0F28-4C72-8109-75E4E6A58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1187" y="1963407"/>
              <a:ext cx="3839053" cy="1821551"/>
            </a:xfrm>
            <a:prstGeom prst="rect">
              <a:avLst/>
            </a:prstGeom>
          </p:spPr>
        </p:pic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7607A03-AFE6-48A1-B124-CAE65B3DD3A5}"/>
                </a:ext>
              </a:extLst>
            </p:cNvPr>
            <p:cNvSpPr/>
            <p:nvPr/>
          </p:nvSpPr>
          <p:spPr>
            <a:xfrm>
              <a:off x="6734926" y="2359150"/>
              <a:ext cx="335799" cy="753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B1950B8-6E86-42F6-8F04-C6FB816BF318}"/>
                </a:ext>
              </a:extLst>
            </p:cNvPr>
            <p:cNvSpPr/>
            <p:nvPr/>
          </p:nvSpPr>
          <p:spPr>
            <a:xfrm>
              <a:off x="7223876" y="3190999"/>
              <a:ext cx="805699" cy="760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4EEA7DD-4463-4BD9-B334-66BAAFCD4F4B}"/>
              </a:ext>
            </a:extLst>
          </p:cNvPr>
          <p:cNvGrpSpPr/>
          <p:nvPr/>
        </p:nvGrpSpPr>
        <p:grpSpPr>
          <a:xfrm>
            <a:off x="5455498" y="4115277"/>
            <a:ext cx="3968884" cy="505889"/>
            <a:chOff x="5397591" y="4335440"/>
            <a:chExt cx="3968884" cy="505889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D12201B2-38EB-4AD7-BE87-AA56A1237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7591" y="4335440"/>
              <a:ext cx="3968884" cy="50588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0268522-C7C3-4CF2-AC15-EC9D48884A43}"/>
                </a:ext>
              </a:extLst>
            </p:cNvPr>
            <p:cNvSpPr/>
            <p:nvPr/>
          </p:nvSpPr>
          <p:spPr>
            <a:xfrm>
              <a:off x="6541055" y="4335441"/>
              <a:ext cx="979885" cy="1820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0376C92-4698-4E00-B412-2E0E18659F1A}"/>
                </a:ext>
              </a:extLst>
            </p:cNvPr>
            <p:cNvSpPr/>
            <p:nvPr/>
          </p:nvSpPr>
          <p:spPr>
            <a:xfrm>
              <a:off x="7873838" y="4588384"/>
              <a:ext cx="1346768" cy="252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156016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client security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套件配置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8DD3FE2-AA06-4267-8C73-3D9CD154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32" y="1332893"/>
            <a:ext cx="5493461" cy="4725046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839A4443-B962-4C35-BFCD-6334190B4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142" y="4710619"/>
            <a:ext cx="4975638" cy="1633677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D1153F8F-C40E-4E0B-9C3E-1E758022F80B}"/>
              </a:ext>
            </a:extLst>
          </p:cNvPr>
          <p:cNvSpPr txBox="1"/>
          <p:nvPr/>
        </p:nvSpPr>
        <p:spPr>
          <a:xfrm>
            <a:off x="3612280" y="1650557"/>
            <a:ext cx="2845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將 </a:t>
            </a:r>
            <a:r>
              <a:rPr lang="en-US" altLang="zh-TW" sz="800" dirty="0" err="1">
                <a:solidFill>
                  <a:srgbClr val="FF0000"/>
                </a:solidFill>
              </a:rPr>
              <a:t>SecurityContext</a:t>
            </a:r>
            <a:r>
              <a:rPr lang="zh-TW" altLang="en-US" sz="800" dirty="0">
                <a:solidFill>
                  <a:srgbClr val="FF0000"/>
                </a:solidFill>
              </a:rPr>
              <a:t> 之 </a:t>
            </a:r>
            <a:r>
              <a:rPr lang="en-US" altLang="zh-TW" sz="800" dirty="0">
                <a:solidFill>
                  <a:srgbClr val="FF0000"/>
                </a:solidFill>
              </a:rPr>
              <a:t>authentication </a:t>
            </a:r>
            <a:r>
              <a:rPr lang="zh-TW" altLang="en-US" sz="800" dirty="0">
                <a:solidFill>
                  <a:srgbClr val="FF0000"/>
                </a:solidFill>
              </a:rPr>
              <a:t>物件放入上下文物件中 </a:t>
            </a:r>
            <a:r>
              <a:rPr lang="en-US" altLang="zh-TW" sz="800" dirty="0">
                <a:solidFill>
                  <a:srgbClr val="FF0000"/>
                </a:solidFill>
              </a:rPr>
              <a:t>, </a:t>
            </a:r>
            <a:r>
              <a:rPr lang="zh-TW" altLang="en-US" sz="800" dirty="0">
                <a:solidFill>
                  <a:srgbClr val="FF0000"/>
                </a:solidFill>
              </a:rPr>
              <a:t>有可能不存在 </a:t>
            </a:r>
            <a:r>
              <a:rPr lang="en-US" altLang="zh-TW" sz="800" dirty="0">
                <a:solidFill>
                  <a:srgbClr val="FF0000"/>
                </a:solidFill>
              </a:rPr>
              <a:t>, </a:t>
            </a:r>
            <a:r>
              <a:rPr lang="zh-TW" altLang="en-US" sz="800" dirty="0">
                <a:solidFill>
                  <a:srgbClr val="FF0000"/>
                </a:solidFill>
              </a:rPr>
              <a:t>存在也可能是匿名物件</a:t>
            </a:r>
            <a:endParaRPr lang="en-US" altLang="zh-TW" sz="8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67857C9-183B-4F03-968F-3D9C793C532F}"/>
              </a:ext>
            </a:extLst>
          </p:cNvPr>
          <p:cNvSpPr txBox="1"/>
          <p:nvPr/>
        </p:nvSpPr>
        <p:spPr>
          <a:xfrm>
            <a:off x="4002956" y="2701355"/>
            <a:ext cx="4277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由上下文物件判斷</a:t>
            </a:r>
            <a:endParaRPr lang="en-US" altLang="zh-TW" sz="8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zh-TW" altLang="en-US" sz="800" dirty="0">
                <a:solidFill>
                  <a:srgbClr val="FF0000"/>
                </a:solidFill>
              </a:rPr>
              <a:t>已認證成功 </a:t>
            </a:r>
            <a:r>
              <a:rPr lang="en-US" altLang="zh-TW" sz="800" dirty="0">
                <a:solidFill>
                  <a:srgbClr val="FF0000"/>
                </a:solidFill>
              </a:rPr>
              <a:t>, </a:t>
            </a:r>
            <a:r>
              <a:rPr lang="zh-TW" altLang="en-US" sz="800" dirty="0">
                <a:solidFill>
                  <a:srgbClr val="FF0000"/>
                </a:solidFill>
              </a:rPr>
              <a:t>直接將 </a:t>
            </a:r>
            <a:r>
              <a:rPr lang="en-US" altLang="zh-TW" sz="800" dirty="0">
                <a:solidFill>
                  <a:srgbClr val="FF0000"/>
                </a:solidFill>
              </a:rPr>
              <a:t>access token </a:t>
            </a:r>
            <a:r>
              <a:rPr lang="zh-TW" altLang="en-US" sz="800" dirty="0">
                <a:solidFill>
                  <a:srgbClr val="FF0000"/>
                </a:solidFill>
              </a:rPr>
              <a:t>發給 </a:t>
            </a:r>
            <a:r>
              <a:rPr lang="en-US" altLang="zh-TW" sz="800" dirty="0">
                <a:solidFill>
                  <a:srgbClr val="FF0000"/>
                </a:solidFill>
              </a:rPr>
              <a:t>MCP server</a:t>
            </a:r>
          </a:p>
          <a:p>
            <a:pPr marL="228600" indent="-228600">
              <a:buAutoNum type="arabicPeriod"/>
            </a:pPr>
            <a:r>
              <a:rPr lang="en-US" altLang="zh-TW" sz="800" dirty="0">
                <a:solidFill>
                  <a:srgbClr val="FF0000"/>
                </a:solidFill>
              </a:rPr>
              <a:t>authentication</a:t>
            </a:r>
            <a:r>
              <a:rPr lang="zh-TW" altLang="en-US" sz="800" dirty="0">
                <a:solidFill>
                  <a:srgbClr val="FF0000"/>
                </a:solidFill>
              </a:rPr>
              <a:t> 物件不存在 </a:t>
            </a:r>
            <a:r>
              <a:rPr lang="en-US" altLang="zh-TW" sz="800" dirty="0">
                <a:solidFill>
                  <a:srgbClr val="FF0000"/>
                </a:solidFill>
              </a:rPr>
              <a:t>, </a:t>
            </a:r>
            <a:r>
              <a:rPr lang="zh-TW" altLang="en-US" sz="800" dirty="0">
                <a:solidFill>
                  <a:srgbClr val="FF0000"/>
                </a:solidFill>
              </a:rPr>
              <a:t>走 </a:t>
            </a:r>
            <a:r>
              <a:rPr lang="en-US" altLang="zh-TW" sz="800" dirty="0">
                <a:solidFill>
                  <a:srgbClr val="FF0000"/>
                </a:solidFill>
              </a:rPr>
              <a:t>client credentials flow </a:t>
            </a:r>
            <a:r>
              <a:rPr lang="zh-TW" altLang="en-US" sz="800" dirty="0">
                <a:solidFill>
                  <a:srgbClr val="FF0000"/>
                </a:solidFill>
              </a:rPr>
              <a:t>拿 </a:t>
            </a:r>
            <a:r>
              <a:rPr lang="en-US" altLang="zh-TW" sz="800" dirty="0">
                <a:solidFill>
                  <a:srgbClr val="FF0000"/>
                </a:solidFill>
              </a:rPr>
              <a:t>access token , </a:t>
            </a:r>
            <a:r>
              <a:rPr lang="zh-TW" altLang="en-US" sz="800" dirty="0">
                <a:solidFill>
                  <a:srgbClr val="FF0000"/>
                </a:solidFill>
              </a:rPr>
              <a:t>再發給 </a:t>
            </a:r>
            <a:r>
              <a:rPr lang="en-US" altLang="zh-TW" sz="800" dirty="0">
                <a:solidFill>
                  <a:srgbClr val="FF0000"/>
                </a:solidFill>
              </a:rPr>
              <a:t>MCP server</a:t>
            </a:r>
          </a:p>
          <a:p>
            <a:pPr marL="228600" indent="-228600">
              <a:buAutoNum type="arabicPeriod"/>
            </a:pPr>
            <a:r>
              <a:rPr lang="en-US" altLang="zh-TW" sz="800" dirty="0">
                <a:solidFill>
                  <a:srgbClr val="FF0000"/>
                </a:solidFill>
              </a:rPr>
              <a:t>authentication </a:t>
            </a:r>
            <a:r>
              <a:rPr lang="zh-TW" altLang="en-US" sz="800" dirty="0">
                <a:solidFill>
                  <a:srgbClr val="FF0000"/>
                </a:solidFill>
              </a:rPr>
              <a:t>物件為匿名物件 </a:t>
            </a:r>
            <a:r>
              <a:rPr lang="en-US" altLang="zh-TW" sz="800" dirty="0">
                <a:solidFill>
                  <a:srgbClr val="FF0000"/>
                </a:solidFill>
              </a:rPr>
              <a:t>, </a:t>
            </a:r>
            <a:r>
              <a:rPr lang="zh-TW" altLang="en-US" sz="800" dirty="0">
                <a:solidFill>
                  <a:srgbClr val="FF0000"/>
                </a:solidFill>
              </a:rPr>
              <a:t>走 </a:t>
            </a:r>
            <a:r>
              <a:rPr lang="en-US" altLang="zh-TW" sz="800" dirty="0">
                <a:solidFill>
                  <a:srgbClr val="FF0000"/>
                </a:solidFill>
              </a:rPr>
              <a:t>auth code flow </a:t>
            </a:r>
            <a:r>
              <a:rPr lang="zh-TW" altLang="en-US" sz="800" dirty="0">
                <a:solidFill>
                  <a:srgbClr val="FF0000"/>
                </a:solidFill>
              </a:rPr>
              <a:t>拿 </a:t>
            </a:r>
            <a:r>
              <a:rPr lang="en-US" altLang="zh-TW" sz="800" dirty="0">
                <a:solidFill>
                  <a:srgbClr val="FF0000"/>
                </a:solidFill>
              </a:rPr>
              <a:t>access token , </a:t>
            </a:r>
            <a:r>
              <a:rPr lang="zh-TW" altLang="en-US" sz="800" dirty="0">
                <a:solidFill>
                  <a:srgbClr val="FF0000"/>
                </a:solidFill>
              </a:rPr>
              <a:t>再發給 </a:t>
            </a:r>
            <a:r>
              <a:rPr lang="en-US" altLang="zh-TW" sz="800" dirty="0">
                <a:solidFill>
                  <a:srgbClr val="FF0000"/>
                </a:solidFill>
              </a:rPr>
              <a:t>MCP server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99E1F9B-39D0-4C31-AEFA-5DF0AF8F26DA}"/>
              </a:ext>
            </a:extLst>
          </p:cNvPr>
          <p:cNvSpPr txBox="1"/>
          <p:nvPr/>
        </p:nvSpPr>
        <p:spPr>
          <a:xfrm>
            <a:off x="8054523" y="5239484"/>
            <a:ext cx="1165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不進行任何認證檢查</a:t>
            </a:r>
            <a:endParaRPr lang="en-US" altLang="zh-TW" sz="800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63C1790-F987-49ED-9C37-68EF053618AD}"/>
              </a:ext>
            </a:extLst>
          </p:cNvPr>
          <p:cNvSpPr txBox="1"/>
          <p:nvPr/>
        </p:nvSpPr>
        <p:spPr>
          <a:xfrm>
            <a:off x="6891961" y="5498856"/>
            <a:ext cx="1782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只攔截預設 </a:t>
            </a:r>
            <a:r>
              <a:rPr lang="en-US" altLang="zh-TW" sz="800" dirty="0">
                <a:solidFill>
                  <a:srgbClr val="FF0000"/>
                </a:solidFill>
              </a:rPr>
              <a:t>url: /</a:t>
            </a:r>
            <a:r>
              <a:rPr lang="en-US" altLang="zh-TW" sz="800" dirty="0" err="1">
                <a:solidFill>
                  <a:srgbClr val="FF0000"/>
                </a:solidFill>
              </a:rPr>
              <a:t>oauth</a:t>
            </a:r>
            <a:r>
              <a:rPr lang="en-US" altLang="zh-TW" sz="800" dirty="0">
                <a:solidFill>
                  <a:srgbClr val="FF0000"/>
                </a:solidFill>
              </a:rPr>
              <a:t>/authorization/{registration}</a:t>
            </a:r>
            <a:r>
              <a:rPr lang="zh-TW" altLang="en-US" sz="800" dirty="0">
                <a:solidFill>
                  <a:srgbClr val="FF0000"/>
                </a:solidFill>
              </a:rPr>
              <a:t> 進行導轉至 </a:t>
            </a:r>
            <a:r>
              <a:rPr lang="en-US" altLang="zh-TW" sz="800" dirty="0">
                <a:solidFill>
                  <a:srgbClr val="FF0000"/>
                </a:solidFill>
              </a:rPr>
              <a:t>auth server </a:t>
            </a:r>
            <a:r>
              <a:rPr lang="zh-TW" altLang="en-US" sz="800" dirty="0">
                <a:solidFill>
                  <a:srgbClr val="FF0000"/>
                </a:solidFill>
              </a:rPr>
              <a:t>做登入</a:t>
            </a:r>
            <a:endParaRPr lang="en-US" altLang="zh-TW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6016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109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DemoController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84F1003-A4FF-4F24-8D41-73CE951F0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82" y="1625600"/>
            <a:ext cx="4077455" cy="415342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B0761EA-80FF-4FDE-BFFF-C8BB0D23C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115" y="1625600"/>
            <a:ext cx="2965790" cy="2415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679B188-C4B9-452A-85AD-20692BB1E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161" y="4442930"/>
            <a:ext cx="3592323" cy="1236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917558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25759A-0F14-45FF-A332-F56CA489AE7F}"/>
              </a:ext>
            </a:extLst>
          </p:cNvPr>
          <p:cNvSpPr txBox="1">
            <a:spLocks/>
          </p:cNvSpPr>
          <p:nvPr/>
        </p:nvSpPr>
        <p:spPr>
          <a:xfrm>
            <a:off x="672028" y="174250"/>
            <a:ext cx="8471367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spring-ai-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-server-account-security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應用設定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FC96D83C-9FCF-400F-8AF4-0FF43C800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540" y="1807326"/>
            <a:ext cx="4309175" cy="4175861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2266AB24-4C73-4969-B24C-E92148C13342}"/>
              </a:ext>
            </a:extLst>
          </p:cNvPr>
          <p:cNvSpPr txBox="1"/>
          <p:nvPr/>
        </p:nvSpPr>
        <p:spPr>
          <a:xfrm>
            <a:off x="6177708" y="1385629"/>
            <a:ext cx="3087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MCP server security </a:t>
            </a:r>
            <a:r>
              <a:rPr lang="zh-TW" altLang="en-US" dirty="0">
                <a:ea typeface="微軟正黑體" panose="020B0604030504040204" pitchFamily="34" charset="-120"/>
              </a:rPr>
              <a:t>套件配置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869FCE4-D68C-4806-8F56-976EB16EFC0A}"/>
              </a:ext>
            </a:extLst>
          </p:cNvPr>
          <p:cNvGrpSpPr/>
          <p:nvPr/>
        </p:nvGrpSpPr>
        <p:grpSpPr>
          <a:xfrm>
            <a:off x="310175" y="1621453"/>
            <a:ext cx="5124365" cy="4175860"/>
            <a:chOff x="382122" y="1754961"/>
            <a:chExt cx="5124365" cy="417586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AA7CEF00-C7D3-4295-982F-C89EE1424F57}"/>
                </a:ext>
              </a:extLst>
            </p:cNvPr>
            <p:cNvGrpSpPr/>
            <p:nvPr/>
          </p:nvGrpSpPr>
          <p:grpSpPr>
            <a:xfrm>
              <a:off x="382122" y="1754961"/>
              <a:ext cx="5124365" cy="4175860"/>
              <a:chOff x="1227736" y="1690688"/>
              <a:chExt cx="5124365" cy="4175860"/>
            </a:xfrm>
          </p:grpSpPr>
          <p:grpSp>
            <p:nvGrpSpPr>
              <p:cNvPr id="40" name="群組 39">
                <a:extLst>
                  <a:ext uri="{FF2B5EF4-FFF2-40B4-BE49-F238E27FC236}">
                    <a16:creationId xmlns:a16="http://schemas.microsoft.com/office/drawing/2014/main" id="{7DA9B3F9-7EE9-4AF2-B938-329A5E0B312C}"/>
                  </a:ext>
                </a:extLst>
              </p:cNvPr>
              <p:cNvGrpSpPr/>
              <p:nvPr/>
            </p:nvGrpSpPr>
            <p:grpSpPr>
              <a:xfrm>
                <a:off x="1227736" y="1690688"/>
                <a:ext cx="5057189" cy="4175860"/>
                <a:chOff x="1364896" y="1767740"/>
                <a:chExt cx="5057189" cy="4175860"/>
              </a:xfrm>
            </p:grpSpPr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F4D0A486-4472-432C-97EE-E0F9FCA10E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64896" y="1767740"/>
                  <a:ext cx="3879054" cy="4175860"/>
                </a:xfrm>
                <a:prstGeom prst="rect">
                  <a:avLst/>
                </a:prstGeom>
              </p:spPr>
            </p:pic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71C092AC-AD4E-47B5-9E63-A0F87066CC78}"/>
                    </a:ext>
                  </a:extLst>
                </p:cNvPr>
                <p:cNvSpPr txBox="1"/>
                <p:nvPr/>
              </p:nvSpPr>
              <p:spPr>
                <a:xfrm>
                  <a:off x="4116804" y="3599668"/>
                  <a:ext cx="972305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900" dirty="0">
                      <a:solidFill>
                        <a:srgbClr val="FF0000"/>
                      </a:solidFill>
                    </a:rPr>
                    <a:t>MCP server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名稱</a:t>
                  </a:r>
                  <a:endParaRPr lang="en-US" altLang="zh-TW" sz="9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A2033CE7-C3BE-4718-95D4-60113FAD527F}"/>
                    </a:ext>
                  </a:extLst>
                </p:cNvPr>
                <p:cNvSpPr txBox="1"/>
                <p:nvPr/>
              </p:nvSpPr>
              <p:spPr>
                <a:xfrm>
                  <a:off x="3375725" y="3770335"/>
                  <a:ext cx="3046360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900" dirty="0">
                      <a:solidFill>
                        <a:srgbClr val="FF0000"/>
                      </a:solidFill>
                    </a:rPr>
                    <a:t>MCP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傳輸協定 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,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目前推薦以 </a:t>
                  </a:r>
                  <a:r>
                    <a:rPr lang="en-US" altLang="zh-TW" sz="900" dirty="0" err="1">
                      <a:solidFill>
                        <a:srgbClr val="FF0000"/>
                      </a:solidFill>
                    </a:rPr>
                    <a:t>streamable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 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取代 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SSE  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0AB2B4DC-BFF5-4A9B-8B3F-45F9F846E5D1}"/>
                    </a:ext>
                  </a:extLst>
                </p:cNvPr>
                <p:cNvSpPr txBox="1"/>
                <p:nvPr/>
              </p:nvSpPr>
              <p:spPr>
                <a:xfrm>
                  <a:off x="2720037" y="3970577"/>
                  <a:ext cx="1497133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altLang="zh-TW" sz="9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12576F-719F-47AC-ADB6-5C46341BE06D}"/>
                    </a:ext>
                  </a:extLst>
                </p:cNvPr>
                <p:cNvSpPr txBox="1"/>
                <p:nvPr/>
              </p:nvSpPr>
              <p:spPr>
                <a:xfrm>
                  <a:off x="2881063" y="4140885"/>
                  <a:ext cx="247148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900" dirty="0">
                      <a:solidFill>
                        <a:srgbClr val="FF0000"/>
                      </a:solidFill>
                    </a:rPr>
                    <a:t>是否開啟 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spring ai MCP server starter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自動配置</a:t>
                  </a:r>
                  <a:endParaRPr lang="en-US" altLang="zh-TW" sz="9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ABBB3200-1359-4ECA-9A76-DCAF0E751C75}"/>
                    </a:ext>
                  </a:extLst>
                </p:cNvPr>
                <p:cNvSpPr txBox="1"/>
                <p:nvPr/>
              </p:nvSpPr>
              <p:spPr>
                <a:xfrm>
                  <a:off x="2882607" y="4311182"/>
                  <a:ext cx="117199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900" dirty="0">
                      <a:solidFill>
                        <a:srgbClr val="FF0000"/>
                      </a:solidFill>
                    </a:rPr>
                    <a:t>是否啟用 </a:t>
                  </a:r>
                  <a:r>
                    <a:rPr lang="en-US" altLang="zh-TW" sz="900" dirty="0" err="1">
                      <a:solidFill>
                        <a:srgbClr val="FF0000"/>
                      </a:solidFill>
                    </a:rPr>
                    <a:t>stdio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協定</a:t>
                  </a:r>
                  <a:endParaRPr lang="en-US" altLang="zh-TW" sz="9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945F3900-745B-4A31-A20D-55BA696698B9}"/>
                    </a:ext>
                  </a:extLst>
                </p:cNvPr>
                <p:cNvSpPr txBox="1"/>
                <p:nvPr/>
              </p:nvSpPr>
              <p:spPr>
                <a:xfrm>
                  <a:off x="2990139" y="4674537"/>
                  <a:ext cx="197786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900" dirty="0">
                      <a:solidFill>
                        <a:srgbClr val="FF0000"/>
                      </a:solidFill>
                    </a:rPr>
                    <a:t>是否自動掃描與註冊 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MCP 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工具</a:t>
                  </a:r>
                  <a:endParaRPr lang="en-US" altLang="zh-TW" sz="9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73BC7B3E-7B5E-44BE-AF9E-23012B3F7B8F}"/>
                    </a:ext>
                  </a:extLst>
                </p:cNvPr>
                <p:cNvSpPr txBox="1"/>
                <p:nvPr/>
              </p:nvSpPr>
              <p:spPr>
                <a:xfrm>
                  <a:off x="3348513" y="5431595"/>
                  <a:ext cx="247148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900" dirty="0">
                      <a:solidFill>
                        <a:srgbClr val="FF0000"/>
                      </a:solidFill>
                    </a:rPr>
                    <a:t>MCP server </a:t>
                  </a:r>
                  <a:r>
                    <a:rPr lang="en-US" altLang="zh-TW" sz="900" dirty="0" err="1">
                      <a:solidFill>
                        <a:srgbClr val="FF0000"/>
                      </a:solidFill>
                    </a:rPr>
                    <a:t>streamable</a:t>
                  </a:r>
                  <a:r>
                    <a:rPr lang="zh-TW" altLang="en-US" sz="900" dirty="0">
                      <a:solidFill>
                        <a:srgbClr val="FF0000"/>
                      </a:solidFill>
                    </a:rPr>
                    <a:t> 傳輸協定之 </a:t>
                  </a:r>
                  <a:r>
                    <a:rPr lang="en-US" altLang="zh-TW" sz="900" dirty="0">
                      <a:solidFill>
                        <a:srgbClr val="FF0000"/>
                      </a:solidFill>
                    </a:rPr>
                    <a:t>endpoint </a:t>
                  </a:r>
                </a:p>
              </p:txBody>
            </p:sp>
          </p:grp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75C77F74-BE41-4BE6-A36F-E63923ACFC99}"/>
                  </a:ext>
                </a:extLst>
              </p:cNvPr>
              <p:cNvSpPr txBox="1"/>
              <p:nvPr/>
            </p:nvSpPr>
            <p:spPr>
              <a:xfrm>
                <a:off x="2594175" y="3889952"/>
                <a:ext cx="369075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>
                    <a:solidFill>
                      <a:srgbClr val="FF0000"/>
                    </a:solidFill>
                  </a:rPr>
                  <a:t>官方文件說明只能使用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sync , 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因為 </a:t>
                </a:r>
                <a:r>
                  <a:rPr lang="en-US" altLang="zh-TW" sz="800" dirty="0" err="1">
                    <a:solidFill>
                      <a:srgbClr val="FF0000"/>
                    </a:solidFill>
                  </a:rPr>
                  <a:t>mcp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-server-security </a:t>
                </a:r>
                <a:r>
                  <a:rPr lang="zh-TW" altLang="en-US" sz="800" dirty="0">
                    <a:solidFill>
                      <a:srgbClr val="FF0000"/>
                    </a:solidFill>
                  </a:rPr>
                  <a:t>套件目前不支援 </a:t>
                </a:r>
                <a:r>
                  <a:rPr lang="en-US" altLang="zh-TW" sz="800" dirty="0">
                    <a:solidFill>
                      <a:srgbClr val="FF0000"/>
                    </a:solidFill>
                  </a:rPr>
                  <a:t>async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35C4F061-48C7-40FE-8C91-EDAB5818A12A}"/>
                  </a:ext>
                </a:extLst>
              </p:cNvPr>
              <p:cNvSpPr txBox="1"/>
              <p:nvPr/>
            </p:nvSpPr>
            <p:spPr>
              <a:xfrm>
                <a:off x="4951949" y="2773123"/>
                <a:ext cx="140015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900" dirty="0">
                    <a:solidFill>
                      <a:srgbClr val="FF0000"/>
                    </a:solidFill>
                  </a:rPr>
                  <a:t>Auth server </a:t>
                </a:r>
                <a:r>
                  <a:rPr lang="zh-TW" altLang="en-US" sz="900" dirty="0">
                    <a:solidFill>
                      <a:srgbClr val="FF0000"/>
                    </a:solidFill>
                  </a:rPr>
                  <a:t>之 </a:t>
                </a:r>
                <a:r>
                  <a:rPr lang="en-US" altLang="zh-TW" sz="900" dirty="0">
                    <a:solidFill>
                      <a:srgbClr val="FF0000"/>
                    </a:solidFill>
                  </a:rPr>
                  <a:t>issuer </a:t>
                </a:r>
                <a:r>
                  <a:rPr lang="en-US" altLang="zh-TW" sz="900" dirty="0" err="1">
                    <a:solidFill>
                      <a:srgbClr val="FF0000"/>
                    </a:solidFill>
                  </a:rPr>
                  <a:t>url</a:t>
                </a:r>
                <a:endParaRPr lang="en-US" altLang="zh-TW" sz="9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BA62EA7-DF0F-44E3-A66D-D67F51DA5B81}"/>
                </a:ext>
              </a:extLst>
            </p:cNvPr>
            <p:cNvSpPr/>
            <p:nvPr/>
          </p:nvSpPr>
          <p:spPr>
            <a:xfrm>
              <a:off x="981124" y="3997139"/>
              <a:ext cx="756140" cy="1725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307DC9B-42ED-4C19-9B8C-62AAD5966EBC}"/>
              </a:ext>
            </a:extLst>
          </p:cNvPr>
          <p:cNvSpPr txBox="1"/>
          <p:nvPr/>
        </p:nvSpPr>
        <p:spPr>
          <a:xfrm>
            <a:off x="8135211" y="3939706"/>
            <a:ext cx="160027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00" dirty="0">
                <a:solidFill>
                  <a:srgbClr val="FF0000"/>
                </a:solidFill>
              </a:rPr>
              <a:t>讓 </a:t>
            </a:r>
            <a:r>
              <a:rPr lang="en-US" altLang="zh-TW" sz="700" dirty="0">
                <a:solidFill>
                  <a:srgbClr val="FF0000"/>
                </a:solidFill>
              </a:rPr>
              <a:t>h2 console </a:t>
            </a:r>
            <a:r>
              <a:rPr lang="zh-TW" altLang="en-US" sz="700" dirty="0">
                <a:solidFill>
                  <a:srgbClr val="FF0000"/>
                </a:solidFill>
              </a:rPr>
              <a:t>使用之 </a:t>
            </a:r>
            <a:r>
              <a:rPr lang="en-US" altLang="zh-TW" sz="700" dirty="0">
                <a:solidFill>
                  <a:srgbClr val="FF0000"/>
                </a:solidFill>
              </a:rPr>
              <a:t>iframe </a:t>
            </a:r>
            <a:r>
              <a:rPr lang="zh-TW" altLang="en-US" sz="700" dirty="0">
                <a:solidFill>
                  <a:srgbClr val="FF0000"/>
                </a:solidFill>
              </a:rPr>
              <a:t>生效</a:t>
            </a:r>
            <a:endParaRPr lang="en-US" altLang="zh-TW" sz="700" dirty="0">
              <a:solidFill>
                <a:srgbClr val="FF000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9F7725F-8A36-419D-9795-CCB61B60F203}"/>
              </a:ext>
            </a:extLst>
          </p:cNvPr>
          <p:cNvSpPr txBox="1"/>
          <p:nvPr/>
        </p:nvSpPr>
        <p:spPr>
          <a:xfrm>
            <a:off x="7506001" y="3408792"/>
            <a:ext cx="13837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00" dirty="0">
                <a:solidFill>
                  <a:srgbClr val="FF0000"/>
                </a:solidFill>
              </a:rPr>
              <a:t>客製化將 </a:t>
            </a:r>
            <a:r>
              <a:rPr lang="en-US" altLang="zh-TW" sz="700" dirty="0" err="1">
                <a:solidFill>
                  <a:srgbClr val="FF0000"/>
                </a:solidFill>
              </a:rPr>
              <a:t>keycloak</a:t>
            </a:r>
            <a:r>
              <a:rPr lang="en-US" altLang="zh-TW" sz="700" dirty="0">
                <a:solidFill>
                  <a:srgbClr val="FF0000"/>
                </a:solidFill>
              </a:rPr>
              <a:t> </a:t>
            </a:r>
            <a:r>
              <a:rPr lang="zh-TW" altLang="en-US" sz="700" dirty="0">
                <a:solidFill>
                  <a:srgbClr val="FF0000"/>
                </a:solidFill>
              </a:rPr>
              <a:t>頒發之 </a:t>
            </a:r>
            <a:r>
              <a:rPr lang="en-US" altLang="zh-TW" sz="700" dirty="0">
                <a:solidFill>
                  <a:srgbClr val="FF0000"/>
                </a:solidFill>
              </a:rPr>
              <a:t>access token </a:t>
            </a:r>
            <a:r>
              <a:rPr lang="zh-TW" altLang="en-US" sz="700" dirty="0">
                <a:solidFill>
                  <a:srgbClr val="FF0000"/>
                </a:solidFill>
              </a:rPr>
              <a:t>轉成 </a:t>
            </a:r>
            <a:r>
              <a:rPr lang="en-US" altLang="zh-TW" sz="700" dirty="0">
                <a:solidFill>
                  <a:srgbClr val="FF0000"/>
                </a:solidFill>
              </a:rPr>
              <a:t>spring security </a:t>
            </a:r>
            <a:r>
              <a:rPr lang="zh-TW" altLang="en-US" sz="700" dirty="0">
                <a:solidFill>
                  <a:srgbClr val="FF0000"/>
                </a:solidFill>
              </a:rPr>
              <a:t>之 </a:t>
            </a:r>
            <a:r>
              <a:rPr lang="en-US" altLang="zh-TW" sz="700" dirty="0">
                <a:solidFill>
                  <a:srgbClr val="FF0000"/>
                </a:solidFill>
              </a:rPr>
              <a:t>authentication </a:t>
            </a:r>
            <a:r>
              <a:rPr lang="zh-TW" altLang="en-US" sz="700" dirty="0">
                <a:solidFill>
                  <a:srgbClr val="FF0000"/>
                </a:solidFill>
              </a:rPr>
              <a:t>物件</a:t>
            </a:r>
            <a:endParaRPr lang="en-US" altLang="zh-TW" sz="700" dirty="0">
              <a:solidFill>
                <a:srgbClr val="FF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66CF283-21B2-48AB-B71A-8AF272DD2C47}"/>
              </a:ext>
            </a:extLst>
          </p:cNvPr>
          <p:cNvSpPr txBox="1"/>
          <p:nvPr/>
        </p:nvSpPr>
        <p:spPr>
          <a:xfrm>
            <a:off x="8696326" y="2795181"/>
            <a:ext cx="1047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00" dirty="0">
                <a:solidFill>
                  <a:srgbClr val="FF0000"/>
                </a:solidFill>
              </a:rPr>
              <a:t>任何 </a:t>
            </a:r>
            <a:r>
              <a:rPr lang="en-US" altLang="zh-TW" sz="700" dirty="0">
                <a:solidFill>
                  <a:srgbClr val="FF0000"/>
                </a:solidFill>
              </a:rPr>
              <a:t>request </a:t>
            </a:r>
            <a:r>
              <a:rPr lang="zh-TW" altLang="en-US" sz="700" dirty="0">
                <a:solidFill>
                  <a:srgbClr val="FF0000"/>
                </a:solidFill>
              </a:rPr>
              <a:t>都必須先認證才可放行</a:t>
            </a:r>
            <a:endParaRPr lang="en-US" altLang="zh-TW" sz="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22466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2F78F09-8F2E-4920-9504-E0C383292415}"/>
              </a:ext>
            </a:extLst>
          </p:cNvPr>
          <p:cNvGrpSpPr/>
          <p:nvPr/>
        </p:nvGrpSpPr>
        <p:grpSpPr>
          <a:xfrm>
            <a:off x="149582" y="1364060"/>
            <a:ext cx="4353482" cy="1735877"/>
            <a:chOff x="351602" y="1491098"/>
            <a:chExt cx="4353482" cy="1735877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CF1A19C-83FE-4D38-90E6-B20BF8278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602" y="1849985"/>
              <a:ext cx="4353482" cy="1376990"/>
            </a:xfrm>
            <a:prstGeom prst="rect">
              <a:avLst/>
            </a:prstGeom>
          </p:spPr>
        </p:pic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3B0F36BC-0CFB-44D7-B1FB-88AC01A0C469}"/>
                </a:ext>
              </a:extLst>
            </p:cNvPr>
            <p:cNvSpPr txBox="1"/>
            <p:nvPr/>
          </p:nvSpPr>
          <p:spPr>
            <a:xfrm>
              <a:off x="712362" y="1491098"/>
              <a:ext cx="36251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>
                  <a:ea typeface="微軟正黑體" panose="020B0604030504040204" pitchFamily="34" charset="-120"/>
                </a:rPr>
                <a:t>客製化 </a:t>
              </a:r>
              <a:r>
                <a:rPr lang="en-US" altLang="zh-TW" dirty="0" err="1">
                  <a:ea typeface="微軟正黑體" panose="020B0604030504040204" pitchFamily="34" charset="-120"/>
                </a:rPr>
                <a:t>JwtAuthenticationConverter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56CECCED-919B-4747-80A3-2EC3D5E7268C}"/>
              </a:ext>
            </a:extLst>
          </p:cNvPr>
          <p:cNvGrpSpPr/>
          <p:nvPr/>
        </p:nvGrpSpPr>
        <p:grpSpPr>
          <a:xfrm>
            <a:off x="149582" y="3244850"/>
            <a:ext cx="4353483" cy="1686610"/>
            <a:chOff x="1269317" y="3758067"/>
            <a:chExt cx="4822928" cy="1809279"/>
          </a:xfrm>
        </p:grpSpPr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841EFA83-32DB-4743-AEB6-6E47D9C0A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1820" y="4191252"/>
              <a:ext cx="4375319" cy="1376094"/>
            </a:xfrm>
            <a:prstGeom prst="rect">
              <a:avLst/>
            </a:prstGeom>
          </p:spPr>
        </p:pic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299E5AD-B14C-42F9-8C42-A11D94FCCDE8}"/>
                </a:ext>
              </a:extLst>
            </p:cNvPr>
            <p:cNvSpPr txBox="1"/>
            <p:nvPr/>
          </p:nvSpPr>
          <p:spPr>
            <a:xfrm>
              <a:off x="1269317" y="3758067"/>
              <a:ext cx="4822928" cy="396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>
                  <a:ea typeface="微軟正黑體" panose="020B0604030504040204" pitchFamily="34" charset="-120"/>
                </a:rPr>
                <a:t>客製化 </a:t>
              </a:r>
              <a:r>
                <a:rPr lang="en-US" altLang="zh-TW" dirty="0" err="1">
                  <a:ea typeface="微軟正黑體" panose="020B0604030504040204" pitchFamily="34" charset="-120"/>
                </a:rPr>
                <a:t>JwtGrantedAuthenticationConverter</a:t>
              </a:r>
              <a:endParaRPr lang="zh-TW" altLang="en-US" dirty="0">
                <a:ea typeface="微軟正黑體" panose="020B0604030504040204" pitchFamily="34" charset="-120"/>
              </a:endParaRPr>
            </a:p>
          </p:txBody>
        </p:sp>
      </p:grpSp>
      <p:sp>
        <p:nvSpPr>
          <p:cNvPr id="38" name="標題 1">
            <a:extLst>
              <a:ext uri="{FF2B5EF4-FFF2-40B4-BE49-F238E27FC236}">
                <a16:creationId xmlns:a16="http://schemas.microsoft.com/office/drawing/2014/main" id="{5D32702F-81F9-4F6B-97CA-FBF44C83FC98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Converter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客製化實作</a:t>
            </a:r>
            <a:endParaRPr lang="en-US" altLang="zh-TW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B17C37C-0632-49A6-97A7-EAF07C875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91" y="1450181"/>
            <a:ext cx="2014509" cy="3957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7C1FB31-8E46-4A13-B11B-9E8A889C70C7}"/>
              </a:ext>
            </a:extLst>
          </p:cNvPr>
          <p:cNvSpPr/>
          <p:nvPr/>
        </p:nvSpPr>
        <p:spPr>
          <a:xfrm>
            <a:off x="4916807" y="2411442"/>
            <a:ext cx="1155381" cy="93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680C4A-C6DB-4C03-8D3E-FD99DB1F4301}"/>
              </a:ext>
            </a:extLst>
          </p:cNvPr>
          <p:cNvSpPr/>
          <p:nvPr/>
        </p:nvSpPr>
        <p:spPr>
          <a:xfrm>
            <a:off x="4916806" y="4595048"/>
            <a:ext cx="643413" cy="936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B16EBBD9-D869-4BC6-B703-CBAFA70BC0F6}"/>
              </a:ext>
            </a:extLst>
          </p:cNvPr>
          <p:cNvCxnSpPr>
            <a:stCxn id="26" idx="3"/>
            <a:endCxn id="27" idx="3"/>
          </p:cNvCxnSpPr>
          <p:nvPr/>
        </p:nvCxnSpPr>
        <p:spPr>
          <a:xfrm flipH="1">
            <a:off x="5560219" y="2458259"/>
            <a:ext cx="511969" cy="2183606"/>
          </a:xfrm>
          <a:prstGeom prst="bentConnector3">
            <a:avLst>
              <a:gd name="adj1" fmla="val -4465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3276E0D-2B45-4F87-A09D-0F3026A1F4AF}"/>
              </a:ext>
            </a:extLst>
          </p:cNvPr>
          <p:cNvSpPr txBox="1"/>
          <p:nvPr/>
        </p:nvSpPr>
        <p:spPr>
          <a:xfrm>
            <a:off x="6319275" y="3396173"/>
            <a:ext cx="1872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00" dirty="0">
                <a:solidFill>
                  <a:srgbClr val="FF0000"/>
                </a:solidFill>
              </a:rPr>
              <a:t>將 </a:t>
            </a:r>
            <a:r>
              <a:rPr lang="en-US" altLang="zh-TW" sz="700" dirty="0">
                <a:solidFill>
                  <a:srgbClr val="FF0000"/>
                </a:solidFill>
              </a:rPr>
              <a:t>authentication </a:t>
            </a:r>
            <a:r>
              <a:rPr lang="zh-TW" altLang="en-US" sz="700" dirty="0">
                <a:solidFill>
                  <a:srgbClr val="FF0000"/>
                </a:solidFill>
              </a:rPr>
              <a:t>的 </a:t>
            </a:r>
            <a:r>
              <a:rPr lang="en-US" altLang="zh-TW" sz="700" dirty="0">
                <a:solidFill>
                  <a:srgbClr val="FF0000"/>
                </a:solidFill>
              </a:rPr>
              <a:t>name </a:t>
            </a:r>
            <a:r>
              <a:rPr lang="zh-TW" altLang="en-US" sz="700" dirty="0">
                <a:solidFill>
                  <a:srgbClr val="FF0000"/>
                </a:solidFill>
              </a:rPr>
              <a:t>由 </a:t>
            </a:r>
            <a:r>
              <a:rPr lang="en-US" altLang="zh-TW" sz="700" dirty="0" err="1">
                <a:solidFill>
                  <a:srgbClr val="FF0000"/>
                </a:solidFill>
              </a:rPr>
              <a:t>jwt</a:t>
            </a:r>
            <a:r>
              <a:rPr lang="en-US" altLang="zh-TW" sz="700" dirty="0">
                <a:solidFill>
                  <a:srgbClr val="FF0000"/>
                </a:solidFill>
              </a:rPr>
              <a:t> </a:t>
            </a:r>
            <a:r>
              <a:rPr lang="zh-TW" altLang="en-US" sz="700" dirty="0">
                <a:solidFill>
                  <a:srgbClr val="FF0000"/>
                </a:solidFill>
              </a:rPr>
              <a:t>之 </a:t>
            </a:r>
            <a:r>
              <a:rPr lang="en-US" altLang="zh-TW" sz="700" dirty="0" err="1">
                <a:solidFill>
                  <a:srgbClr val="FF0000"/>
                </a:solidFill>
              </a:rPr>
              <a:t>sid</a:t>
            </a:r>
            <a:r>
              <a:rPr lang="en-US" altLang="zh-TW" sz="700" dirty="0">
                <a:solidFill>
                  <a:srgbClr val="FF0000"/>
                </a:solidFill>
              </a:rPr>
              <a:t> </a:t>
            </a:r>
            <a:r>
              <a:rPr lang="zh-TW" altLang="en-US" sz="700" dirty="0">
                <a:solidFill>
                  <a:srgbClr val="FF0000"/>
                </a:solidFill>
              </a:rPr>
              <a:t>欄位</a:t>
            </a:r>
            <a:endParaRPr lang="en-US" altLang="zh-TW" sz="700" dirty="0">
              <a:solidFill>
                <a:srgbClr val="FF0000"/>
              </a:solidFill>
            </a:endParaRPr>
          </a:p>
          <a:p>
            <a:r>
              <a:rPr lang="zh-TW" altLang="en-US" sz="700" dirty="0">
                <a:solidFill>
                  <a:srgbClr val="FF0000"/>
                </a:solidFill>
              </a:rPr>
              <a:t>換成 </a:t>
            </a:r>
            <a:r>
              <a:rPr lang="en-US" altLang="zh-TW" sz="700" dirty="0" err="1">
                <a:solidFill>
                  <a:srgbClr val="FF0000"/>
                </a:solidFill>
              </a:rPr>
              <a:t>chiName</a:t>
            </a:r>
            <a:endParaRPr lang="en-US" altLang="zh-TW" sz="700" dirty="0">
              <a:solidFill>
                <a:srgbClr val="FF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33D3CBF-BB11-4D0B-BCDC-F65294D93C79}"/>
              </a:ext>
            </a:extLst>
          </p:cNvPr>
          <p:cNvSpPr/>
          <p:nvPr/>
        </p:nvSpPr>
        <p:spPr>
          <a:xfrm>
            <a:off x="510342" y="2634929"/>
            <a:ext cx="1204158" cy="100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C04C051-0FCB-4372-A572-D206A0467CD4}"/>
              </a:ext>
            </a:extLst>
          </p:cNvPr>
          <p:cNvCxnSpPr>
            <a:stCxn id="47" idx="3"/>
            <a:endCxn id="27" idx="1"/>
          </p:cNvCxnSpPr>
          <p:nvPr/>
        </p:nvCxnSpPr>
        <p:spPr>
          <a:xfrm>
            <a:off x="1714500" y="2685255"/>
            <a:ext cx="3202306" cy="195661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3509B6F5-FBDB-4FAC-930B-7A3A25AC4375}"/>
              </a:ext>
            </a:extLst>
          </p:cNvPr>
          <p:cNvSpPr/>
          <p:nvPr/>
        </p:nvSpPr>
        <p:spPr>
          <a:xfrm>
            <a:off x="4925258" y="2968431"/>
            <a:ext cx="964995" cy="147103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387CB2-A5D4-4DC1-A66C-437D89464CCD}"/>
              </a:ext>
            </a:extLst>
          </p:cNvPr>
          <p:cNvSpPr/>
          <p:nvPr/>
        </p:nvSpPr>
        <p:spPr>
          <a:xfrm>
            <a:off x="1761411" y="2722693"/>
            <a:ext cx="1364636" cy="1471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CE345C3-36A3-461D-ACAF-6E8DD3EAC80B}"/>
              </a:ext>
            </a:extLst>
          </p:cNvPr>
          <p:cNvCxnSpPr>
            <a:stCxn id="50" idx="2"/>
            <a:endCxn id="34" idx="0"/>
          </p:cNvCxnSpPr>
          <p:nvPr/>
        </p:nvCxnSpPr>
        <p:spPr>
          <a:xfrm flipH="1">
            <a:off x="2243910" y="2869824"/>
            <a:ext cx="199819" cy="77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F39DED0-099E-4866-B0BB-C9454278103A}"/>
              </a:ext>
            </a:extLst>
          </p:cNvPr>
          <p:cNvSpPr txBox="1"/>
          <p:nvPr/>
        </p:nvSpPr>
        <p:spPr>
          <a:xfrm>
            <a:off x="2643932" y="4035558"/>
            <a:ext cx="1491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客製化 </a:t>
            </a:r>
            <a:r>
              <a:rPr lang="en-US" altLang="zh-TW" sz="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jwt</a:t>
            </a:r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granted converter </a:t>
            </a:r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改為</a:t>
            </a:r>
            <a:endParaRPr lang="en-US" altLang="zh-TW" sz="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全域 </a:t>
            </a: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role </a:t>
            </a:r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轉成 </a:t>
            </a: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ROLE_${role}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client role </a:t>
            </a:r>
            <a:r>
              <a:rPr lang="zh-TW" altLang="en-US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轉成</a:t>
            </a: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ROLE_${</a:t>
            </a:r>
            <a:r>
              <a:rPr lang="en-US" altLang="zh-TW" sz="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client_id</a:t>
            </a:r>
            <a:r>
              <a:rPr lang="en-US" altLang="zh-TW" sz="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}_${role}</a:t>
            </a:r>
          </a:p>
          <a:p>
            <a:endParaRPr lang="zh-TW" altLang="en-US" sz="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02B021CC-EC2D-4644-85FC-6FC868E6392E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4135489" y="3703950"/>
            <a:ext cx="789769" cy="808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4110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55953E-85C4-4217-B658-E7C0FBB3629F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17257F-3211-4494-9951-909D9302946B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96B4C51-9B37-46D6-ABB7-1FE1A78B2C7A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DF033D-A77C-4273-9660-0094C91896AE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E3C38E-D039-4879-836B-CA46025D6247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B2E8AF-BC6F-4288-9AC6-7EB94FD8A9B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6BF87D-E4EA-4E0F-AFD1-2FD5834A0FE2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2C97CAD-BEBB-483A-896E-F3D9304C8D19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C622792-B519-4F2A-93C6-68BF6035ABB9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0F5A516-EB81-466C-957E-2D1393C041A5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38" name="標題 1">
            <a:extLst>
              <a:ext uri="{FF2B5EF4-FFF2-40B4-BE49-F238E27FC236}">
                <a16:creationId xmlns:a16="http://schemas.microsoft.com/office/drawing/2014/main" id="{5D32702F-81F9-4F6B-97CA-FBF44C83FC98}"/>
              </a:ext>
            </a:extLst>
          </p:cNvPr>
          <p:cNvSpPr txBox="1">
            <a:spLocks/>
          </p:cNvSpPr>
          <p:nvPr/>
        </p:nvSpPr>
        <p:spPr>
          <a:xfrm>
            <a:off x="1178016" y="174250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AccountTool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AccountService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4EB1CD5-E1C3-4CC0-8784-DCAA5EC20E5D}"/>
              </a:ext>
            </a:extLst>
          </p:cNvPr>
          <p:cNvSpPr txBox="1"/>
          <p:nvPr/>
        </p:nvSpPr>
        <p:spPr>
          <a:xfrm>
            <a:off x="2069710" y="1444621"/>
            <a:ext cx="1411720" cy="323165"/>
          </a:xfrm>
          <a:prstGeom prst="rect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15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MCP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7EDC7E-4F26-4BE9-BA99-C12C58F561AA}"/>
              </a:ext>
            </a:extLst>
          </p:cNvPr>
          <p:cNvSpPr/>
          <p:nvPr/>
        </p:nvSpPr>
        <p:spPr>
          <a:xfrm>
            <a:off x="234752" y="2580478"/>
            <a:ext cx="5081636" cy="217113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FC5825F1-9138-4C92-A444-3138C5388663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1550231" y="1767786"/>
            <a:ext cx="1225339" cy="1011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B1DA62D5-D826-453B-9DAE-F0694A641F5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2775570" y="1767786"/>
            <a:ext cx="1236035" cy="1031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A1A75777-CD7B-468C-8BD0-B2F28DC252AF}"/>
              </a:ext>
            </a:extLst>
          </p:cNvPr>
          <p:cNvSpPr/>
          <p:nvPr/>
        </p:nvSpPr>
        <p:spPr>
          <a:xfrm>
            <a:off x="1423143" y="2334565"/>
            <a:ext cx="2914650" cy="33509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/>
              <a:t>H2 DB : test-security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38B655D-2DCF-41B6-8308-379854D7EA30}"/>
              </a:ext>
            </a:extLst>
          </p:cNvPr>
          <p:cNvSpPr txBox="1"/>
          <p:nvPr/>
        </p:nvSpPr>
        <p:spPr>
          <a:xfrm>
            <a:off x="864524" y="1851913"/>
            <a:ext cx="2530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查帳戶餘額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轉帳操作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3B093F4-577F-4C9F-85F2-B09151C3FED5}"/>
              </a:ext>
            </a:extLst>
          </p:cNvPr>
          <p:cNvSpPr txBox="1"/>
          <p:nvPr/>
        </p:nvSpPr>
        <p:spPr>
          <a:xfrm>
            <a:off x="3393587" y="1840426"/>
            <a:ext cx="314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查帳戶轉帳歷史紀錄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儲存轉帳紀錄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A9095FD-0F11-4439-9EA4-2B72A9E1F558}"/>
              </a:ext>
            </a:extLst>
          </p:cNvPr>
          <p:cNvSpPr txBox="1"/>
          <p:nvPr/>
        </p:nvSpPr>
        <p:spPr>
          <a:xfrm>
            <a:off x="4140107" y="4765967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ea typeface="微軟正黑體" panose="020B0604030504040204" pitchFamily="34" charset="-120"/>
              </a:rPr>
              <a:t>AccountService</a:t>
            </a:r>
            <a:endParaRPr lang="zh-TW" altLang="en-US" dirty="0">
              <a:ea typeface="微軟正黑體" panose="020B0604030504040204" pitchFamily="34" charset="-120"/>
            </a:endParaRPr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2DA2735B-7BF6-46A0-A8F5-8118A648A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4" y="2830868"/>
            <a:ext cx="2361426" cy="1792514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4B8534F2-F60A-45A4-85AC-374496410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739" y="2818644"/>
            <a:ext cx="2291790" cy="1772353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B461DFE3-BB30-443D-8E84-CD71D4177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530" y="5100821"/>
            <a:ext cx="4872848" cy="160052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CFE5567-A416-40C0-BC63-56A4B5804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38" y="1698627"/>
            <a:ext cx="3137916" cy="30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565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查詢帳戶餘額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轉帳紀錄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轉帳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73D5FE5-89F7-4D08-BF57-213AFF15A857}"/>
              </a:ext>
            </a:extLst>
          </p:cNvPr>
          <p:cNvSpPr txBox="1"/>
          <p:nvPr/>
        </p:nvSpPr>
        <p:spPr>
          <a:xfrm>
            <a:off x="911053" y="1362993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查詢帳戶餘額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E480B7D-A60C-47CB-923C-7CCB8618D0AB}"/>
              </a:ext>
            </a:extLst>
          </p:cNvPr>
          <p:cNvSpPr txBox="1"/>
          <p:nvPr/>
        </p:nvSpPr>
        <p:spPr>
          <a:xfrm>
            <a:off x="6006879" y="1399390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轉帳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49EED86-3C4E-4E05-96ED-D084F0A4840E}"/>
              </a:ext>
            </a:extLst>
          </p:cNvPr>
          <p:cNvSpPr txBox="1"/>
          <p:nvPr/>
        </p:nvSpPr>
        <p:spPr>
          <a:xfrm>
            <a:off x="767832" y="3770868"/>
            <a:ext cx="162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ea typeface="微軟正黑體" panose="020B0604030504040204" pitchFamily="34" charset="-120"/>
              </a:rPr>
              <a:t>查詢轉帳紀錄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F6DF66-02AD-4F86-A298-390E678FFE50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8D0E19-1A80-47B1-9FB9-253E07DCD1B6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33636B3-4A36-4E4C-8DBB-F9E42656B4C8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CB6EB5E-989E-4DFA-AD33-257A03853149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19B653-8C17-4B10-B0AB-EB6CD038C33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0C5B71-3C05-4644-814F-D6A80676A96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4745FD-F2E2-4AC9-A1D5-675136F24256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1550370-5B3A-49E6-9ABE-9C521FB4799E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5AA2F34-E0D5-4B97-BC1E-E6E8FFABBD58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053AE5F-0827-47FA-A569-2A8E0752FBFB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B90DE3CF-C6AF-49DB-9667-DBE50EAB65E6}"/>
              </a:ext>
            </a:extLst>
          </p:cNvPr>
          <p:cNvGrpSpPr/>
          <p:nvPr/>
        </p:nvGrpSpPr>
        <p:grpSpPr>
          <a:xfrm>
            <a:off x="763424" y="1706548"/>
            <a:ext cx="4557725" cy="2042014"/>
            <a:chOff x="1784350" y="2048687"/>
            <a:chExt cx="8623300" cy="3799713"/>
          </a:xfrm>
        </p:grpSpPr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96BE12C3-2EE4-4CE3-98C8-306969EEA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4350" y="2048687"/>
              <a:ext cx="8623300" cy="3799713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44368CC-692D-42CF-8B57-D9FA404E4989}"/>
                </a:ext>
              </a:extLst>
            </p:cNvPr>
            <p:cNvSpPr/>
            <p:nvPr/>
          </p:nvSpPr>
          <p:spPr>
            <a:xfrm>
              <a:off x="2210324" y="3725378"/>
              <a:ext cx="8063975" cy="10625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C9589403-27D3-42B0-BD0A-00C2AF9098A1}"/>
              </a:ext>
            </a:extLst>
          </p:cNvPr>
          <p:cNvGrpSpPr/>
          <p:nvPr/>
        </p:nvGrpSpPr>
        <p:grpSpPr>
          <a:xfrm>
            <a:off x="6006879" y="1732325"/>
            <a:ext cx="3717709" cy="4393053"/>
            <a:chOff x="3188970" y="1493093"/>
            <a:chExt cx="4540160" cy="5364907"/>
          </a:xfrm>
        </p:grpSpPr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F56DAE6F-F1A5-444F-8F7D-6610F303C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8970" y="1493093"/>
              <a:ext cx="4540160" cy="5364907"/>
            </a:xfrm>
            <a:prstGeom prst="rect">
              <a:avLst/>
            </a:prstGeom>
          </p:spPr>
        </p:pic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0141CDD-9475-416C-8492-6A500E1BD632}"/>
                </a:ext>
              </a:extLst>
            </p:cNvPr>
            <p:cNvSpPr/>
            <p:nvPr/>
          </p:nvSpPr>
          <p:spPr>
            <a:xfrm>
              <a:off x="3373644" y="3111840"/>
              <a:ext cx="4355485" cy="5686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6368C5AF-0D94-40D8-9817-10765D8497C1}"/>
              </a:ext>
            </a:extLst>
          </p:cNvPr>
          <p:cNvGrpSpPr/>
          <p:nvPr/>
        </p:nvGrpSpPr>
        <p:grpSpPr>
          <a:xfrm>
            <a:off x="742920" y="4128052"/>
            <a:ext cx="4364528" cy="2648658"/>
            <a:chOff x="1417320" y="1543120"/>
            <a:chExt cx="8305965" cy="5040559"/>
          </a:xfrm>
        </p:grpSpPr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5572F874-412E-4826-BE59-AE4F68CD7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7320" y="1543120"/>
              <a:ext cx="8305965" cy="5040559"/>
            </a:xfrm>
            <a:prstGeom prst="rect">
              <a:avLst/>
            </a:prstGeom>
          </p:spPr>
        </p:pic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64AC3CF5-D09A-48F8-AF90-04E914CDEFB7}"/>
                </a:ext>
              </a:extLst>
            </p:cNvPr>
            <p:cNvSpPr/>
            <p:nvPr/>
          </p:nvSpPr>
          <p:spPr>
            <a:xfrm>
              <a:off x="1770772" y="3122132"/>
              <a:ext cx="7860115" cy="10579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11770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isAdmin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方法實作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F6DF66-02AD-4F86-A298-390E678FFE50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78D0E19-1A80-47B1-9FB9-253E07DCD1B6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33636B3-4A36-4E4C-8DBB-F9E42656B4C8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CB6EB5E-989E-4DFA-AD33-257A03853149}"/>
              </a:ext>
            </a:extLst>
          </p:cNvPr>
          <p:cNvSpPr txBox="1"/>
          <p:nvPr/>
        </p:nvSpPr>
        <p:spPr>
          <a:xfrm>
            <a:off x="2460747" y="956915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19B653-8C17-4B10-B0AB-EB6CD038C332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0C5B71-3C05-4644-814F-D6A80676A96F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4745FD-F2E2-4AC9-A1D5-675136F24256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1550370-5B3A-49E6-9ABE-9C521FB4799E}"/>
              </a:ext>
            </a:extLst>
          </p:cNvPr>
          <p:cNvSpPr txBox="1"/>
          <p:nvPr/>
        </p:nvSpPr>
        <p:spPr>
          <a:xfrm>
            <a:off x="4072819" y="874813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5AA2F34-E0D5-4B97-BC1E-E6E8FFABBD58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053AE5F-0827-47FA-A569-2A8E0752FBFB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B7F1DAC2-EC87-4482-921C-67932A147E2E}"/>
              </a:ext>
            </a:extLst>
          </p:cNvPr>
          <p:cNvGrpSpPr/>
          <p:nvPr/>
        </p:nvGrpSpPr>
        <p:grpSpPr>
          <a:xfrm>
            <a:off x="863279" y="2644219"/>
            <a:ext cx="8098639" cy="1569562"/>
            <a:chOff x="838200" y="2377595"/>
            <a:chExt cx="10850088" cy="2102809"/>
          </a:xfrm>
        </p:grpSpPr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24B273EF-934D-49E7-9226-3B9FAC537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377595"/>
              <a:ext cx="10850088" cy="2102809"/>
            </a:xfrm>
            <a:prstGeom prst="rect">
              <a:avLst/>
            </a:prstGeom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12C8FA0-4933-4536-886E-8F47F4A0E270}"/>
                </a:ext>
              </a:extLst>
            </p:cNvPr>
            <p:cNvSpPr/>
            <p:nvPr/>
          </p:nvSpPr>
          <p:spPr>
            <a:xfrm>
              <a:off x="3718326" y="3692148"/>
              <a:ext cx="2468718" cy="2385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586505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32C16A4-1110-47AE-A50E-218E090B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113" y="264097"/>
            <a:ext cx="7965380" cy="686196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 DB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初始資料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DF8473-44A7-46C5-93E5-39856156C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2087B6-A220-4AD0-A3BC-B7D5D827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A19B9D-1984-4DD9-9992-56BBE189587C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7EE061-FCDA-45A2-8BF5-8A0B8487581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4CE5968-8C0B-467D-81EE-B8883444DE80}"/>
              </a:ext>
            </a:extLst>
          </p:cNvPr>
          <p:cNvSpPr txBox="1"/>
          <p:nvPr/>
        </p:nvSpPr>
        <p:spPr>
          <a:xfrm>
            <a:off x="83418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25ADC3-FB57-4CED-9E4B-7A1E14308403}"/>
              </a:ext>
            </a:extLst>
          </p:cNvPr>
          <p:cNvSpPr txBox="1"/>
          <p:nvPr/>
        </p:nvSpPr>
        <p:spPr>
          <a:xfrm>
            <a:off x="2453625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157DDE-F070-466B-905D-A8EDCC14F45A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3882EA-7F3E-4D4C-9080-2AF20C4BBBA9}"/>
              </a:ext>
            </a:extLst>
          </p:cNvPr>
          <p:cNvSpPr/>
          <p:nvPr/>
        </p:nvSpPr>
        <p:spPr>
          <a:xfrm>
            <a:off x="5660523" y="891116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41EF6A-1B73-495F-8AA6-C162E02162DE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646170-2065-4F44-85C1-1E264AD04DE7}"/>
              </a:ext>
            </a:extLst>
          </p:cNvPr>
          <p:cNvSpPr txBox="1"/>
          <p:nvPr/>
        </p:nvSpPr>
        <p:spPr>
          <a:xfrm>
            <a:off x="4071803" y="882999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9FAF604-2AEE-45A7-AAE7-562F833DAA3F}"/>
              </a:ext>
            </a:extLst>
          </p:cNvPr>
          <p:cNvSpPr txBox="1"/>
          <p:nvPr/>
        </p:nvSpPr>
        <p:spPr>
          <a:xfrm>
            <a:off x="5669573" y="88942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0A3F358-4B7D-49D5-AAEF-494D118E1B17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268ED772-8042-4317-A1B9-3000BA75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574861"/>
            <a:ext cx="8100060" cy="2565289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0B62D1-3A97-4212-948B-219CB7404116}"/>
              </a:ext>
            </a:extLst>
          </p:cNvPr>
          <p:cNvSpPr txBox="1"/>
          <p:nvPr/>
        </p:nvSpPr>
        <p:spPr>
          <a:xfrm>
            <a:off x="2703725" y="1871233"/>
            <a:ext cx="465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放入三筆測試帳戶資料進 </a:t>
            </a:r>
            <a:r>
              <a:rPr lang="en-US" altLang="zh-TW" dirty="0"/>
              <a:t>account table </a:t>
            </a:r>
            <a:r>
              <a:rPr lang="zh-TW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12977622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3"/>
            <a:ext cx="7187424" cy="5269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01-spring-ai-chat-gpt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套件與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熟悉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MCP client &amp;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</a:t>
            </a:r>
          </a:p>
          <a:p>
            <a:pPr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spring security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相關套件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整合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認證授權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04-copilot-mcp-with-spring-ai-mcp-server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copilot plugin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串接自行撰寫之轉帳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05-mcp-inspector-debug-spring-ai-mcp-server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inspector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3C49F11-BB44-41AD-9689-C85EE7A9CC14}"/>
              </a:ext>
            </a:extLst>
          </p:cNvPr>
          <p:cNvSpPr/>
          <p:nvPr/>
        </p:nvSpPr>
        <p:spPr>
          <a:xfrm>
            <a:off x="3607106" y="3799067"/>
            <a:ext cx="5517844" cy="878811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20374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copilot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做溝通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30027-AA8F-4EF9-8FAF-FC62E0287A58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279B4-15E7-43A0-9A84-36EDAC87003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6B5EAD-22BE-4372-BDA3-69232914F633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F87FC5-3DAE-49B3-AC33-2FE946CE6513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B4463-5CD7-4953-B228-E2B2C991C31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1C958-1AB4-46D2-A669-6A75ACC8DF2C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1FF715-6295-4E87-AC0D-8222BA42680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C3A2D1-5C51-43A2-BA06-8EF2720B5D59}"/>
              </a:ext>
            </a:extLst>
          </p:cNvPr>
          <p:cNvSpPr txBox="1"/>
          <p:nvPr/>
        </p:nvSpPr>
        <p:spPr>
          <a:xfrm>
            <a:off x="4068871" y="88960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620A200-23D2-4D5C-A674-5F0C9DFC25AD}"/>
              </a:ext>
            </a:extLst>
          </p:cNvPr>
          <p:cNvSpPr txBox="1"/>
          <p:nvPr/>
        </p:nvSpPr>
        <p:spPr>
          <a:xfrm>
            <a:off x="5666342" y="894016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6B9D939-51C3-43F8-803E-BF3343D6E80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28FAAE1-FBE5-403F-A0B9-0C04E857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66" y="2410572"/>
            <a:ext cx="3153215" cy="191479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B896AF0-D46F-4E68-90E6-B1BB9ABED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840" y="1638300"/>
            <a:ext cx="4423557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6847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copilot MCP json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檔案</a:t>
            </a:r>
            <a:endParaRPr lang="en-US" altLang="zh-TW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30027-AA8F-4EF9-8FAF-FC62E0287A58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279B4-15E7-43A0-9A84-36EDAC87003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6B5EAD-22BE-4372-BDA3-69232914F633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F87FC5-3DAE-49B3-AC33-2FE946CE6513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B4463-5CD7-4953-B228-E2B2C991C31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1C958-1AB4-46D2-A669-6A75ACC8DF2C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1FF715-6295-4E87-AC0D-8222BA42680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C3A2D1-5C51-43A2-BA06-8EF2720B5D59}"/>
              </a:ext>
            </a:extLst>
          </p:cNvPr>
          <p:cNvSpPr txBox="1"/>
          <p:nvPr/>
        </p:nvSpPr>
        <p:spPr>
          <a:xfrm>
            <a:off x="4068871" y="88960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620A200-23D2-4D5C-A674-5F0C9DFC25AD}"/>
              </a:ext>
            </a:extLst>
          </p:cNvPr>
          <p:cNvSpPr txBox="1"/>
          <p:nvPr/>
        </p:nvSpPr>
        <p:spPr>
          <a:xfrm>
            <a:off x="5666342" y="894016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6B9D939-51C3-43F8-803E-BF3343D6E80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377CC0E-933E-4DBB-A70E-CDE6CBF154CC}"/>
              </a:ext>
            </a:extLst>
          </p:cNvPr>
          <p:cNvSpPr txBox="1"/>
          <p:nvPr/>
        </p:nvSpPr>
        <p:spPr>
          <a:xfrm>
            <a:off x="874877" y="1487127"/>
            <a:ext cx="31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貼入 </a:t>
            </a:r>
            <a:r>
              <a:rPr lang="en-US" altLang="zh-TW" dirty="0" err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mcp.json</a:t>
            </a:r>
            <a:r>
              <a:rPr lang="en-US" altLang="zh-TW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內容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2FCDD00-43EF-41B1-9E20-4788EAB50461}"/>
              </a:ext>
            </a:extLst>
          </p:cNvPr>
          <p:cNvGrpSpPr/>
          <p:nvPr/>
        </p:nvGrpSpPr>
        <p:grpSpPr>
          <a:xfrm>
            <a:off x="867527" y="1940267"/>
            <a:ext cx="7976375" cy="2267531"/>
            <a:chOff x="786812" y="2154077"/>
            <a:chExt cx="7976375" cy="2267531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D3D49F74-A58F-4E86-8A26-8995F8E5B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812" y="2154077"/>
              <a:ext cx="7976375" cy="2267531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C65619-7464-4D79-B3DC-C7357B2022AB}"/>
                </a:ext>
              </a:extLst>
            </p:cNvPr>
            <p:cNvSpPr/>
            <p:nvPr/>
          </p:nvSpPr>
          <p:spPr>
            <a:xfrm>
              <a:off x="6920507" y="2970096"/>
              <a:ext cx="859514" cy="2379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795085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 MCP server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30027-AA8F-4EF9-8FAF-FC62E0287A58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279B4-15E7-43A0-9A84-36EDAC87003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6B5EAD-22BE-4372-BDA3-69232914F633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F87FC5-3DAE-49B3-AC33-2FE946CE6513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B4463-5CD7-4953-B228-E2B2C991C31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1C958-1AB4-46D2-A669-6A75ACC8DF2C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1FF715-6295-4E87-AC0D-8222BA42680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C3A2D1-5C51-43A2-BA06-8EF2720B5D59}"/>
              </a:ext>
            </a:extLst>
          </p:cNvPr>
          <p:cNvSpPr txBox="1"/>
          <p:nvPr/>
        </p:nvSpPr>
        <p:spPr>
          <a:xfrm>
            <a:off x="4068871" y="88960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620A200-23D2-4D5C-A674-5F0C9DFC25AD}"/>
              </a:ext>
            </a:extLst>
          </p:cNvPr>
          <p:cNvSpPr txBox="1"/>
          <p:nvPr/>
        </p:nvSpPr>
        <p:spPr>
          <a:xfrm>
            <a:off x="5666342" y="894016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6B9D939-51C3-43F8-803E-BF3343D6E80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8CE099D9-D2D3-4A88-98AB-AE98787E2267}"/>
              </a:ext>
            </a:extLst>
          </p:cNvPr>
          <p:cNvGrpSpPr/>
          <p:nvPr/>
        </p:nvGrpSpPr>
        <p:grpSpPr>
          <a:xfrm>
            <a:off x="109997" y="1400615"/>
            <a:ext cx="5581218" cy="1951664"/>
            <a:chOff x="586098" y="1434569"/>
            <a:chExt cx="5581218" cy="1951664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CF54FB5-9246-4565-ABA6-06A7FFA17A43}"/>
                </a:ext>
              </a:extLst>
            </p:cNvPr>
            <p:cNvGrpSpPr/>
            <p:nvPr/>
          </p:nvGrpSpPr>
          <p:grpSpPr>
            <a:xfrm>
              <a:off x="731951" y="1434569"/>
              <a:ext cx="5435365" cy="1951664"/>
              <a:chOff x="579351" y="3936980"/>
              <a:chExt cx="5435365" cy="1951664"/>
            </a:xfrm>
          </p:grpSpPr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FF8FF4B-79D2-4685-ABFC-4399A1EB7EEA}"/>
                  </a:ext>
                </a:extLst>
              </p:cNvPr>
              <p:cNvSpPr txBox="1"/>
              <p:nvPr/>
            </p:nvSpPr>
            <p:spPr>
              <a:xfrm>
                <a:off x="1715068" y="3936980"/>
                <a:ext cx="378520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500" dirty="0">
                    <a:ea typeface="微軟正黑體" panose="020B0604030504040204" pitchFamily="34" charset="-120"/>
                  </a:rPr>
                  <a:t>將 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spring-ai-</a:t>
                </a:r>
                <a:r>
                  <a:rPr lang="en-US" altLang="zh-TW" sz="1500" dirty="0" err="1">
                    <a:ea typeface="微軟正黑體" panose="020B0604030504040204" pitchFamily="34" charset="-120"/>
                  </a:rPr>
                  <a:t>mcp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-server-account</a:t>
                </a:r>
                <a:r>
                  <a:rPr lang="zh-TW" altLang="en-US" sz="1500" dirty="0">
                    <a:ea typeface="微軟正黑體" panose="020B0604030504040204" pitchFamily="34" charset="-120"/>
                  </a:rPr>
                  <a:t> 啟動</a:t>
                </a:r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77277010-54C6-4B8C-9313-720DBB50F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9351" y="4264695"/>
                <a:ext cx="5435365" cy="1623949"/>
              </a:xfrm>
              <a:prstGeom prst="rect">
                <a:avLst/>
              </a:prstGeom>
            </p:spPr>
          </p:pic>
        </p:grp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2B8AC426-F6FE-4314-814E-F8417E03519E}"/>
                </a:ext>
              </a:extLst>
            </p:cNvPr>
            <p:cNvSpPr/>
            <p:nvPr/>
          </p:nvSpPr>
          <p:spPr>
            <a:xfrm>
              <a:off x="586098" y="1659310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7061F396-CF40-49A0-B76C-4B4F31787590}"/>
              </a:ext>
            </a:extLst>
          </p:cNvPr>
          <p:cNvGrpSpPr/>
          <p:nvPr/>
        </p:nvGrpSpPr>
        <p:grpSpPr>
          <a:xfrm>
            <a:off x="3819352" y="3521296"/>
            <a:ext cx="1871863" cy="2405325"/>
            <a:chOff x="3819352" y="3521296"/>
            <a:chExt cx="1871863" cy="2405325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6156FA01-2A7E-41DB-AE95-9F235AE508AD}"/>
                </a:ext>
              </a:extLst>
            </p:cNvPr>
            <p:cNvGrpSpPr/>
            <p:nvPr/>
          </p:nvGrpSpPr>
          <p:grpSpPr>
            <a:xfrm>
              <a:off x="3958534" y="3635646"/>
              <a:ext cx="1732681" cy="2290975"/>
              <a:chOff x="4930743" y="4381030"/>
              <a:chExt cx="1732681" cy="2290975"/>
            </a:xfrm>
          </p:grpSpPr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16C500FC-0A1A-42BD-9FDB-ED65AF9438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0743" y="4381030"/>
                <a:ext cx="1732681" cy="228642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84E283D-8076-45E0-A67B-56EEEA3A36D1}"/>
                  </a:ext>
                </a:extLst>
              </p:cNvPr>
              <p:cNvSpPr/>
              <p:nvPr/>
            </p:nvSpPr>
            <p:spPr>
              <a:xfrm>
                <a:off x="4997450" y="6492874"/>
                <a:ext cx="336555" cy="1791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07BD1FE3-294A-4B67-BDED-8C7D7C4D8B11}"/>
                </a:ext>
              </a:extLst>
            </p:cNvPr>
            <p:cNvSpPr/>
            <p:nvPr/>
          </p:nvSpPr>
          <p:spPr>
            <a:xfrm>
              <a:off x="3819352" y="352129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5F3FDCEC-BEB7-4934-8917-7A8D68AD083C}"/>
              </a:ext>
            </a:extLst>
          </p:cNvPr>
          <p:cNvGrpSpPr/>
          <p:nvPr/>
        </p:nvGrpSpPr>
        <p:grpSpPr>
          <a:xfrm>
            <a:off x="6499527" y="3767479"/>
            <a:ext cx="2536491" cy="2279183"/>
            <a:chOff x="6499527" y="3767479"/>
            <a:chExt cx="2536491" cy="2279183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0F6956F8-09F4-4D42-A5A2-D376FD19C6EE}"/>
                </a:ext>
              </a:extLst>
            </p:cNvPr>
            <p:cNvGrpSpPr/>
            <p:nvPr/>
          </p:nvGrpSpPr>
          <p:grpSpPr>
            <a:xfrm>
              <a:off x="6593035" y="5627447"/>
              <a:ext cx="2375552" cy="419215"/>
              <a:chOff x="1365024" y="3984985"/>
              <a:chExt cx="3238952" cy="571580"/>
            </a:xfrm>
          </p:grpSpPr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FA99E7CF-87DC-4793-921E-AD02E440D2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5024" y="3984985"/>
                <a:ext cx="3238952" cy="571580"/>
              </a:xfrm>
              <a:prstGeom prst="rect">
                <a:avLst/>
              </a:prstGeom>
            </p:spPr>
          </p:pic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CEAA7A8-389B-4694-B7CA-47D628045B05}"/>
                  </a:ext>
                </a:extLst>
              </p:cNvPr>
              <p:cNvSpPr/>
              <p:nvPr/>
            </p:nvSpPr>
            <p:spPr>
              <a:xfrm>
                <a:off x="4013200" y="3991374"/>
                <a:ext cx="317500" cy="4155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393B8DA3-D698-408D-9FC0-220335CF0AE6}"/>
                </a:ext>
              </a:extLst>
            </p:cNvPr>
            <p:cNvGrpSpPr/>
            <p:nvPr/>
          </p:nvGrpSpPr>
          <p:grpSpPr>
            <a:xfrm>
              <a:off x="6499527" y="4138623"/>
              <a:ext cx="2536491" cy="1380853"/>
              <a:chOff x="6440866" y="4016479"/>
              <a:chExt cx="2536491" cy="1380853"/>
            </a:xfrm>
          </p:grpSpPr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FDB4B265-643C-40FB-B27B-943674959D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4374" y="4206155"/>
                <a:ext cx="2442983" cy="1191177"/>
              </a:xfrm>
              <a:prstGeom prst="rect">
                <a:avLst/>
              </a:prstGeom>
            </p:spPr>
          </p:pic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B29E539-C5AD-4912-80E6-7272B500262C}"/>
                  </a:ext>
                </a:extLst>
              </p:cNvPr>
              <p:cNvSpPr/>
              <p:nvPr/>
            </p:nvSpPr>
            <p:spPr>
              <a:xfrm>
                <a:off x="7239769" y="4611226"/>
                <a:ext cx="297877" cy="2025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088BAF75-D30D-4DA4-9850-64692A81FAEE}"/>
                  </a:ext>
                </a:extLst>
              </p:cNvPr>
              <p:cNvSpPr/>
              <p:nvPr/>
            </p:nvSpPr>
            <p:spPr>
              <a:xfrm>
                <a:off x="6440866" y="4016479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5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4C40DB17-18E9-465D-88D8-F9FC8FDC4E54}"/>
                </a:ext>
              </a:extLst>
            </p:cNvPr>
            <p:cNvSpPr txBox="1"/>
            <p:nvPr/>
          </p:nvSpPr>
          <p:spPr>
            <a:xfrm>
              <a:off x="7304710" y="3767479"/>
              <a:ext cx="14593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ea typeface="微軟正黑體" panose="020B0604030504040204" pitchFamily="34" charset="-120"/>
                </a:rPr>
                <a:t>測試完關閉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BC955DB-B5FF-423A-BA61-516B008CA3EC}"/>
              </a:ext>
            </a:extLst>
          </p:cNvPr>
          <p:cNvGrpSpPr/>
          <p:nvPr/>
        </p:nvGrpSpPr>
        <p:grpSpPr>
          <a:xfrm>
            <a:off x="626432" y="3862041"/>
            <a:ext cx="2582451" cy="1305821"/>
            <a:chOff x="508689" y="3525846"/>
            <a:chExt cx="2582451" cy="1305821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C740F55C-1EFD-4E7D-8257-A5C8D9DBA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157" y="3640490"/>
              <a:ext cx="2442983" cy="1191177"/>
            </a:xfrm>
            <a:prstGeom prst="rect">
              <a:avLst/>
            </a:prstGeom>
          </p:spPr>
        </p:pic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DAEEA45E-D9E8-45F2-99EA-E795A2C9809B}"/>
                </a:ext>
              </a:extLst>
            </p:cNvPr>
            <p:cNvSpPr/>
            <p:nvPr/>
          </p:nvSpPr>
          <p:spPr>
            <a:xfrm>
              <a:off x="508689" y="352584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0CC7E33-175D-4CA5-A780-43767D398F4A}"/>
              </a:ext>
            </a:extLst>
          </p:cNvPr>
          <p:cNvGrpSpPr/>
          <p:nvPr/>
        </p:nvGrpSpPr>
        <p:grpSpPr>
          <a:xfrm>
            <a:off x="6405305" y="1769110"/>
            <a:ext cx="3266551" cy="1471734"/>
            <a:chOff x="6405305" y="1769110"/>
            <a:chExt cx="3266551" cy="1471734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9AC71DBC-1D03-4556-9E53-3D12519EA7DE}"/>
                </a:ext>
              </a:extLst>
            </p:cNvPr>
            <p:cNvGrpSpPr/>
            <p:nvPr/>
          </p:nvGrpSpPr>
          <p:grpSpPr>
            <a:xfrm>
              <a:off x="6405305" y="1769110"/>
              <a:ext cx="3266551" cy="1471734"/>
              <a:chOff x="6472457" y="1524729"/>
              <a:chExt cx="3266551" cy="1471734"/>
            </a:xfrm>
          </p:grpSpPr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77A3336E-D00A-4F41-B97A-79F4B043C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50666" y="1620541"/>
                <a:ext cx="3188342" cy="1375922"/>
              </a:xfrm>
              <a:prstGeom prst="rect">
                <a:avLst/>
              </a:prstGeom>
            </p:spPr>
          </p:pic>
          <p:sp>
            <p:nvSpPr>
              <p:cNvPr id="39" name="橢圓 38">
                <a:extLst>
                  <a:ext uri="{FF2B5EF4-FFF2-40B4-BE49-F238E27FC236}">
                    <a16:creationId xmlns:a16="http://schemas.microsoft.com/office/drawing/2014/main" id="{5362ABB9-A07C-4AC0-BC8E-6ACD0E2F1C48}"/>
                  </a:ext>
                </a:extLst>
              </p:cNvPr>
              <p:cNvSpPr/>
              <p:nvPr/>
            </p:nvSpPr>
            <p:spPr>
              <a:xfrm>
                <a:off x="6472457" y="1524729"/>
                <a:ext cx="187016" cy="19162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1A03B2A-4403-4ADF-B48C-8E08901911DB}"/>
                </a:ext>
              </a:extLst>
            </p:cNvPr>
            <p:cNvSpPr/>
            <p:nvPr/>
          </p:nvSpPr>
          <p:spPr>
            <a:xfrm>
              <a:off x="6633423" y="2212310"/>
              <a:ext cx="476038" cy="2489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174603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607765"/>
            <a:ext cx="429306" cy="270289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120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737902" y="220538"/>
            <a:ext cx="8298116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 MCP server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30027-AA8F-4EF9-8FAF-FC62E0287A58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279B4-15E7-43A0-9A84-36EDAC87003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6B5EAD-22BE-4372-BDA3-69232914F633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F87FC5-3DAE-49B3-AC33-2FE946CE6513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B4463-5CD7-4953-B228-E2B2C991C31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1C958-1AB4-46D2-A669-6A75ACC8DF2C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1FF715-6295-4E87-AC0D-8222BA42680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C3A2D1-5C51-43A2-BA06-8EF2720B5D59}"/>
              </a:ext>
            </a:extLst>
          </p:cNvPr>
          <p:cNvSpPr txBox="1"/>
          <p:nvPr/>
        </p:nvSpPr>
        <p:spPr>
          <a:xfrm>
            <a:off x="4068871" y="88960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620A200-23D2-4D5C-A674-5F0C9DFC25AD}"/>
              </a:ext>
            </a:extLst>
          </p:cNvPr>
          <p:cNvSpPr txBox="1"/>
          <p:nvPr/>
        </p:nvSpPr>
        <p:spPr>
          <a:xfrm>
            <a:off x="5666342" y="894016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6B9D939-51C3-43F8-803E-BF3343D6E80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03CCB9A5-DC48-41FB-8D41-20159B9526D7}"/>
              </a:ext>
            </a:extLst>
          </p:cNvPr>
          <p:cNvGrpSpPr/>
          <p:nvPr/>
        </p:nvGrpSpPr>
        <p:grpSpPr>
          <a:xfrm>
            <a:off x="80910" y="1278634"/>
            <a:ext cx="4166398" cy="2554535"/>
            <a:chOff x="80910" y="1278634"/>
            <a:chExt cx="4597528" cy="2522415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40471A6-8E0C-4D2C-87F2-EEB894D752B5}"/>
                </a:ext>
              </a:extLst>
            </p:cNvPr>
            <p:cNvSpPr txBox="1"/>
            <p:nvPr/>
          </p:nvSpPr>
          <p:spPr>
            <a:xfrm>
              <a:off x="80910" y="1278634"/>
              <a:ext cx="459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將 </a:t>
              </a:r>
              <a:r>
                <a:rPr lang="en-US" altLang="zh-TW" sz="1600" dirty="0"/>
                <a:t>spring-ai-</a:t>
              </a:r>
              <a:r>
                <a:rPr lang="en-US" altLang="zh-TW" sz="1600" dirty="0" err="1"/>
                <a:t>mcp</a:t>
              </a:r>
              <a:r>
                <a:rPr lang="en-US" altLang="zh-TW" sz="1600" dirty="0"/>
                <a:t>-server-account-security</a:t>
              </a:r>
              <a:r>
                <a:rPr lang="zh-TW" altLang="en-US" sz="1600" dirty="0"/>
                <a:t> 啟動</a:t>
              </a:r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04E1C0E1-A29E-4893-9031-6B649F200BC4}"/>
                </a:ext>
              </a:extLst>
            </p:cNvPr>
            <p:cNvGrpSpPr/>
            <p:nvPr/>
          </p:nvGrpSpPr>
          <p:grpSpPr>
            <a:xfrm>
              <a:off x="266624" y="1617188"/>
              <a:ext cx="3267341" cy="2183861"/>
              <a:chOff x="307552" y="1550736"/>
              <a:chExt cx="3504459" cy="2299331"/>
            </a:xfrm>
          </p:grpSpPr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A2E6182-EB1C-48A0-B88D-06F4E4B73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564" y="1696615"/>
                <a:ext cx="3406447" cy="2153452"/>
              </a:xfrm>
              <a:prstGeom prst="rect">
                <a:avLst/>
              </a:prstGeom>
            </p:spPr>
          </p:pic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2EE6BF7A-6B37-4752-928B-F3461CBFD2BC}"/>
                  </a:ext>
                </a:extLst>
              </p:cNvPr>
              <p:cNvSpPr/>
              <p:nvPr/>
            </p:nvSpPr>
            <p:spPr>
              <a:xfrm>
                <a:off x="307552" y="1550736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1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EECE74E-E9D7-496C-B169-69D5B2707A85}"/>
              </a:ext>
            </a:extLst>
          </p:cNvPr>
          <p:cNvGrpSpPr/>
          <p:nvPr/>
        </p:nvGrpSpPr>
        <p:grpSpPr>
          <a:xfrm>
            <a:off x="3774071" y="1703326"/>
            <a:ext cx="3043753" cy="1783744"/>
            <a:chOff x="4004395" y="1624159"/>
            <a:chExt cx="3043753" cy="1783744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A73590B9-D7D9-4263-945A-1C68568D989E}"/>
                </a:ext>
              </a:extLst>
            </p:cNvPr>
            <p:cNvGrpSpPr/>
            <p:nvPr/>
          </p:nvGrpSpPr>
          <p:grpSpPr>
            <a:xfrm>
              <a:off x="4114195" y="1732015"/>
              <a:ext cx="2933953" cy="1675888"/>
              <a:chOff x="6616129" y="4326041"/>
              <a:chExt cx="3553274" cy="2029647"/>
            </a:xfrm>
          </p:grpSpPr>
          <p:pic>
            <p:nvPicPr>
              <p:cNvPr id="53" name="圖片 52">
                <a:extLst>
                  <a:ext uri="{FF2B5EF4-FFF2-40B4-BE49-F238E27FC236}">
                    <a16:creationId xmlns:a16="http://schemas.microsoft.com/office/drawing/2014/main" id="{9A12EE8C-7D91-439E-A9FA-E1F1FFE9E8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6129" y="4326041"/>
                <a:ext cx="3553274" cy="2029647"/>
              </a:xfrm>
              <a:prstGeom prst="rect">
                <a:avLst/>
              </a:prstGeom>
            </p:spPr>
          </p:pic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3CF895F-A5E5-4F53-86C8-7EFD68D1E906}"/>
                  </a:ext>
                </a:extLst>
              </p:cNvPr>
              <p:cNvSpPr/>
              <p:nvPr/>
            </p:nvSpPr>
            <p:spPr>
              <a:xfrm>
                <a:off x="7797530" y="4922042"/>
                <a:ext cx="2371873" cy="143364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C1C9C4BB-0892-44BB-9CF2-60F616C2B81F}"/>
                </a:ext>
              </a:extLst>
            </p:cNvPr>
            <p:cNvSpPr/>
            <p:nvPr/>
          </p:nvSpPr>
          <p:spPr>
            <a:xfrm>
              <a:off x="4004395" y="162415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8BADB14-5081-4874-BDB0-D0527C6DBBBA}"/>
              </a:ext>
            </a:extLst>
          </p:cNvPr>
          <p:cNvGrpSpPr/>
          <p:nvPr/>
        </p:nvGrpSpPr>
        <p:grpSpPr>
          <a:xfrm>
            <a:off x="6942732" y="1568980"/>
            <a:ext cx="2784800" cy="2073606"/>
            <a:chOff x="7053938" y="1560434"/>
            <a:chExt cx="2784800" cy="2073606"/>
          </a:xfrm>
        </p:grpSpPr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96D7A50-6C75-4BEA-B9B9-050AF35259CA}"/>
                </a:ext>
              </a:extLst>
            </p:cNvPr>
            <p:cNvGrpSpPr/>
            <p:nvPr/>
          </p:nvGrpSpPr>
          <p:grpSpPr>
            <a:xfrm>
              <a:off x="7171361" y="1727241"/>
              <a:ext cx="2667377" cy="1906799"/>
              <a:chOff x="916286" y="4155935"/>
              <a:chExt cx="3059356" cy="2187009"/>
            </a:xfrm>
          </p:grpSpPr>
          <p:pic>
            <p:nvPicPr>
              <p:cNvPr id="63" name="圖片 62">
                <a:extLst>
                  <a:ext uri="{FF2B5EF4-FFF2-40B4-BE49-F238E27FC236}">
                    <a16:creationId xmlns:a16="http://schemas.microsoft.com/office/drawing/2014/main" id="{6ED271C1-5939-4870-B132-FD71BFEC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286" y="4155935"/>
                <a:ext cx="3059356" cy="218700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E4F4279A-2644-486F-A011-EA553024B152}"/>
                  </a:ext>
                </a:extLst>
              </p:cNvPr>
              <p:cNvSpPr/>
              <p:nvPr/>
            </p:nvSpPr>
            <p:spPr>
              <a:xfrm>
                <a:off x="1046999" y="4301886"/>
                <a:ext cx="403861" cy="1745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8A8AC7BC-0D14-47B4-87D2-428D1CD0CA03}"/>
                  </a:ext>
                </a:extLst>
              </p:cNvPr>
              <p:cNvSpPr/>
              <p:nvPr/>
            </p:nvSpPr>
            <p:spPr>
              <a:xfrm>
                <a:off x="1988690" y="5931182"/>
                <a:ext cx="1986952" cy="2285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E7AD78FD-6851-46C3-A9E3-34B66943C6C2}"/>
                </a:ext>
              </a:extLst>
            </p:cNvPr>
            <p:cNvSpPr/>
            <p:nvPr/>
          </p:nvSpPr>
          <p:spPr>
            <a:xfrm>
              <a:off x="7053938" y="1560434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4AE018E-17FC-4E88-B47A-6F3DC295D518}"/>
              </a:ext>
            </a:extLst>
          </p:cNvPr>
          <p:cNvGrpSpPr/>
          <p:nvPr/>
        </p:nvGrpSpPr>
        <p:grpSpPr>
          <a:xfrm>
            <a:off x="307552" y="3970571"/>
            <a:ext cx="3096277" cy="2076327"/>
            <a:chOff x="307552" y="3970571"/>
            <a:chExt cx="3096277" cy="2076327"/>
          </a:xfrm>
        </p:grpSpPr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788DEC80-1973-4D7C-BFF2-53DC1B07D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4363" y="4080371"/>
              <a:ext cx="2979466" cy="196652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90FF8DF-D9B6-4202-84B1-16070AAFF3D2}"/>
                </a:ext>
              </a:extLst>
            </p:cNvPr>
            <p:cNvSpPr/>
            <p:nvPr/>
          </p:nvSpPr>
          <p:spPr>
            <a:xfrm>
              <a:off x="307552" y="3970571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779DAAE7-3B79-4FDB-B310-0CD33D8C5F43}"/>
              </a:ext>
            </a:extLst>
          </p:cNvPr>
          <p:cNvGrpSpPr/>
          <p:nvPr/>
        </p:nvGrpSpPr>
        <p:grpSpPr>
          <a:xfrm>
            <a:off x="3602281" y="3543166"/>
            <a:ext cx="2265521" cy="2942151"/>
            <a:chOff x="3743503" y="3524240"/>
            <a:chExt cx="2265521" cy="2942151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182E3A59-FFA6-47F1-83C5-F7A23EDD04F1}"/>
                </a:ext>
              </a:extLst>
            </p:cNvPr>
            <p:cNvGrpSpPr/>
            <p:nvPr/>
          </p:nvGrpSpPr>
          <p:grpSpPr>
            <a:xfrm>
              <a:off x="3896975" y="3673810"/>
              <a:ext cx="2112049" cy="2792581"/>
              <a:chOff x="4930743" y="4381030"/>
              <a:chExt cx="1732681" cy="2290975"/>
            </a:xfrm>
          </p:grpSpPr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E76D8785-AB00-412B-8FF4-F8803C2C4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0743" y="4381030"/>
                <a:ext cx="1732681" cy="228642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78DE4E7D-11E3-4B07-994B-D18A4B57618E}"/>
                  </a:ext>
                </a:extLst>
              </p:cNvPr>
              <p:cNvSpPr/>
              <p:nvPr/>
            </p:nvSpPr>
            <p:spPr>
              <a:xfrm>
                <a:off x="4997450" y="6492874"/>
                <a:ext cx="336555" cy="1791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20E3FBD0-2A08-41CE-9438-9F1B3BE8D2D6}"/>
                </a:ext>
              </a:extLst>
            </p:cNvPr>
            <p:cNvSpPr/>
            <p:nvPr/>
          </p:nvSpPr>
          <p:spPr>
            <a:xfrm>
              <a:off x="3743503" y="3524240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5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8CA99E6-16AF-4583-A457-552C2C08D690}"/>
              </a:ext>
            </a:extLst>
          </p:cNvPr>
          <p:cNvGrpSpPr/>
          <p:nvPr/>
        </p:nvGrpSpPr>
        <p:grpSpPr>
          <a:xfrm>
            <a:off x="6192794" y="3878236"/>
            <a:ext cx="3405654" cy="2666455"/>
            <a:chOff x="6369036" y="3905888"/>
            <a:chExt cx="3405654" cy="2666455"/>
          </a:xfrm>
        </p:grpSpPr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02BDBA08-C433-4F46-8E86-C904103B923A}"/>
                </a:ext>
              </a:extLst>
            </p:cNvPr>
            <p:cNvGrpSpPr/>
            <p:nvPr/>
          </p:nvGrpSpPr>
          <p:grpSpPr>
            <a:xfrm>
              <a:off x="6535738" y="6000763"/>
              <a:ext cx="3238952" cy="571580"/>
              <a:chOff x="1365024" y="3984985"/>
              <a:chExt cx="3238952" cy="571580"/>
            </a:xfrm>
          </p:grpSpPr>
          <p:pic>
            <p:nvPicPr>
              <p:cNvPr id="76" name="圖片 75">
                <a:extLst>
                  <a:ext uri="{FF2B5EF4-FFF2-40B4-BE49-F238E27FC236}">
                    <a16:creationId xmlns:a16="http://schemas.microsoft.com/office/drawing/2014/main" id="{981C863B-2DA9-4C59-B1D1-3F27D464C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5024" y="3984985"/>
                <a:ext cx="3238952" cy="571580"/>
              </a:xfrm>
              <a:prstGeom prst="rect">
                <a:avLst/>
              </a:prstGeom>
            </p:spPr>
          </p:pic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8276938A-BA96-40AA-8A77-9DF8111252D2}"/>
                  </a:ext>
                </a:extLst>
              </p:cNvPr>
              <p:cNvSpPr/>
              <p:nvPr/>
            </p:nvSpPr>
            <p:spPr>
              <a:xfrm>
                <a:off x="4013200" y="3991374"/>
                <a:ext cx="317500" cy="4155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03CB7183-6FBA-4346-A7D7-BAA292B2D8FF}"/>
                </a:ext>
              </a:extLst>
            </p:cNvPr>
            <p:cNvGrpSpPr/>
            <p:nvPr/>
          </p:nvGrpSpPr>
          <p:grpSpPr>
            <a:xfrm>
              <a:off x="6539362" y="4211520"/>
              <a:ext cx="2302955" cy="1824983"/>
              <a:chOff x="2857048" y="1891874"/>
              <a:chExt cx="2302955" cy="1824983"/>
            </a:xfrm>
          </p:grpSpPr>
          <p:pic>
            <p:nvPicPr>
              <p:cNvPr id="79" name="圖片 78">
                <a:extLst>
                  <a:ext uri="{FF2B5EF4-FFF2-40B4-BE49-F238E27FC236}">
                    <a16:creationId xmlns:a16="http://schemas.microsoft.com/office/drawing/2014/main" id="{3422C201-2BB9-4484-88F6-5B1405DAF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7048" y="1891874"/>
                <a:ext cx="2302955" cy="182498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8495FABB-0A08-4AE6-B516-600507694A79}"/>
                  </a:ext>
                </a:extLst>
              </p:cNvPr>
              <p:cNvSpPr/>
              <p:nvPr/>
            </p:nvSpPr>
            <p:spPr>
              <a:xfrm>
                <a:off x="3270250" y="2025650"/>
                <a:ext cx="228600" cy="1460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A70E3CC1-3462-4DE1-875A-512D498BF751}"/>
                </a:ext>
              </a:extLst>
            </p:cNvPr>
            <p:cNvSpPr/>
            <p:nvPr/>
          </p:nvSpPr>
          <p:spPr>
            <a:xfrm>
              <a:off x="6369036" y="4073692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6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7DAEFD9A-7E38-46FE-811C-C99690838C71}"/>
                </a:ext>
              </a:extLst>
            </p:cNvPr>
            <p:cNvSpPr txBox="1"/>
            <p:nvPr/>
          </p:nvSpPr>
          <p:spPr>
            <a:xfrm>
              <a:off x="7118974" y="3905888"/>
              <a:ext cx="14593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ea typeface="微軟正黑體" panose="020B0604030504040204" pitchFamily="34" charset="-120"/>
                </a:rPr>
                <a:t>測試完關閉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53117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7203" y="6607765"/>
            <a:ext cx="429306" cy="270289"/>
          </a:xfrm>
        </p:spPr>
        <p:txBody>
          <a:bodyPr/>
          <a:lstStyle/>
          <a:p>
            <a:fld id="{60BF0995-13CC-46C9-9B56-390823875C0A}" type="slidenum">
              <a:rPr lang="zh-TW" altLang="en-US" smtClean="0"/>
              <a:pPr/>
              <a:t>121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737902" y="220538"/>
            <a:ext cx="8298116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 MCP server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A30027-AA8F-4EF9-8FAF-FC62E0287A58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2279B4-15E7-43A0-9A84-36EDAC87003F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6B5EAD-22BE-4372-BDA3-69232914F633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F87FC5-3DAE-49B3-AC33-2FE946CE6513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B4463-5CD7-4953-B228-E2B2C991C31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1C958-1AB4-46D2-A669-6A75ACC8DF2C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1FF715-6295-4E87-AC0D-8222BA42680B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C3A2D1-5C51-43A2-BA06-8EF2720B5D59}"/>
              </a:ext>
            </a:extLst>
          </p:cNvPr>
          <p:cNvSpPr txBox="1"/>
          <p:nvPr/>
        </p:nvSpPr>
        <p:spPr>
          <a:xfrm>
            <a:off x="4068871" y="889607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620A200-23D2-4D5C-A674-5F0C9DFC25AD}"/>
              </a:ext>
            </a:extLst>
          </p:cNvPr>
          <p:cNvSpPr txBox="1"/>
          <p:nvPr/>
        </p:nvSpPr>
        <p:spPr>
          <a:xfrm>
            <a:off x="5666342" y="894016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6B9D939-51C3-43F8-803E-BF3343D6E806}"/>
              </a:ext>
            </a:extLst>
          </p:cNvPr>
          <p:cNvSpPr txBox="1"/>
          <p:nvPr/>
        </p:nvSpPr>
        <p:spPr>
          <a:xfrm>
            <a:off x="7171361" y="892331"/>
            <a:ext cx="1790557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0D1703E-4D1E-4B09-8215-F87853BC5671}"/>
              </a:ext>
            </a:extLst>
          </p:cNvPr>
          <p:cNvGrpSpPr/>
          <p:nvPr/>
        </p:nvGrpSpPr>
        <p:grpSpPr>
          <a:xfrm>
            <a:off x="181570" y="1395960"/>
            <a:ext cx="4597528" cy="2058242"/>
            <a:chOff x="211827" y="1361022"/>
            <a:chExt cx="4597528" cy="2058242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40471A6-8E0C-4D2C-87F2-EEB894D752B5}"/>
                </a:ext>
              </a:extLst>
            </p:cNvPr>
            <p:cNvSpPr txBox="1"/>
            <p:nvPr/>
          </p:nvSpPr>
          <p:spPr>
            <a:xfrm>
              <a:off x="211827" y="1361022"/>
              <a:ext cx="459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dirty="0"/>
                <a:t>將 </a:t>
              </a:r>
              <a:r>
                <a:rPr lang="en-US" altLang="zh-TW" sz="1600" dirty="0"/>
                <a:t>spring-ai-</a:t>
              </a:r>
              <a:r>
                <a:rPr lang="en-US" altLang="zh-TW" sz="1600" dirty="0" err="1"/>
                <a:t>mcp</a:t>
              </a:r>
              <a:r>
                <a:rPr lang="en-US" altLang="zh-TW" sz="1600" dirty="0"/>
                <a:t>-server-account-security</a:t>
              </a:r>
              <a:r>
                <a:rPr lang="zh-TW" altLang="en-US" sz="1600" dirty="0"/>
                <a:t> 啟動</a:t>
              </a:r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6633ABA1-6ABF-4794-AFC3-96DB6B479D8E}"/>
                </a:ext>
              </a:extLst>
            </p:cNvPr>
            <p:cNvGrpSpPr/>
            <p:nvPr/>
          </p:nvGrpSpPr>
          <p:grpSpPr>
            <a:xfrm>
              <a:off x="552969" y="1779773"/>
              <a:ext cx="2467811" cy="1639491"/>
              <a:chOff x="307552" y="1550736"/>
              <a:chExt cx="2793177" cy="1849680"/>
            </a:xfrm>
          </p:grpSpPr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4A2E6182-EB1C-48A0-B88D-06F4E4B73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565" y="1696615"/>
                <a:ext cx="2695164" cy="1703801"/>
              </a:xfrm>
              <a:prstGeom prst="rect">
                <a:avLst/>
              </a:prstGeom>
            </p:spPr>
          </p:pic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2EE6BF7A-6B37-4752-928B-F3461CBFD2BC}"/>
                  </a:ext>
                </a:extLst>
              </p:cNvPr>
              <p:cNvSpPr/>
              <p:nvPr/>
            </p:nvSpPr>
            <p:spPr>
              <a:xfrm>
                <a:off x="307552" y="1550736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1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CB3D033-707D-4682-B99B-CB85944FA933}"/>
              </a:ext>
            </a:extLst>
          </p:cNvPr>
          <p:cNvGrpSpPr/>
          <p:nvPr/>
        </p:nvGrpSpPr>
        <p:grpSpPr>
          <a:xfrm>
            <a:off x="3463562" y="1945984"/>
            <a:ext cx="2846795" cy="1092799"/>
            <a:chOff x="6961564" y="1553681"/>
            <a:chExt cx="2846795" cy="1092799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AEEB4870-5682-459E-98E6-E644E3D48D12}"/>
                </a:ext>
              </a:extLst>
            </p:cNvPr>
            <p:cNvGrpSpPr/>
            <p:nvPr/>
          </p:nvGrpSpPr>
          <p:grpSpPr>
            <a:xfrm>
              <a:off x="6961564" y="1553681"/>
              <a:ext cx="2846795" cy="1092799"/>
              <a:chOff x="6961564" y="1553681"/>
              <a:chExt cx="2846795" cy="1092799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73A6908B-009D-4DAE-9618-967B8F9A5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3196" y="1807319"/>
                <a:ext cx="2695163" cy="839161"/>
              </a:xfrm>
              <a:prstGeom prst="rect">
                <a:avLst/>
              </a:prstGeom>
            </p:spPr>
          </p:pic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C1C9C4BB-0892-44BB-9CF2-60F616C2B81F}"/>
                  </a:ext>
                </a:extLst>
              </p:cNvPr>
              <p:cNvSpPr/>
              <p:nvPr/>
            </p:nvSpPr>
            <p:spPr>
              <a:xfrm>
                <a:off x="6961564" y="1553681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E4F4279A-2644-486F-A011-EA553024B152}"/>
                </a:ext>
              </a:extLst>
            </p:cNvPr>
            <p:cNvSpPr/>
            <p:nvPr/>
          </p:nvSpPr>
          <p:spPr>
            <a:xfrm>
              <a:off x="7097480" y="1779724"/>
              <a:ext cx="219600" cy="116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DE2B06D-032D-4BC1-BB11-754041E52F00}"/>
              </a:ext>
            </a:extLst>
          </p:cNvPr>
          <p:cNvGrpSpPr/>
          <p:nvPr/>
        </p:nvGrpSpPr>
        <p:grpSpPr>
          <a:xfrm>
            <a:off x="3547716" y="3344402"/>
            <a:ext cx="2265521" cy="2942151"/>
            <a:chOff x="3743503" y="3524240"/>
            <a:chExt cx="2265521" cy="2942151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182E3A59-FFA6-47F1-83C5-F7A23EDD04F1}"/>
                </a:ext>
              </a:extLst>
            </p:cNvPr>
            <p:cNvGrpSpPr/>
            <p:nvPr/>
          </p:nvGrpSpPr>
          <p:grpSpPr>
            <a:xfrm>
              <a:off x="3896975" y="3673810"/>
              <a:ext cx="2112049" cy="2792581"/>
              <a:chOff x="4930743" y="4381030"/>
              <a:chExt cx="1732681" cy="2290975"/>
            </a:xfrm>
          </p:grpSpPr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E76D8785-AB00-412B-8FF4-F8803C2C4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0743" y="4381030"/>
                <a:ext cx="1732681" cy="228642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78DE4E7D-11E3-4B07-994B-D18A4B57618E}"/>
                  </a:ext>
                </a:extLst>
              </p:cNvPr>
              <p:cNvSpPr/>
              <p:nvPr/>
            </p:nvSpPr>
            <p:spPr>
              <a:xfrm>
                <a:off x="4997450" y="6492874"/>
                <a:ext cx="336555" cy="1791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20E3FBD0-2A08-41CE-9438-9F1B3BE8D2D6}"/>
                </a:ext>
              </a:extLst>
            </p:cNvPr>
            <p:cNvSpPr/>
            <p:nvPr/>
          </p:nvSpPr>
          <p:spPr>
            <a:xfrm>
              <a:off x="3743503" y="3524240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5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5A7C84CA-3DFD-4574-A24E-255AFBFF425B}"/>
              </a:ext>
            </a:extLst>
          </p:cNvPr>
          <p:cNvGrpSpPr/>
          <p:nvPr/>
        </p:nvGrpSpPr>
        <p:grpSpPr>
          <a:xfrm>
            <a:off x="6786343" y="1412584"/>
            <a:ext cx="1758153" cy="1902061"/>
            <a:chOff x="6535738" y="1468099"/>
            <a:chExt cx="1758153" cy="1902061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F766B271-0F65-4729-B109-22A0F719D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8636" y="1598921"/>
              <a:ext cx="1705255" cy="1771239"/>
            </a:xfrm>
            <a:prstGeom prst="rect">
              <a:avLst/>
            </a:prstGeom>
          </p:spPr>
        </p:pic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31481897-6A3A-46E9-A60B-203C0F00A094}"/>
                </a:ext>
              </a:extLst>
            </p:cNvPr>
            <p:cNvSpPr/>
            <p:nvPr/>
          </p:nvSpPr>
          <p:spPr>
            <a:xfrm>
              <a:off x="6535738" y="146809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220E037-8776-4354-8668-B407889524ED}"/>
              </a:ext>
            </a:extLst>
          </p:cNvPr>
          <p:cNvGrpSpPr/>
          <p:nvPr/>
        </p:nvGrpSpPr>
        <p:grpSpPr>
          <a:xfrm>
            <a:off x="345827" y="4158347"/>
            <a:ext cx="2939836" cy="1096756"/>
            <a:chOff x="307552" y="3970571"/>
            <a:chExt cx="2939836" cy="1096756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E97F6987-F320-423D-A8BB-1A701246A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7352" y="4166861"/>
              <a:ext cx="2830036" cy="900466"/>
            </a:xfrm>
            <a:prstGeom prst="rect">
              <a:avLst/>
            </a:prstGeom>
          </p:spPr>
        </p:pic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90FF8DF-D9B6-4202-84B1-16070AAFF3D2}"/>
                </a:ext>
              </a:extLst>
            </p:cNvPr>
            <p:cNvSpPr/>
            <p:nvPr/>
          </p:nvSpPr>
          <p:spPr>
            <a:xfrm>
              <a:off x="307552" y="3970571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07B1250-E0C3-4D29-9308-631C24527F8D}"/>
              </a:ext>
            </a:extLst>
          </p:cNvPr>
          <p:cNvGrpSpPr/>
          <p:nvPr/>
        </p:nvGrpSpPr>
        <p:grpSpPr>
          <a:xfrm>
            <a:off x="6139896" y="3711954"/>
            <a:ext cx="3348752" cy="2252030"/>
            <a:chOff x="6139896" y="3711954"/>
            <a:chExt cx="3348752" cy="2252030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BBF002E2-AECC-4C8E-89FE-D187F4327B17}"/>
                </a:ext>
              </a:extLst>
            </p:cNvPr>
            <p:cNvGrpSpPr/>
            <p:nvPr/>
          </p:nvGrpSpPr>
          <p:grpSpPr>
            <a:xfrm>
              <a:off x="6139896" y="3711954"/>
              <a:ext cx="3348752" cy="2252030"/>
              <a:chOff x="6323104" y="3905888"/>
              <a:chExt cx="3348752" cy="2252030"/>
            </a:xfrm>
          </p:grpSpPr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02BDBA08-C433-4F46-8E86-C904103B923A}"/>
                  </a:ext>
                </a:extLst>
              </p:cNvPr>
              <p:cNvGrpSpPr/>
              <p:nvPr/>
            </p:nvGrpSpPr>
            <p:grpSpPr>
              <a:xfrm>
                <a:off x="6432904" y="5586338"/>
                <a:ext cx="3238952" cy="571580"/>
                <a:chOff x="1365024" y="3984985"/>
                <a:chExt cx="3238952" cy="571580"/>
              </a:xfrm>
            </p:grpSpPr>
            <p:pic>
              <p:nvPicPr>
                <p:cNvPr id="76" name="圖片 75">
                  <a:extLst>
                    <a:ext uri="{FF2B5EF4-FFF2-40B4-BE49-F238E27FC236}">
                      <a16:creationId xmlns:a16="http://schemas.microsoft.com/office/drawing/2014/main" id="{981C863B-2DA9-4C59-B1D1-3F27D464C8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5024" y="3984985"/>
                  <a:ext cx="3238952" cy="571580"/>
                </a:xfrm>
                <a:prstGeom prst="rect">
                  <a:avLst/>
                </a:prstGeom>
              </p:spPr>
            </p:pic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8276938A-BA96-40AA-8A77-9DF8111252D2}"/>
                    </a:ext>
                  </a:extLst>
                </p:cNvPr>
                <p:cNvSpPr/>
                <p:nvPr/>
              </p:nvSpPr>
              <p:spPr>
                <a:xfrm>
                  <a:off x="4013200" y="3991374"/>
                  <a:ext cx="317500" cy="415525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sp>
            <p:nvSpPr>
              <p:cNvPr id="74" name="橢圓 73">
                <a:extLst>
                  <a:ext uri="{FF2B5EF4-FFF2-40B4-BE49-F238E27FC236}">
                    <a16:creationId xmlns:a16="http://schemas.microsoft.com/office/drawing/2014/main" id="{A70E3CC1-3462-4DE1-875A-512D498BF751}"/>
                  </a:ext>
                </a:extLst>
              </p:cNvPr>
              <p:cNvSpPr/>
              <p:nvPr/>
            </p:nvSpPr>
            <p:spPr>
              <a:xfrm>
                <a:off x="6323104" y="3987725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6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7DAEFD9A-7E38-46FE-811C-C99690838C71}"/>
                  </a:ext>
                </a:extLst>
              </p:cNvPr>
              <p:cNvSpPr txBox="1"/>
              <p:nvPr/>
            </p:nvSpPr>
            <p:spPr>
              <a:xfrm>
                <a:off x="7118974" y="3905888"/>
                <a:ext cx="145930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500" dirty="0">
                    <a:ea typeface="微軟正黑體" panose="020B0604030504040204" pitchFamily="34" charset="-120"/>
                  </a:rPr>
                  <a:t>測試完關閉</a:t>
                </a:r>
              </a:p>
            </p:txBody>
          </p:sp>
          <p:pic>
            <p:nvPicPr>
              <p:cNvPr id="64" name="圖片 63">
                <a:extLst>
                  <a:ext uri="{FF2B5EF4-FFF2-40B4-BE49-F238E27FC236}">
                    <a16:creationId xmlns:a16="http://schemas.microsoft.com/office/drawing/2014/main" id="{B9CDB206-E92F-4736-8A03-43A80295C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34080" y="4333322"/>
                <a:ext cx="3245053" cy="1032517"/>
              </a:xfrm>
              <a:prstGeom prst="rect">
                <a:avLst/>
              </a:prstGeom>
            </p:spPr>
          </p:pic>
        </p:grp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C78D5A26-E372-4F30-826E-469A2FB44D6A}"/>
                </a:ext>
              </a:extLst>
            </p:cNvPr>
            <p:cNvSpPr/>
            <p:nvPr/>
          </p:nvSpPr>
          <p:spPr>
            <a:xfrm>
              <a:off x="6431228" y="4113830"/>
              <a:ext cx="219600" cy="1343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080276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3"/>
            <a:ext cx="7187424" cy="5269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01-spring-ai-chat-gpt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套件與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交互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熟悉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ai MCP client &amp;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套件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簡單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</a:t>
            </a:r>
          </a:p>
          <a:p>
            <a:pPr>
              <a:buSzPct val="50000"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spring security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相關套件 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50000"/>
              <a:buNone/>
            </a:pP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整合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OAuth2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認證授權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04-copilot-mcp-with-spring-ai-mcp-server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copilot plugin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串接自行撰寫之轉帳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</a:p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05-mcp-inspector-debug-spring-ai-mcp-server</a:t>
            </a:r>
          </a:p>
          <a:p>
            <a:pPr>
              <a:buSzPct val="50000"/>
            </a:pP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inspector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調用 </a:t>
            </a:r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</a:t>
            </a:r>
            <a:r>
              <a: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進行</a:t>
            </a:r>
            <a:endParaRPr lang="en-US" altLang="zh-TW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6ED6CB6-8E57-4FA9-8AFC-2F0617A641AB}"/>
              </a:ext>
            </a:extLst>
          </p:cNvPr>
          <p:cNvSpPr/>
          <p:nvPr/>
        </p:nvSpPr>
        <p:spPr>
          <a:xfrm>
            <a:off x="3597481" y="4636334"/>
            <a:ext cx="5325138" cy="878811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460376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server debug </a:t>
            </a:r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9F6B02-BB83-44CC-A0F1-5ECF8F8BA77A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6A302-300A-458C-A1A8-7061F30239A2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42DF91-60D5-464D-8260-768FD6384F7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5DE262-230A-44CC-AE1D-D1E0DD4B8B42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096262-87EB-422A-AD2D-283E193EDBA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0D8A0-700A-4EE9-8B30-4F95CE59A1A8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9C2857-9DE7-475D-A8D0-2ADDC65C06FA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4FC745-EF7B-42CD-A787-525BA4B775DC}"/>
              </a:ext>
            </a:extLst>
          </p:cNvPr>
          <p:cNvSpPr txBox="1"/>
          <p:nvPr/>
        </p:nvSpPr>
        <p:spPr>
          <a:xfrm>
            <a:off x="4052233" y="888962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72F38A5-40D0-45EF-B072-9AD825EAC8B9}"/>
              </a:ext>
            </a:extLst>
          </p:cNvPr>
          <p:cNvSpPr txBox="1"/>
          <p:nvPr/>
        </p:nvSpPr>
        <p:spPr>
          <a:xfrm>
            <a:off x="5651436" y="88764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3B7C1B5-9B38-4800-BED1-76545357C577}"/>
              </a:ext>
            </a:extLst>
          </p:cNvPr>
          <p:cNvSpPr txBox="1"/>
          <p:nvPr/>
        </p:nvSpPr>
        <p:spPr>
          <a:xfrm>
            <a:off x="7173225" y="895978"/>
            <a:ext cx="179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C147835D-3401-4D08-82AC-FE0EE2D8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672"/>
            <a:ext cx="6076339" cy="1144608"/>
          </a:xfrm>
        </p:spPr>
        <p:txBody>
          <a:bodyPr>
            <a:normAutofit/>
          </a:bodyPr>
          <a:lstStyle/>
          <a:p>
            <a:pPr marL="285750" indent="-285750" defTabSz="91440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inspector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模擬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client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溝通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91440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啟動指令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@modelcontextprotocol/inspector</a:t>
            </a:r>
          </a:p>
          <a:p>
            <a:pPr marL="285750" lvl="1" indent="-285750" defTabSz="914400">
              <a:buClr>
                <a:srgbClr val="3D5383"/>
              </a:buClr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會自動開啟瀏覽器訪問工具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8CD04BA-6A8A-410A-9919-E2137F023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3" y="3288530"/>
            <a:ext cx="5949958" cy="1214882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3915A850-6334-4E0E-AD11-4B47E4A32AA2}"/>
              </a:ext>
            </a:extLst>
          </p:cNvPr>
          <p:cNvGrpSpPr/>
          <p:nvPr/>
        </p:nvGrpSpPr>
        <p:grpSpPr>
          <a:xfrm>
            <a:off x="6914539" y="2566930"/>
            <a:ext cx="2491081" cy="3621181"/>
            <a:chOff x="7916003" y="2588219"/>
            <a:chExt cx="2686089" cy="3904656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15AB317B-ED06-4409-8DDD-8162731F8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6003" y="2588219"/>
              <a:ext cx="2686089" cy="3904656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9532521-B82C-497C-9EFF-B3C50B4A3A35}"/>
                </a:ext>
              </a:extLst>
            </p:cNvPr>
            <p:cNvSpPr/>
            <p:nvPr/>
          </p:nvSpPr>
          <p:spPr>
            <a:xfrm>
              <a:off x="8007124" y="3931921"/>
              <a:ext cx="1357856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DEC3635-1BE1-4054-B5FE-F5794D2C1DFA}"/>
                </a:ext>
              </a:extLst>
            </p:cNvPr>
            <p:cNvSpPr/>
            <p:nvPr/>
          </p:nvSpPr>
          <p:spPr>
            <a:xfrm>
              <a:off x="8007124" y="4356944"/>
              <a:ext cx="1357856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0520364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02-spring-ai-tool-mcp MCP server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9F6B02-BB83-44CC-A0F1-5ECF8F8BA77A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6A302-300A-458C-A1A8-7061F30239A2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42DF91-60D5-464D-8260-768FD6384F7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5DE262-230A-44CC-AE1D-D1E0DD4B8B42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096262-87EB-422A-AD2D-283E193EDBA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0D8A0-700A-4EE9-8B30-4F95CE59A1A8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9C2857-9DE7-475D-A8D0-2ADDC65C06FA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4FC745-EF7B-42CD-A787-525BA4B775DC}"/>
              </a:ext>
            </a:extLst>
          </p:cNvPr>
          <p:cNvSpPr txBox="1"/>
          <p:nvPr/>
        </p:nvSpPr>
        <p:spPr>
          <a:xfrm>
            <a:off x="4052233" y="888962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72F38A5-40D0-45EF-B072-9AD825EAC8B9}"/>
              </a:ext>
            </a:extLst>
          </p:cNvPr>
          <p:cNvSpPr txBox="1"/>
          <p:nvPr/>
        </p:nvSpPr>
        <p:spPr>
          <a:xfrm>
            <a:off x="5651436" y="88764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3B7C1B5-9B38-4800-BED1-76545357C577}"/>
              </a:ext>
            </a:extLst>
          </p:cNvPr>
          <p:cNvSpPr txBox="1"/>
          <p:nvPr/>
        </p:nvSpPr>
        <p:spPr>
          <a:xfrm>
            <a:off x="7173225" y="895978"/>
            <a:ext cx="179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EE55D4E-F758-421D-B335-D90A7CBF502C}"/>
              </a:ext>
            </a:extLst>
          </p:cNvPr>
          <p:cNvGrpSpPr/>
          <p:nvPr/>
        </p:nvGrpSpPr>
        <p:grpSpPr>
          <a:xfrm>
            <a:off x="570387" y="1470366"/>
            <a:ext cx="4825147" cy="1722023"/>
            <a:chOff x="731316" y="1444978"/>
            <a:chExt cx="5001674" cy="1806288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7026566A-403F-405B-B4CC-043A91A6C6B2}"/>
                </a:ext>
              </a:extLst>
            </p:cNvPr>
            <p:cNvGrpSpPr/>
            <p:nvPr/>
          </p:nvGrpSpPr>
          <p:grpSpPr>
            <a:xfrm>
              <a:off x="841116" y="1444978"/>
              <a:ext cx="4891874" cy="1806288"/>
              <a:chOff x="579351" y="3881676"/>
              <a:chExt cx="5435365" cy="2006967"/>
            </a:xfrm>
          </p:grpSpPr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C7AE881-9066-416F-A278-A320CCFEA5AD}"/>
                  </a:ext>
                </a:extLst>
              </p:cNvPr>
              <p:cNvSpPr txBox="1"/>
              <p:nvPr/>
            </p:nvSpPr>
            <p:spPr>
              <a:xfrm>
                <a:off x="1464988" y="3881676"/>
                <a:ext cx="3629707" cy="37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500" dirty="0">
                    <a:ea typeface="微軟正黑體" panose="020B0604030504040204" pitchFamily="34" charset="-120"/>
                  </a:rPr>
                  <a:t>將 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spring-ai-</a:t>
                </a:r>
                <a:r>
                  <a:rPr lang="en-US" altLang="zh-TW" sz="1500" dirty="0" err="1">
                    <a:ea typeface="微軟正黑體" panose="020B0604030504040204" pitchFamily="34" charset="-120"/>
                  </a:rPr>
                  <a:t>mcp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-server-account</a:t>
                </a:r>
                <a:r>
                  <a:rPr lang="zh-TW" altLang="en-US" sz="1500" dirty="0">
                    <a:ea typeface="微軟正黑體" panose="020B0604030504040204" pitchFamily="34" charset="-120"/>
                  </a:rPr>
                  <a:t> 啟動</a:t>
                </a:r>
              </a:p>
            </p:txBody>
          </p:sp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3660A0A1-5B7B-402C-9AD5-9940C96261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9351" y="4264694"/>
                <a:ext cx="5435365" cy="1623949"/>
              </a:xfrm>
              <a:prstGeom prst="rect">
                <a:avLst/>
              </a:prstGeom>
            </p:spPr>
          </p:pic>
        </p:grp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738B74F7-2907-4906-AC2B-28B98E48D3DA}"/>
                </a:ext>
              </a:extLst>
            </p:cNvPr>
            <p:cNvSpPr/>
            <p:nvPr/>
          </p:nvSpPr>
          <p:spPr>
            <a:xfrm>
              <a:off x="731316" y="1679897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BF42891D-1982-4C11-9400-55723372A90A}"/>
              </a:ext>
            </a:extLst>
          </p:cNvPr>
          <p:cNvGrpSpPr/>
          <p:nvPr/>
        </p:nvGrpSpPr>
        <p:grpSpPr>
          <a:xfrm>
            <a:off x="445982" y="3312299"/>
            <a:ext cx="5350969" cy="2457807"/>
            <a:chOff x="777132" y="3496936"/>
            <a:chExt cx="5350969" cy="2457807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DC9102A0-77FA-45DD-B48F-7DA8A7C5B4FC}"/>
                </a:ext>
              </a:extLst>
            </p:cNvPr>
            <p:cNvGrpSpPr/>
            <p:nvPr/>
          </p:nvGrpSpPr>
          <p:grpSpPr>
            <a:xfrm>
              <a:off x="877258" y="3625004"/>
              <a:ext cx="5250843" cy="2329739"/>
              <a:chOff x="1640926" y="4005644"/>
              <a:chExt cx="5981700" cy="2654012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9BE5DFEF-86A9-4E41-B7E0-192B52D80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0926" y="4005644"/>
                <a:ext cx="5981700" cy="2654012"/>
              </a:xfrm>
              <a:prstGeom prst="rect">
                <a:avLst/>
              </a:prstGeom>
            </p:spPr>
          </p:pic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11CCE25E-E8F1-409B-B8C0-429132708F7E}"/>
                  </a:ext>
                </a:extLst>
              </p:cNvPr>
              <p:cNvSpPr/>
              <p:nvPr/>
            </p:nvSpPr>
            <p:spPr>
              <a:xfrm>
                <a:off x="3559005" y="4005644"/>
                <a:ext cx="380536" cy="1976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A62C197-C6FD-4403-9C54-9D11D1ABEB4A}"/>
                  </a:ext>
                </a:extLst>
              </p:cNvPr>
              <p:cNvSpPr/>
              <p:nvPr/>
            </p:nvSpPr>
            <p:spPr>
              <a:xfrm>
                <a:off x="3806655" y="4504379"/>
                <a:ext cx="380536" cy="1976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B1E8A85C-D896-4D75-9C57-F67E3F6E7D0C}"/>
                  </a:ext>
                </a:extLst>
              </p:cNvPr>
              <p:cNvSpPr/>
              <p:nvPr/>
            </p:nvSpPr>
            <p:spPr>
              <a:xfrm>
                <a:off x="2917654" y="4923479"/>
                <a:ext cx="1165395" cy="2772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7E34A49-C5A4-4C35-87BF-A00E7CA338C8}"/>
                  </a:ext>
                </a:extLst>
              </p:cNvPr>
              <p:cNvSpPr/>
              <p:nvPr/>
            </p:nvSpPr>
            <p:spPr>
              <a:xfrm>
                <a:off x="5268785" y="4791280"/>
                <a:ext cx="427166" cy="2772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8A1F5A81-ED40-4C1A-8962-783B8B169402}"/>
                  </a:ext>
                </a:extLst>
              </p:cNvPr>
              <p:cNvSpPr/>
              <p:nvPr/>
            </p:nvSpPr>
            <p:spPr>
              <a:xfrm>
                <a:off x="5268786" y="5383523"/>
                <a:ext cx="496922" cy="2044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E3FEFF55-77EE-4DE7-9B26-C53BDA8EF161}"/>
                </a:ext>
              </a:extLst>
            </p:cNvPr>
            <p:cNvSpPr/>
            <p:nvPr/>
          </p:nvSpPr>
          <p:spPr>
            <a:xfrm>
              <a:off x="777132" y="349693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D82E702-15D1-44CB-85B8-0D08F8FCEAF8}"/>
              </a:ext>
            </a:extLst>
          </p:cNvPr>
          <p:cNvGrpSpPr/>
          <p:nvPr/>
        </p:nvGrpSpPr>
        <p:grpSpPr>
          <a:xfrm>
            <a:off x="6291120" y="1777810"/>
            <a:ext cx="2379109" cy="3672044"/>
            <a:chOff x="6474614" y="1729916"/>
            <a:chExt cx="2379109" cy="3672044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C7ACA5EF-37F5-4F77-967B-69B4FF4FDCD9}"/>
                </a:ext>
              </a:extLst>
            </p:cNvPr>
            <p:cNvGrpSpPr/>
            <p:nvPr/>
          </p:nvGrpSpPr>
          <p:grpSpPr>
            <a:xfrm>
              <a:off x="6560592" y="1848047"/>
              <a:ext cx="2293131" cy="3553913"/>
              <a:chOff x="8728686" y="1251854"/>
              <a:chExt cx="2293131" cy="3553913"/>
            </a:xfrm>
          </p:grpSpPr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6E856784-08F8-492F-B86F-BC5778ABF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8686" y="1251854"/>
                <a:ext cx="2293131" cy="3553913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E788B03C-7EBE-4721-8DA6-77C3D837383C}"/>
                  </a:ext>
                </a:extLst>
              </p:cNvPr>
              <p:cNvSpPr/>
              <p:nvPr/>
            </p:nvSpPr>
            <p:spPr>
              <a:xfrm>
                <a:off x="8937956" y="4203253"/>
                <a:ext cx="1108569" cy="30112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A9B53FA1-2EFC-439F-8776-185FDD2AEA5E}"/>
                </a:ext>
              </a:extLst>
            </p:cNvPr>
            <p:cNvSpPr/>
            <p:nvPr/>
          </p:nvSpPr>
          <p:spPr>
            <a:xfrm>
              <a:off x="6474614" y="172991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2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371744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1F04A781-57DD-43A7-A22C-6545AAFA5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D7E54A-3897-414B-BC23-EBAAF926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1984FAF4-2517-4675-9362-4EF8D5AAF137}"/>
              </a:ext>
            </a:extLst>
          </p:cNvPr>
          <p:cNvSpPr txBox="1">
            <a:spLocks/>
          </p:cNvSpPr>
          <p:nvPr/>
        </p:nvSpPr>
        <p:spPr>
          <a:xfrm>
            <a:off x="875933" y="198765"/>
            <a:ext cx="7965380" cy="686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60364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測試 </a:t>
            </a:r>
            <a:r>
              <a:rPr lang="en-US" altLang="zh-TW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03-spring-ai-mcp-auth-keycloak MCP server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9F6B02-BB83-44CC-A0F1-5ECF8F8BA77A}"/>
              </a:ext>
            </a:extLst>
          </p:cNvPr>
          <p:cNvSpPr/>
          <p:nvPr/>
        </p:nvSpPr>
        <p:spPr>
          <a:xfrm>
            <a:off x="886932" y="902204"/>
            <a:ext cx="1593402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6A302-300A-458C-A1A8-7061F30239A2}"/>
              </a:ext>
            </a:extLst>
          </p:cNvPr>
          <p:cNvSpPr/>
          <p:nvPr/>
        </p:nvSpPr>
        <p:spPr>
          <a:xfrm>
            <a:off x="2463234" y="90154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42DF91-60D5-464D-8260-768FD6384F7C}"/>
              </a:ext>
            </a:extLst>
          </p:cNvPr>
          <p:cNvSpPr txBox="1"/>
          <p:nvPr/>
        </p:nvSpPr>
        <p:spPr>
          <a:xfrm>
            <a:off x="874877" y="95867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01-spring-ai-chat-gpt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5DE262-230A-44CC-AE1D-D1E0DD4B8B42}"/>
              </a:ext>
            </a:extLst>
          </p:cNvPr>
          <p:cNvSpPr txBox="1"/>
          <p:nvPr/>
        </p:nvSpPr>
        <p:spPr>
          <a:xfrm>
            <a:off x="2458831" y="956897"/>
            <a:ext cx="1597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02-spring-ai-tool-mcp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096262-87EB-422A-AD2D-283E193EDBA1}"/>
              </a:ext>
            </a:extLst>
          </p:cNvPr>
          <p:cNvSpPr/>
          <p:nvPr/>
        </p:nvSpPr>
        <p:spPr>
          <a:xfrm>
            <a:off x="4058315" y="899767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0D8A0-700A-4EE9-8B30-4F95CE59A1A8}"/>
              </a:ext>
            </a:extLst>
          </p:cNvPr>
          <p:cNvSpPr/>
          <p:nvPr/>
        </p:nvSpPr>
        <p:spPr>
          <a:xfrm>
            <a:off x="5660523" y="902133"/>
            <a:ext cx="1594800" cy="324000"/>
          </a:xfrm>
          <a:prstGeom prst="rect">
            <a:avLst/>
          </a:prstGeom>
          <a:solidFill>
            <a:schemeClr val="bg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9C2857-9DE7-475D-A8D0-2ADDC65C06FA}"/>
              </a:ext>
            </a:extLst>
          </p:cNvPr>
          <p:cNvSpPr/>
          <p:nvPr/>
        </p:nvSpPr>
        <p:spPr>
          <a:xfrm>
            <a:off x="7255323" y="897479"/>
            <a:ext cx="15984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4FC745-EF7B-42CD-A787-525BA4B775DC}"/>
              </a:ext>
            </a:extLst>
          </p:cNvPr>
          <p:cNvSpPr txBox="1"/>
          <p:nvPr/>
        </p:nvSpPr>
        <p:spPr>
          <a:xfrm>
            <a:off x="4052233" y="888962"/>
            <a:ext cx="15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03-spring-ai-mcp-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auth-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keycloak</a:t>
            </a:r>
            <a:endParaRPr lang="en-US" altLang="zh-TW" sz="1000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72F38A5-40D0-45EF-B072-9AD825EAC8B9}"/>
              </a:ext>
            </a:extLst>
          </p:cNvPr>
          <p:cNvSpPr txBox="1"/>
          <p:nvPr/>
        </p:nvSpPr>
        <p:spPr>
          <a:xfrm>
            <a:off x="5651436" y="887647"/>
            <a:ext cx="159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04-copilot-mcp-with-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3B7C1B5-9B38-4800-BED1-76545357C577}"/>
              </a:ext>
            </a:extLst>
          </p:cNvPr>
          <p:cNvSpPr txBox="1"/>
          <p:nvPr/>
        </p:nvSpPr>
        <p:spPr>
          <a:xfrm>
            <a:off x="7173225" y="895978"/>
            <a:ext cx="179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05-mcp-inspector-debug-</a:t>
            </a:r>
          </a:p>
          <a:p>
            <a:pPr algn="ctr" defTabSz="603647">
              <a:lnSpc>
                <a:spcPct val="90000"/>
              </a:lnSpc>
              <a:spcBef>
                <a:spcPct val="0"/>
              </a:spcBef>
            </a:pP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spring-ai-</a:t>
            </a:r>
            <a:r>
              <a:rPr lang="en-US" altLang="zh-TW" sz="10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mcp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-server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EF21C0D-A99B-4753-A75D-3E2DEB6E9479}"/>
              </a:ext>
            </a:extLst>
          </p:cNvPr>
          <p:cNvGrpSpPr/>
          <p:nvPr/>
        </p:nvGrpSpPr>
        <p:grpSpPr>
          <a:xfrm>
            <a:off x="229783" y="1455348"/>
            <a:ext cx="4064497" cy="2215286"/>
            <a:chOff x="874571" y="1435974"/>
            <a:chExt cx="4064497" cy="2215286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608C9443-44A8-4897-89CE-4B8D90E1CEB1}"/>
                </a:ext>
              </a:extLst>
            </p:cNvPr>
            <p:cNvGrpSpPr/>
            <p:nvPr/>
          </p:nvGrpSpPr>
          <p:grpSpPr>
            <a:xfrm>
              <a:off x="1031135" y="1435974"/>
              <a:ext cx="3907933" cy="2215286"/>
              <a:chOff x="760091" y="3586335"/>
              <a:chExt cx="4515480" cy="2738222"/>
            </a:xfrm>
          </p:grpSpPr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5B72869C-3A37-4260-92C5-1D49DE5BD17D}"/>
                  </a:ext>
                </a:extLst>
              </p:cNvPr>
              <p:cNvSpPr txBox="1"/>
              <p:nvPr/>
            </p:nvSpPr>
            <p:spPr>
              <a:xfrm>
                <a:off x="760091" y="3586335"/>
                <a:ext cx="4515480" cy="399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500" dirty="0">
                    <a:ea typeface="微軟正黑體" panose="020B0604030504040204" pitchFamily="34" charset="-120"/>
                  </a:rPr>
                  <a:t>將 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spring-ai-</a:t>
                </a:r>
                <a:r>
                  <a:rPr lang="en-US" altLang="zh-TW" sz="1500" dirty="0" err="1">
                    <a:ea typeface="微軟正黑體" panose="020B0604030504040204" pitchFamily="34" charset="-120"/>
                  </a:rPr>
                  <a:t>mcp</a:t>
                </a:r>
                <a:r>
                  <a:rPr lang="en-US" altLang="zh-TW" sz="1500" dirty="0">
                    <a:ea typeface="微軟正黑體" panose="020B0604030504040204" pitchFamily="34" charset="-120"/>
                  </a:rPr>
                  <a:t>-server-account-security</a:t>
                </a:r>
                <a:r>
                  <a:rPr lang="zh-TW" altLang="en-US" sz="1500" dirty="0">
                    <a:ea typeface="微軟正黑體" panose="020B0604030504040204" pitchFamily="34" charset="-120"/>
                  </a:rPr>
                  <a:t> 啟動</a:t>
                </a:r>
              </a:p>
            </p:txBody>
          </p:sp>
          <p:pic>
            <p:nvPicPr>
              <p:cNvPr id="57" name="圖片 56">
                <a:extLst>
                  <a:ext uri="{FF2B5EF4-FFF2-40B4-BE49-F238E27FC236}">
                    <a16:creationId xmlns:a16="http://schemas.microsoft.com/office/drawing/2014/main" id="{568FA477-D512-40AC-886D-92D789BA2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833" y="4000789"/>
                <a:ext cx="3675864" cy="2323768"/>
              </a:xfrm>
              <a:prstGeom prst="rect">
                <a:avLst/>
              </a:prstGeom>
            </p:spPr>
          </p:pic>
        </p:grp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D9DB57A9-88CB-4694-875E-7A9222E9382A}"/>
                </a:ext>
              </a:extLst>
            </p:cNvPr>
            <p:cNvSpPr/>
            <p:nvPr/>
          </p:nvSpPr>
          <p:spPr>
            <a:xfrm>
              <a:off x="874571" y="1487756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1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BD29602-D29B-477A-B4BB-365C47176014}"/>
              </a:ext>
            </a:extLst>
          </p:cNvPr>
          <p:cNvGrpSpPr/>
          <p:nvPr/>
        </p:nvGrpSpPr>
        <p:grpSpPr>
          <a:xfrm>
            <a:off x="7201621" y="1415140"/>
            <a:ext cx="2386659" cy="3663713"/>
            <a:chOff x="7290615" y="1427184"/>
            <a:chExt cx="2386659" cy="3663713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8F9ED231-D63A-409E-B7B7-1A19787DF72B}"/>
                </a:ext>
              </a:extLst>
            </p:cNvPr>
            <p:cNvGrpSpPr/>
            <p:nvPr/>
          </p:nvGrpSpPr>
          <p:grpSpPr>
            <a:xfrm>
              <a:off x="7384143" y="1536984"/>
              <a:ext cx="2293131" cy="3553913"/>
              <a:chOff x="8728686" y="1251854"/>
              <a:chExt cx="2293131" cy="3553913"/>
            </a:xfrm>
          </p:grpSpPr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83656521-4AAA-4119-97C3-83F01BC75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8686" y="1251854"/>
                <a:ext cx="2293131" cy="3553913"/>
              </a:xfrm>
              <a:prstGeom prst="rect">
                <a:avLst/>
              </a:prstGeom>
            </p:spPr>
          </p:pic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BD3DF89E-3825-4107-8A89-1BF1BD402820}"/>
                  </a:ext>
                </a:extLst>
              </p:cNvPr>
              <p:cNvSpPr/>
              <p:nvPr/>
            </p:nvSpPr>
            <p:spPr>
              <a:xfrm>
                <a:off x="8937956" y="4203253"/>
                <a:ext cx="1108569" cy="30112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F7002392-FB39-4E07-92EF-8D0F9A7C4A9C}"/>
                </a:ext>
              </a:extLst>
            </p:cNvPr>
            <p:cNvSpPr/>
            <p:nvPr/>
          </p:nvSpPr>
          <p:spPr>
            <a:xfrm>
              <a:off x="7290615" y="1427184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3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A3303A25-AE03-4E3E-AF82-6AA343345149}"/>
              </a:ext>
            </a:extLst>
          </p:cNvPr>
          <p:cNvGrpSpPr/>
          <p:nvPr/>
        </p:nvGrpSpPr>
        <p:grpSpPr>
          <a:xfrm>
            <a:off x="2455221" y="4499074"/>
            <a:ext cx="4599455" cy="2101808"/>
            <a:chOff x="207920" y="3831122"/>
            <a:chExt cx="4599455" cy="2101808"/>
          </a:xfrm>
        </p:grpSpPr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CA8E5A48-EBC3-4EC0-957E-122C9C3B0C77}"/>
                </a:ext>
              </a:extLst>
            </p:cNvPr>
            <p:cNvGrpSpPr/>
            <p:nvPr/>
          </p:nvGrpSpPr>
          <p:grpSpPr>
            <a:xfrm>
              <a:off x="317720" y="3940922"/>
              <a:ext cx="4489655" cy="1992008"/>
              <a:chOff x="1638214" y="4005644"/>
              <a:chExt cx="5981700" cy="2654012"/>
            </a:xfrm>
          </p:grpSpPr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DF78D260-AC7E-4756-B6EA-E057A72AF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214" y="4005644"/>
                <a:ext cx="5981700" cy="2654012"/>
              </a:xfrm>
              <a:prstGeom prst="rect">
                <a:avLst/>
              </a:prstGeom>
            </p:spPr>
          </p:pic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11590D1-D5A3-494F-8A57-5D09C3858585}"/>
                  </a:ext>
                </a:extLst>
              </p:cNvPr>
              <p:cNvSpPr/>
              <p:nvPr/>
            </p:nvSpPr>
            <p:spPr>
              <a:xfrm>
                <a:off x="3559005" y="4005644"/>
                <a:ext cx="380536" cy="1976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763DEDB-5D45-4792-A3C8-384E5112EF3B}"/>
                  </a:ext>
                </a:extLst>
              </p:cNvPr>
              <p:cNvSpPr/>
              <p:nvPr/>
            </p:nvSpPr>
            <p:spPr>
              <a:xfrm>
                <a:off x="3806655" y="4504379"/>
                <a:ext cx="380536" cy="1976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CDA9523-765B-4A64-83C3-92840F5A2E3E}"/>
                  </a:ext>
                </a:extLst>
              </p:cNvPr>
              <p:cNvSpPr/>
              <p:nvPr/>
            </p:nvSpPr>
            <p:spPr>
              <a:xfrm>
                <a:off x="2917654" y="4923479"/>
                <a:ext cx="1165395" cy="2772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E96807B1-D8F1-41FA-8D65-E660A6D207A7}"/>
                  </a:ext>
                </a:extLst>
              </p:cNvPr>
              <p:cNvSpPr/>
              <p:nvPr/>
            </p:nvSpPr>
            <p:spPr>
              <a:xfrm>
                <a:off x="5268785" y="4791280"/>
                <a:ext cx="427166" cy="27724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67C9F5CD-FF21-4DE8-9B2B-F04413D9F93D}"/>
                  </a:ext>
                </a:extLst>
              </p:cNvPr>
              <p:cNvSpPr/>
              <p:nvPr/>
            </p:nvSpPr>
            <p:spPr>
              <a:xfrm>
                <a:off x="5268786" y="5383523"/>
                <a:ext cx="496922" cy="2044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2056307B-85A5-4860-BEC4-304CE0EE90DC}"/>
                </a:ext>
              </a:extLst>
            </p:cNvPr>
            <p:cNvSpPr/>
            <p:nvPr/>
          </p:nvSpPr>
          <p:spPr>
            <a:xfrm>
              <a:off x="207920" y="3831122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5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D13E3C1-4E20-4F36-AFF9-6FAB4A5DFB6B}"/>
              </a:ext>
            </a:extLst>
          </p:cNvPr>
          <p:cNvGrpSpPr/>
          <p:nvPr/>
        </p:nvGrpSpPr>
        <p:grpSpPr>
          <a:xfrm>
            <a:off x="4868358" y="1321871"/>
            <a:ext cx="2223256" cy="3214677"/>
            <a:chOff x="4900903" y="1415140"/>
            <a:chExt cx="2223256" cy="3214677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C7584D1C-629A-4026-8A74-BFE991AFFC3B}"/>
                </a:ext>
              </a:extLst>
            </p:cNvPr>
            <p:cNvGrpSpPr/>
            <p:nvPr/>
          </p:nvGrpSpPr>
          <p:grpSpPr>
            <a:xfrm>
              <a:off x="4900903" y="1415140"/>
              <a:ext cx="2223256" cy="3214677"/>
              <a:chOff x="4939068" y="1536984"/>
              <a:chExt cx="2223256" cy="3214677"/>
            </a:xfrm>
          </p:grpSpPr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0A0C6549-532A-409A-997F-3EE0E0BE8F16}"/>
                  </a:ext>
                </a:extLst>
              </p:cNvPr>
              <p:cNvGrpSpPr/>
              <p:nvPr/>
            </p:nvGrpSpPr>
            <p:grpSpPr>
              <a:xfrm>
                <a:off x="5029194" y="1657567"/>
                <a:ext cx="2133130" cy="3094094"/>
                <a:chOff x="7032031" y="1292381"/>
                <a:chExt cx="2450138" cy="3553913"/>
              </a:xfrm>
            </p:grpSpPr>
            <p:pic>
              <p:nvPicPr>
                <p:cNvPr id="62" name="圖片 61">
                  <a:extLst>
                    <a:ext uri="{FF2B5EF4-FFF2-40B4-BE49-F238E27FC236}">
                      <a16:creationId xmlns:a16="http://schemas.microsoft.com/office/drawing/2014/main" id="{87C9BEDC-FFF8-4BA4-BC75-269F47E3F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32031" y="1292381"/>
                  <a:ext cx="2450138" cy="3553913"/>
                </a:xfrm>
                <a:prstGeom prst="rect">
                  <a:avLst/>
                </a:prstGeom>
              </p:spPr>
            </p:pic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9EE85C82-32C1-4AD9-9708-BCCEB1CC2070}"/>
                    </a:ext>
                  </a:extLst>
                </p:cNvPr>
                <p:cNvSpPr/>
                <p:nvPr/>
              </p:nvSpPr>
              <p:spPr>
                <a:xfrm>
                  <a:off x="7131050" y="3429000"/>
                  <a:ext cx="425450" cy="1143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6BF8399A-7D2F-4A8F-82EA-F635765D1F5F}"/>
                    </a:ext>
                  </a:extLst>
                </p:cNvPr>
                <p:cNvSpPr/>
                <p:nvPr/>
              </p:nvSpPr>
              <p:spPr>
                <a:xfrm>
                  <a:off x="7131050" y="3714750"/>
                  <a:ext cx="1212850" cy="15977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5D8B2925-F3C9-4C2A-A2B2-F8245760187F}"/>
                  </a:ext>
                </a:extLst>
              </p:cNvPr>
              <p:cNvSpPr/>
              <p:nvPr/>
            </p:nvSpPr>
            <p:spPr>
              <a:xfrm>
                <a:off x="4939068" y="1536984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D538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>
                    <a:solidFill>
                      <a:srgbClr val="3E5180"/>
                    </a:solidFill>
                  </a:rPr>
                  <a:t>2</a:t>
                </a:r>
                <a:endParaRPr lang="zh-TW" altLang="en-US" sz="1200" dirty="0">
                  <a:solidFill>
                    <a:srgbClr val="3E5180"/>
                  </a:solidFill>
                </a:endParaRPr>
              </a:p>
            </p:txBody>
          </p:sp>
        </p:grp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6C86D5DB-F54F-47FD-81F0-D0B4ABC79220}"/>
                </a:ext>
              </a:extLst>
            </p:cNvPr>
            <p:cNvSpPr/>
            <p:nvPr/>
          </p:nvSpPr>
          <p:spPr>
            <a:xfrm>
              <a:off x="5691689" y="2321954"/>
              <a:ext cx="659105" cy="1391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05B70BA6-58C8-4399-83D2-DF86B6E6831B}"/>
              </a:ext>
            </a:extLst>
          </p:cNvPr>
          <p:cNvGrpSpPr/>
          <p:nvPr/>
        </p:nvGrpSpPr>
        <p:grpSpPr>
          <a:xfrm>
            <a:off x="407926" y="4217968"/>
            <a:ext cx="1758153" cy="1902061"/>
            <a:chOff x="6535738" y="1468099"/>
            <a:chExt cx="1758153" cy="1902061"/>
          </a:xfrm>
        </p:grpSpPr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BD2776AA-09F1-4541-9DB1-558F25C7A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88636" y="1598921"/>
              <a:ext cx="1705255" cy="1771239"/>
            </a:xfrm>
            <a:prstGeom prst="rect">
              <a:avLst/>
            </a:prstGeom>
          </p:spPr>
        </p:pic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34E149BA-48D0-4BAF-8791-6BAB67A633FE}"/>
                </a:ext>
              </a:extLst>
            </p:cNvPr>
            <p:cNvSpPr/>
            <p:nvPr/>
          </p:nvSpPr>
          <p:spPr>
            <a:xfrm>
              <a:off x="6535738" y="1468099"/>
              <a:ext cx="219600" cy="2196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3D53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rgbClr val="3E5180"/>
                  </a:solidFill>
                </a:rPr>
                <a:t>4</a:t>
              </a:r>
              <a:endParaRPr lang="zh-TW" altLang="en-US" sz="1200" dirty="0">
                <a:solidFill>
                  <a:srgbClr val="3E518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5726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6ED6CB6-8E57-4FA9-8AFC-2F0617A641AB}"/>
              </a:ext>
            </a:extLst>
          </p:cNvPr>
          <p:cNvSpPr/>
          <p:nvPr/>
        </p:nvSpPr>
        <p:spPr>
          <a:xfrm>
            <a:off x="3586051" y="167783"/>
            <a:ext cx="5325138" cy="878811"/>
          </a:xfrm>
          <a:prstGeom prst="roundRect">
            <a:avLst/>
          </a:prstGeom>
          <a:solidFill>
            <a:srgbClr val="FFFF99">
              <a:alpha val="20000"/>
            </a:srgb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對角線條紋 14">
            <a:extLst>
              <a:ext uri="{FF2B5EF4-FFF2-40B4-BE49-F238E27FC236}">
                <a16:creationId xmlns:a16="http://schemas.microsoft.com/office/drawing/2014/main" id="{7913192B-414E-4918-BD3B-D99FCE16A61B}"/>
              </a:ext>
            </a:extLst>
          </p:cNvPr>
          <p:cNvSpPr/>
          <p:nvPr/>
        </p:nvSpPr>
        <p:spPr>
          <a:xfrm>
            <a:off x="794276" y="1482669"/>
            <a:ext cx="1813122" cy="321714"/>
          </a:xfrm>
          <a:prstGeom prst="diagStripe">
            <a:avLst/>
          </a:prstGeom>
          <a:solidFill>
            <a:srgbClr val="BFE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5486D1-2D77-45BC-B09A-A4E8BD9C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825435-FFB8-4584-BB4A-C5F9172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76487EA-4C9F-BB28-01C4-C7F9C671CE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實作</a:t>
            </a:r>
          </a:p>
        </p:txBody>
      </p: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DEB2DF40-98D6-46B0-B1E0-45AFB01D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892" y="167784"/>
            <a:ext cx="7187424" cy="10863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06-mcp-server-remote-debug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SzPct val="50000"/>
            </a:pPr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 server </a:t>
            </a:r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開啟 </a:t>
            </a:r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port </a:t>
            </a:r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並使用 </a:t>
            </a:r>
            <a:r>
              <a:rPr lang="en-US" altLang="zh-TW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進行 </a:t>
            </a:r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debug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E1233B-851C-497A-AEE6-97E786AA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49" y="5515145"/>
            <a:ext cx="2198770" cy="108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900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2025418-88B8-490A-962E-E5F623AEC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非 </a:t>
            </a:r>
            <a:r>
              <a:rPr lang="en-US" altLang="zh-TW" dirty="0"/>
              <a:t>STDIO </a:t>
            </a:r>
            <a:r>
              <a:rPr lang="zh-TW" altLang="en-US" dirty="0"/>
              <a:t>協定之 </a:t>
            </a:r>
            <a:r>
              <a:rPr lang="en-US" altLang="zh-TW" dirty="0"/>
              <a:t>MCP </a:t>
            </a:r>
            <a:r>
              <a:rPr lang="zh-TW" altLang="en-US" dirty="0"/>
              <a:t>應用基本上是部屬在遠端 </a:t>
            </a:r>
            <a:r>
              <a:rPr lang="en-US" altLang="zh-TW" dirty="0"/>
              <a:t>VM </a:t>
            </a:r>
            <a:r>
              <a:rPr lang="zh-TW" altLang="en-US" dirty="0"/>
              <a:t>或實體機上</a:t>
            </a:r>
            <a:r>
              <a:rPr lang="en-US" altLang="zh-TW" dirty="0"/>
              <a:t>(</a:t>
            </a:r>
            <a:r>
              <a:rPr lang="zh-TW" altLang="en-US" dirty="0"/>
              <a:t>包含 </a:t>
            </a:r>
            <a:r>
              <a:rPr lang="en-US" altLang="zh-TW" dirty="0"/>
              <a:t>container)</a:t>
            </a:r>
          </a:p>
          <a:p>
            <a:r>
              <a:rPr lang="zh-TW" altLang="en-US" dirty="0"/>
              <a:t>一般只能由 </a:t>
            </a:r>
            <a:r>
              <a:rPr lang="en-US" altLang="zh-TW" dirty="0"/>
              <a:t>log or </a:t>
            </a:r>
            <a:r>
              <a:rPr lang="zh-TW" altLang="en-US" dirty="0"/>
              <a:t>觀測性元件來查看問題</a:t>
            </a:r>
            <a:endParaRPr lang="en-US" altLang="zh-TW" dirty="0"/>
          </a:p>
          <a:p>
            <a:r>
              <a:rPr lang="zh-TW" altLang="en-US" dirty="0"/>
              <a:t>此次提供可程式遠端 </a:t>
            </a:r>
            <a:r>
              <a:rPr lang="en-US" altLang="zh-TW" dirty="0"/>
              <a:t>debug </a:t>
            </a:r>
            <a:r>
              <a:rPr lang="zh-TW" altLang="en-US" dirty="0"/>
              <a:t>之方式</a:t>
            </a:r>
            <a:endParaRPr lang="en-US" altLang="zh-TW" dirty="0"/>
          </a:p>
          <a:p>
            <a:r>
              <a:rPr lang="zh-TW" altLang="en-US" dirty="0"/>
              <a:t>前置作業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debug </a:t>
            </a:r>
            <a:r>
              <a:rPr lang="zh-TW" altLang="en-US" dirty="0"/>
              <a:t>目標原始碼或 </a:t>
            </a:r>
            <a:r>
              <a:rPr lang="en-US" altLang="zh-TW" dirty="0"/>
              <a:t>jar </a:t>
            </a:r>
            <a:r>
              <a:rPr lang="zh-TW" altLang="en-US" dirty="0"/>
              <a:t>需存在</a:t>
            </a:r>
            <a:endParaRPr lang="en-US" altLang="zh-TW" dirty="0"/>
          </a:p>
          <a:p>
            <a:pPr lvl="1"/>
            <a:r>
              <a:rPr lang="zh-TW" altLang="en-US" dirty="0"/>
              <a:t>程式下 </a:t>
            </a:r>
            <a:r>
              <a:rPr lang="en-US" altLang="zh-TW" dirty="0"/>
              <a:t>debug </a:t>
            </a:r>
            <a:r>
              <a:rPr lang="zh-TW" altLang="en-US" dirty="0"/>
              <a:t>斷點</a:t>
            </a:r>
            <a:endParaRPr lang="en-US" altLang="zh-TW" dirty="0"/>
          </a:p>
          <a:p>
            <a:pPr lvl="1"/>
            <a:r>
              <a:rPr lang="zh-TW" altLang="en-US" dirty="0"/>
              <a:t>程式部屬開啟 </a:t>
            </a:r>
            <a:r>
              <a:rPr lang="en-US" altLang="zh-TW" dirty="0"/>
              <a:t>debug port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FA66C8D-B6D9-4656-92A4-866D2F73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MCP remote debug </a:t>
            </a:r>
            <a:r>
              <a:rPr lang="zh-TW" altLang="en-US" dirty="0"/>
              <a:t>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F15175-66B9-4900-9F1B-8C7E12AC5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284E5D-504E-4702-A700-136C7604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172623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6E31635-8875-4170-8F9F-CD8450817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6"/>
            <a:ext cx="3811039" cy="408621"/>
          </a:xfrm>
        </p:spPr>
        <p:txBody>
          <a:bodyPr>
            <a:normAutofit/>
          </a:bodyPr>
          <a:lstStyle/>
          <a:p>
            <a:r>
              <a:rPr lang="zh-TW" altLang="en-US" sz="1400" dirty="0"/>
              <a:t>以 </a:t>
            </a:r>
            <a:r>
              <a:rPr lang="en-US" altLang="zh-TW" sz="1400" dirty="0"/>
              <a:t>labs-02 </a:t>
            </a:r>
            <a:r>
              <a:rPr lang="zh-TW" altLang="en-US" sz="1400" dirty="0"/>
              <a:t>之 </a:t>
            </a:r>
            <a:r>
              <a:rPr lang="en-US" altLang="zh-TW" sz="1400" dirty="0"/>
              <a:t>account MCP server </a:t>
            </a:r>
            <a:r>
              <a:rPr lang="zh-TW" altLang="en-US" sz="1400" dirty="0"/>
              <a:t>為例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E45250-807F-4A72-AA96-6613B7AB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MCP server </a:t>
            </a:r>
            <a:r>
              <a:rPr lang="zh-TW" altLang="en-US" dirty="0"/>
              <a:t>開啟 </a:t>
            </a:r>
            <a:r>
              <a:rPr lang="en-US" altLang="zh-TW" dirty="0"/>
              <a:t>debug port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FFF8A6-08A9-492A-9EA4-B968B88A5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A3C16F-49DB-4509-81AE-E35A9AF7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1A9B7EA-720B-4B6B-8275-A47E83DE7CF9}"/>
              </a:ext>
            </a:extLst>
          </p:cNvPr>
          <p:cNvGrpSpPr/>
          <p:nvPr/>
        </p:nvGrpSpPr>
        <p:grpSpPr>
          <a:xfrm>
            <a:off x="1595351" y="2163323"/>
            <a:ext cx="2143424" cy="1381318"/>
            <a:chOff x="886691" y="2356536"/>
            <a:chExt cx="2143424" cy="1381318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B88EBD2B-C429-46E5-9F4A-AC48A497A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6691" y="2356536"/>
              <a:ext cx="2143424" cy="1381318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7C9554-EE0C-4C2B-BEBB-F0353C57C46F}"/>
                </a:ext>
              </a:extLst>
            </p:cNvPr>
            <p:cNvSpPr/>
            <p:nvPr/>
          </p:nvSpPr>
          <p:spPr>
            <a:xfrm>
              <a:off x="1249932" y="3290169"/>
              <a:ext cx="1630428" cy="4476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85B860F2-B953-4032-9CDB-F4A77B5FBF81}"/>
              </a:ext>
            </a:extLst>
          </p:cNvPr>
          <p:cNvGrpSpPr/>
          <p:nvPr/>
        </p:nvGrpSpPr>
        <p:grpSpPr>
          <a:xfrm>
            <a:off x="1279191" y="3968884"/>
            <a:ext cx="2618138" cy="1433983"/>
            <a:chOff x="1279191" y="3968884"/>
            <a:chExt cx="2618138" cy="143398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1103745-B586-487B-AF8C-08ABA019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9191" y="4505695"/>
              <a:ext cx="2618138" cy="897172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F48481AE-1AEA-4795-B3B2-CDCFEFEE82E4}"/>
                </a:ext>
              </a:extLst>
            </p:cNvPr>
            <p:cNvSpPr txBox="1"/>
            <p:nvPr/>
          </p:nvSpPr>
          <p:spPr>
            <a:xfrm>
              <a:off x="1279191" y="3968884"/>
              <a:ext cx="2143424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TW" altLang="en-US" dirty="0"/>
                <a:t>用 </a:t>
              </a:r>
              <a:r>
                <a:rPr lang="en-US" altLang="zh-TW" dirty="0"/>
                <a:t>jar </a:t>
              </a:r>
              <a:r>
                <a:rPr lang="zh-TW" altLang="en-US" dirty="0"/>
                <a:t>方式啟動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5322754-19F3-4F32-9A02-8C513DD69EF2}"/>
                </a:ext>
              </a:extLst>
            </p:cNvPr>
            <p:cNvSpPr/>
            <p:nvPr/>
          </p:nvSpPr>
          <p:spPr>
            <a:xfrm>
              <a:off x="1900154" y="5175567"/>
              <a:ext cx="109621" cy="663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2696AF1-B9F4-4AD5-A9F1-98C473A8965A}"/>
              </a:ext>
            </a:extLst>
          </p:cNvPr>
          <p:cNvGrpSpPr/>
          <p:nvPr/>
        </p:nvGrpSpPr>
        <p:grpSpPr>
          <a:xfrm>
            <a:off x="5434099" y="1475404"/>
            <a:ext cx="2876550" cy="3907192"/>
            <a:chOff x="5414159" y="1415306"/>
            <a:chExt cx="2876550" cy="3907192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7B141377-4C88-49A2-A603-BEB5655EA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6526" y="2104616"/>
              <a:ext cx="2874183" cy="3217882"/>
            </a:xfrm>
            <a:prstGeom prst="rect">
              <a:avLst/>
            </a:prstGeom>
          </p:spPr>
        </p:pic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D41B9B70-8B85-4495-8A13-61E7243B4988}"/>
                </a:ext>
              </a:extLst>
            </p:cNvPr>
            <p:cNvGrpSpPr/>
            <p:nvPr/>
          </p:nvGrpSpPr>
          <p:grpSpPr>
            <a:xfrm>
              <a:off x="5414159" y="1415306"/>
              <a:ext cx="2876550" cy="2308969"/>
              <a:chOff x="5414159" y="1415306"/>
              <a:chExt cx="2876550" cy="2308969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65C1122-C82C-4E08-9DCF-C211D6DD8C45}"/>
                  </a:ext>
                </a:extLst>
              </p:cNvPr>
              <p:cNvSpPr txBox="1"/>
              <p:nvPr/>
            </p:nvSpPr>
            <p:spPr>
              <a:xfrm>
                <a:off x="5414159" y="1415306"/>
                <a:ext cx="2876550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TW" altLang="en-US" dirty="0"/>
                  <a:t>用 </a:t>
                </a:r>
                <a:r>
                  <a:rPr lang="en-US" altLang="zh-TW" dirty="0"/>
                  <a:t>container </a:t>
                </a:r>
                <a:r>
                  <a:rPr lang="zh-TW" altLang="en-US" dirty="0"/>
                  <a:t>方式啟動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5FFA0A0-FA06-4E36-AC9B-6F5DB98914B2}"/>
                  </a:ext>
                </a:extLst>
              </p:cNvPr>
              <p:cNvSpPr/>
              <p:nvPr/>
            </p:nvSpPr>
            <p:spPr>
              <a:xfrm>
                <a:off x="6093619" y="3651900"/>
                <a:ext cx="128587" cy="723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612443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CE45250-807F-4A72-AA96-6613B7AB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intellij</a:t>
            </a:r>
            <a:r>
              <a:rPr lang="en-US" altLang="zh-TW" dirty="0"/>
              <a:t> </a:t>
            </a:r>
            <a:r>
              <a:rPr lang="zh-TW" altLang="en-US" dirty="0"/>
              <a:t>設定 </a:t>
            </a:r>
            <a:r>
              <a:rPr lang="en-US" altLang="zh-TW" dirty="0"/>
              <a:t>remote debug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FFF8A6-08A9-492A-9EA4-B968B88A5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A3C16F-49DB-4509-81AE-E35A9AF7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CEF07E7D-2E32-471A-A8B3-BAAEF1D59ADE}"/>
              </a:ext>
            </a:extLst>
          </p:cNvPr>
          <p:cNvGrpSpPr/>
          <p:nvPr/>
        </p:nvGrpSpPr>
        <p:grpSpPr>
          <a:xfrm>
            <a:off x="812801" y="1934961"/>
            <a:ext cx="3478929" cy="2384855"/>
            <a:chOff x="507725" y="1595055"/>
            <a:chExt cx="3478929" cy="2384855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D08013AF-1358-4664-A4F1-18EAE9D18D1F}"/>
                </a:ext>
              </a:extLst>
            </p:cNvPr>
            <p:cNvGrpSpPr/>
            <p:nvPr/>
          </p:nvGrpSpPr>
          <p:grpSpPr>
            <a:xfrm>
              <a:off x="507725" y="1595055"/>
              <a:ext cx="3478929" cy="2384855"/>
              <a:chOff x="850625" y="1617915"/>
              <a:chExt cx="3478929" cy="2384855"/>
            </a:xfrm>
          </p:grpSpPr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3215E99B-B29B-4704-A5ED-2F1AD43083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6691" y="1617915"/>
                <a:ext cx="3442863" cy="2384855"/>
              </a:xfrm>
              <a:prstGeom prst="rect">
                <a:avLst/>
              </a:prstGeom>
            </p:spPr>
          </p:pic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3BC80C7-5021-47F4-9233-1A78EF0CB971}"/>
                  </a:ext>
                </a:extLst>
              </p:cNvPr>
              <p:cNvSpPr/>
              <p:nvPr/>
            </p:nvSpPr>
            <p:spPr>
              <a:xfrm>
                <a:off x="886691" y="2252441"/>
                <a:ext cx="923059" cy="13833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06115A3-31FB-487A-AD3C-09CEFA71BA1B}"/>
                  </a:ext>
                </a:extLst>
              </p:cNvPr>
              <p:cNvSpPr/>
              <p:nvPr/>
            </p:nvSpPr>
            <p:spPr>
              <a:xfrm>
                <a:off x="850625" y="1776192"/>
                <a:ext cx="136524" cy="13833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9D0EE6F-86CE-4A9B-8A30-42E9B92C5123}"/>
                </a:ext>
              </a:extLst>
            </p:cNvPr>
            <p:cNvSpPr/>
            <p:nvPr/>
          </p:nvSpPr>
          <p:spPr>
            <a:xfrm>
              <a:off x="568758" y="2049944"/>
              <a:ext cx="364415" cy="1383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644DEDB5-F30E-4CCE-A59D-C72813CB32B3}"/>
              </a:ext>
            </a:extLst>
          </p:cNvPr>
          <p:cNvGrpSpPr/>
          <p:nvPr/>
        </p:nvGrpSpPr>
        <p:grpSpPr>
          <a:xfrm>
            <a:off x="4689452" y="2040225"/>
            <a:ext cx="4229294" cy="2313337"/>
            <a:chOff x="4689452" y="2040225"/>
            <a:chExt cx="4229294" cy="231333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ECD9E6C-D6EF-4D5F-89D9-E26AC3A7D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9452" y="2040225"/>
              <a:ext cx="3358342" cy="2313337"/>
            </a:xfrm>
            <a:prstGeom prst="rect">
              <a:avLst/>
            </a:prstGeom>
          </p:spPr>
        </p:pic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00604721-37F6-4E78-98C3-35EA87065F01}"/>
                </a:ext>
              </a:extLst>
            </p:cNvPr>
            <p:cNvGrpSpPr/>
            <p:nvPr/>
          </p:nvGrpSpPr>
          <p:grpSpPr>
            <a:xfrm>
              <a:off x="6305550" y="2956458"/>
              <a:ext cx="1723406" cy="1363358"/>
              <a:chOff x="6286500" y="2508251"/>
              <a:chExt cx="1723406" cy="1363358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3B02E11-B0AA-4EA4-B266-0BE486AEC6FD}"/>
                  </a:ext>
                </a:extLst>
              </p:cNvPr>
              <p:cNvSpPr/>
              <p:nvPr/>
            </p:nvSpPr>
            <p:spPr>
              <a:xfrm>
                <a:off x="7000875" y="2508251"/>
                <a:ext cx="415926" cy="1587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DBFF7A5-FC93-44FA-AE72-7B5BC60FD3A9}"/>
                  </a:ext>
                </a:extLst>
              </p:cNvPr>
              <p:cNvSpPr/>
              <p:nvPr/>
            </p:nvSpPr>
            <p:spPr>
              <a:xfrm>
                <a:off x="6286500" y="3086099"/>
                <a:ext cx="1590675" cy="20765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E709238-7049-44E7-86F8-D4FD603214B2}"/>
                  </a:ext>
                </a:extLst>
              </p:cNvPr>
              <p:cNvSpPr/>
              <p:nvPr/>
            </p:nvSpPr>
            <p:spPr>
              <a:xfrm>
                <a:off x="7606917" y="3663950"/>
                <a:ext cx="402989" cy="20765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7B12441-8E6A-413E-92A3-C0256736D906}"/>
                  </a:ext>
                </a:extLst>
              </p:cNvPr>
              <p:cNvSpPr/>
              <p:nvPr/>
            </p:nvSpPr>
            <p:spPr>
              <a:xfrm>
                <a:off x="6911592" y="3663949"/>
                <a:ext cx="402989" cy="20766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F7E4C247-A0B7-4B9D-BE69-E6776C903D5A}"/>
                </a:ext>
              </a:extLst>
            </p:cNvPr>
            <p:cNvSpPr txBox="1"/>
            <p:nvPr/>
          </p:nvSpPr>
          <p:spPr>
            <a:xfrm>
              <a:off x="7625967" y="2725625"/>
              <a:ext cx="10036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rgbClr val="FF0000"/>
                  </a:solidFill>
                </a:rPr>
                <a:t>輸入</a:t>
              </a:r>
              <a:endParaRPr lang="en-US" altLang="zh-TW" sz="800" dirty="0">
                <a:solidFill>
                  <a:srgbClr val="FF0000"/>
                </a:solidFill>
              </a:endParaRPr>
            </a:p>
            <a:p>
              <a:r>
                <a:rPr lang="zh-TW" altLang="en-US" sz="800" dirty="0">
                  <a:solidFill>
                    <a:srgbClr val="FF0000"/>
                  </a:solidFill>
                </a:rPr>
                <a:t>部屬程式開啟之 </a:t>
              </a:r>
              <a:r>
                <a:rPr lang="en-US" altLang="zh-TW" sz="800" dirty="0">
                  <a:solidFill>
                    <a:srgbClr val="FF0000"/>
                  </a:solidFill>
                </a:rPr>
                <a:t>debug port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1FB4A114-9F5B-4323-A233-C8DD794E84FF}"/>
                </a:ext>
              </a:extLst>
            </p:cNvPr>
            <p:cNvSpPr txBox="1"/>
            <p:nvPr/>
          </p:nvSpPr>
          <p:spPr>
            <a:xfrm>
              <a:off x="7915063" y="3440942"/>
              <a:ext cx="10036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rgbClr val="FF0000"/>
                  </a:solidFill>
                </a:rPr>
                <a:t>選擇部屬程式所在之模組</a:t>
              </a:r>
              <a:endParaRPr lang="en-US" altLang="zh-TW" sz="800" dirty="0">
                <a:solidFill>
                  <a:srgbClr val="FF0000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15412E4-0394-4EA1-A522-A81C02C82180}"/>
                </a:ext>
              </a:extLst>
            </p:cNvPr>
            <p:cNvSpPr/>
            <p:nvPr/>
          </p:nvSpPr>
          <p:spPr>
            <a:xfrm>
              <a:off x="5952697" y="2973933"/>
              <a:ext cx="352853" cy="1412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E48C974D-FD58-423D-B3A4-4B9EBE2656CE}"/>
                </a:ext>
              </a:extLst>
            </p:cNvPr>
            <p:cNvSpPr txBox="1"/>
            <p:nvPr/>
          </p:nvSpPr>
          <p:spPr>
            <a:xfrm>
              <a:off x="4851005" y="2813737"/>
              <a:ext cx="10036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>
                  <a:solidFill>
                    <a:srgbClr val="FF0000"/>
                  </a:solidFill>
                </a:rPr>
                <a:t>輸入</a:t>
              </a:r>
              <a:endParaRPr lang="en-US" altLang="zh-TW" sz="800" dirty="0">
                <a:solidFill>
                  <a:srgbClr val="FF0000"/>
                </a:solidFill>
              </a:endParaRPr>
            </a:p>
            <a:p>
              <a:r>
                <a:rPr lang="zh-TW" altLang="en-US" sz="800" dirty="0">
                  <a:solidFill>
                    <a:srgbClr val="FF0000"/>
                  </a:solidFill>
                </a:rPr>
                <a:t>部屬程式之 </a:t>
              </a:r>
              <a:r>
                <a:rPr lang="en-US" altLang="zh-TW" sz="800" dirty="0">
                  <a:solidFill>
                    <a:srgbClr val="FF0000"/>
                  </a:solidFill>
                </a:rPr>
                <a:t>host or </a:t>
              </a:r>
              <a:r>
                <a:rPr lang="en-US" altLang="zh-TW" sz="800" dirty="0" err="1">
                  <a:solidFill>
                    <a:srgbClr val="FF0000"/>
                  </a:solidFill>
                </a:rPr>
                <a:t>ip</a:t>
              </a:r>
              <a:endParaRPr lang="zh-TW" altLang="en-US" sz="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07859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FCB6B4D-AA67-448F-A403-67C334D84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9964" y="1493128"/>
            <a:ext cx="5230253" cy="4489450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5563C7-31F9-416A-A74C-1AAAEA56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MCP server </a:t>
            </a:r>
            <a:r>
              <a:rPr lang="zh-TW" altLang="en-US" dirty="0"/>
              <a:t>開啟 </a:t>
            </a:r>
            <a:r>
              <a:rPr lang="en-US" altLang="zh-TW" dirty="0"/>
              <a:t>debug</a:t>
            </a:r>
            <a:r>
              <a:rPr lang="zh-TW" altLang="en-US" dirty="0"/>
              <a:t> 斷點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8E598-C0AA-4E22-823E-FC9E0F410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215608-3600-4209-876D-B19C79E9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306700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56D29A9-7EF1-4C1B-A1C1-A5593F21F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15307"/>
            <a:ext cx="7965380" cy="2420094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git bash </a:t>
            </a:r>
            <a:r>
              <a:rPr lang="zh-TW" altLang="en-US" dirty="0"/>
              <a:t>執行 </a:t>
            </a:r>
            <a:r>
              <a:rPr lang="en-US" altLang="zh-TW" dirty="0"/>
              <a:t>./labs/02-spring-ai-tool-mcp/spring-ai-mcp-server-account/start_container_debug.sh</a:t>
            </a:r>
          </a:p>
          <a:p>
            <a:r>
              <a:rPr lang="zh-TW" altLang="en-US" dirty="0"/>
              <a:t>或執行 </a:t>
            </a:r>
            <a:r>
              <a:rPr lang="en-US" altLang="zh-TW" dirty="0"/>
              <a:t>./labs/02-spring-ai-tool-mcp/spring-ai-mcp-server-account/start_jar_debug.sh</a:t>
            </a:r>
          </a:p>
          <a:p>
            <a:r>
              <a:rPr lang="zh-TW" altLang="en-US" dirty="0"/>
              <a:t>執行 </a:t>
            </a:r>
            <a:r>
              <a:rPr lang="en-US" altLang="zh-TW" dirty="0"/>
              <a:t>remote debug</a:t>
            </a:r>
          </a:p>
          <a:p>
            <a:r>
              <a:rPr lang="zh-TW" altLang="en-US" dirty="0"/>
              <a:t>調用 </a:t>
            </a:r>
            <a:r>
              <a:rPr lang="en-US" altLang="zh-TW" dirty="0"/>
              <a:t>MCP host </a:t>
            </a:r>
            <a:r>
              <a:rPr lang="zh-TW" altLang="en-US" dirty="0"/>
              <a:t>應用進行測試 </a:t>
            </a:r>
            <a:r>
              <a:rPr lang="en-US" altLang="zh-TW" dirty="0"/>
              <a:t>, </a:t>
            </a:r>
            <a:r>
              <a:rPr lang="zh-TW" altLang="en-US" dirty="0"/>
              <a:t>看是否會走入斷點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AB48F9-E573-4340-A491-652CACA3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啟動目標程式並做 </a:t>
            </a:r>
            <a:r>
              <a:rPr lang="en-US" altLang="zh-TW" dirty="0"/>
              <a:t>remote debug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679494-5D2E-4942-8BC2-70262257A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0BF0995-13CC-46C9-9B56-390823875C0A}" type="slidenum">
              <a:rPr lang="zh-TW" altLang="en-US" smtClean="0"/>
              <a:pPr/>
              <a:t>131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6DA8A-7FAF-4B9C-9B41-920A6515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3FFA0C90-8AB5-401E-B6B1-5F39AC8B1133}"/>
              </a:ext>
            </a:extLst>
          </p:cNvPr>
          <p:cNvGrpSpPr/>
          <p:nvPr/>
        </p:nvGrpSpPr>
        <p:grpSpPr>
          <a:xfrm>
            <a:off x="1133475" y="4064593"/>
            <a:ext cx="5830259" cy="1046608"/>
            <a:chOff x="1249825" y="4020692"/>
            <a:chExt cx="5980609" cy="1046608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990E1496-74D9-4343-9DB6-E7A3DE77A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9825" y="4020692"/>
              <a:ext cx="5980609" cy="104660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F8A1AF1-7B4A-4B1F-BC00-DC10E2E86778}"/>
                </a:ext>
              </a:extLst>
            </p:cNvPr>
            <p:cNvSpPr/>
            <p:nvPr/>
          </p:nvSpPr>
          <p:spPr>
            <a:xfrm>
              <a:off x="6311517" y="4287592"/>
              <a:ext cx="609983" cy="6400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844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5D6C934-2CD1-4247-99BA-36C3D489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智慧財產權屬資拓宏宇國際</a:t>
            </a:r>
            <a:r>
              <a:rPr lang="en-US" altLang="zh-TW" dirty="0"/>
              <a:t>(</a:t>
            </a:r>
            <a:r>
              <a:rPr lang="zh-TW" altLang="en-US" dirty="0"/>
              <a:t>股</a:t>
            </a:r>
            <a:r>
              <a:rPr lang="en-US" altLang="zh-TW" dirty="0"/>
              <a:t>)</a:t>
            </a:r>
            <a:r>
              <a:rPr lang="zh-TW" altLang="en-US" dirty="0"/>
              <a:t>公司，複製或轉載必究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4CACF6A-D317-4194-8BD2-38E7012254B8}"/>
              </a:ext>
            </a:extLst>
          </p:cNvPr>
          <p:cNvSpPr txBox="1"/>
          <p:nvPr/>
        </p:nvSpPr>
        <p:spPr>
          <a:xfrm>
            <a:off x="3373487" y="5092862"/>
            <a:ext cx="303888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>
                <a:ea typeface="微軟正黑體" panose="020B0604030504040204" pitchFamily="34" charset="-120"/>
              </a:rPr>
              <a:t>陳民錞 </a:t>
            </a:r>
            <a:r>
              <a:rPr lang="en-US" altLang="zh-TW" sz="1500" dirty="0">
                <a:ea typeface="微軟正黑體" panose="020B0604030504040204" pitchFamily="34" charset="-120"/>
                <a:hlinkClick r:id="rId3"/>
              </a:rPr>
              <a:t>mc.chen@iisigroup.com</a:t>
            </a:r>
            <a:endParaRPr lang="en-US" altLang="zh-TW" sz="1500" dirty="0">
              <a:ea typeface="微軟正黑體" panose="020B0604030504040204" pitchFamily="34" charset="-120"/>
            </a:endParaRPr>
          </a:p>
          <a:p>
            <a:r>
              <a:rPr lang="zh-TW" altLang="en-US" sz="1500" dirty="0">
                <a:ea typeface="微軟正黑體" panose="020B0604030504040204" pitchFamily="34" charset="-120"/>
              </a:rPr>
              <a:t>鄭宇傑 </a:t>
            </a:r>
            <a:r>
              <a:rPr lang="en-US" altLang="zh-TW" sz="1500" dirty="0">
                <a:ea typeface="微軟正黑體" panose="020B0604030504040204" pitchFamily="34" charset="-120"/>
                <a:hlinkClick r:id="rId4"/>
              </a:rPr>
              <a:t>yujie.Jheng@iisigroup.com</a:t>
            </a:r>
            <a:endParaRPr lang="en-US" altLang="zh-TW" sz="1500" dirty="0">
              <a:ea typeface="微軟正黑體" panose="020B0604030504040204" pitchFamily="34" charset="-120"/>
            </a:endParaRPr>
          </a:p>
          <a:p>
            <a:endParaRPr lang="zh-TW" altLang="en-US" sz="1500" dirty="0"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5848CF8-168C-46F5-8E69-E79A6D523B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13" t="2680" r="1"/>
          <a:stretch/>
        </p:blipFill>
        <p:spPr>
          <a:xfrm>
            <a:off x="3888953" y="1453407"/>
            <a:ext cx="1650108" cy="165427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DC8744-8974-4FD9-BEB7-A2BE197C1667}"/>
              </a:ext>
            </a:extLst>
          </p:cNvPr>
          <p:cNvSpPr txBox="1"/>
          <p:nvPr/>
        </p:nvSpPr>
        <p:spPr>
          <a:xfrm>
            <a:off x="4142966" y="1084075"/>
            <a:ext cx="1142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問卷填寫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9C1E0B3-C6B6-4953-B079-E7B896D11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30" y="-436039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回饋問卷</a:t>
            </a:r>
          </a:p>
        </p:txBody>
      </p:sp>
    </p:spTree>
    <p:extLst>
      <p:ext uri="{BB962C8B-B14F-4D97-AF65-F5344CB8AC3E}">
        <p14:creationId xmlns:p14="http://schemas.microsoft.com/office/powerpoint/2010/main" val="2747107110"/>
      </p:ext>
    </p:extLst>
  </p:cSld>
  <p:clrMapOvr>
    <a:masterClrMapping/>
  </p:clrMapOvr>
</p:sld>
</file>

<file path=ppt/theme/theme1.xml><?xml version="1.0" encoding="utf-8"?>
<a:theme xmlns:a="http://schemas.openxmlformats.org/drawingml/2006/main" name="1_A4簡報範本">
  <a:themeElements>
    <a:clrScheme name="IIS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78A14"/>
      </a:accent2>
      <a:accent3>
        <a:srgbClr val="2E9E39"/>
      </a:accent3>
      <a:accent4>
        <a:srgbClr val="C00000"/>
      </a:accent4>
      <a:accent5>
        <a:srgbClr val="E7E6E6"/>
      </a:accent5>
      <a:accent6>
        <a:srgbClr val="FFFFFF"/>
      </a:accent6>
      <a:hlink>
        <a:srgbClr val="48A1FA"/>
      </a:hlink>
      <a:folHlink>
        <a:srgbClr val="C490AA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4簡報範本" id="{22394957-35A1-473B-B867-19B29BD822B2}" vid="{C9A1285E-6B57-41D3-AA11-27D14DF084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d3e3a6bb7907f252e3cf21604d2a834a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b911abdb0c1c9b5af0eb311eff50ebf6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65D07A-2793-4BD5-AA48-99BE51F8A3D4}">
  <ds:schemaRefs>
    <ds:schemaRef ds:uri="http://schemas.openxmlformats.org/package/2006/metadata/core-properties"/>
    <ds:schemaRef ds:uri="81fbc0a5-bf19-4add-b132-07e20741ab60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87643090-462e-4483-8fee-104e11aaa7c6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8FCD752-AA4C-4E57-BBA3-549F8C6CBD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FD005B-D0D2-42D7-A8FB-1FE8D3BBBC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16807</TotalTime>
  <Words>10964</Words>
  <Application>Microsoft Office PowerPoint</Application>
  <PresentationFormat>A4 紙張 (210x297 公釐)</PresentationFormat>
  <Paragraphs>2386</Paragraphs>
  <Slides>132</Slides>
  <Notes>123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132</vt:i4>
      </vt:variant>
    </vt:vector>
  </HeadingPairs>
  <TitlesOfParts>
    <vt:vector size="142" baseType="lpstr">
      <vt:lpstr>Inter</vt:lpstr>
      <vt:lpstr>微軟正黑體</vt:lpstr>
      <vt:lpstr>Arial</vt:lpstr>
      <vt:lpstr>Arial Black</vt:lpstr>
      <vt:lpstr>Calibri</vt:lpstr>
      <vt:lpstr>Consolas</vt:lpstr>
      <vt:lpstr>PT Sans</vt:lpstr>
      <vt:lpstr>Times New Roman</vt:lpstr>
      <vt:lpstr>Wingdings</vt:lpstr>
      <vt:lpstr>1_A4簡報範本</vt:lpstr>
      <vt:lpstr>動手做MCP：           用Spring AI打造MCP服務</vt:lpstr>
      <vt:lpstr>課前準備</vt:lpstr>
      <vt:lpstr>Chocolatey (2.6.0)</vt:lpstr>
      <vt:lpstr>WSL2 (2.6.1)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Redis Insight 連線設定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申請 OpenAI API Key</vt:lpstr>
      <vt:lpstr>申請 OpenAI API Key 續</vt:lpstr>
      <vt:lpstr>申請 OpenAI API Key 續</vt:lpstr>
      <vt:lpstr>申請 OpenAI API Key 續</vt:lpstr>
      <vt:lpstr>申請 OpenAI API Key 續</vt:lpstr>
      <vt:lpstr>申請 OpenAI API Key 續</vt:lpstr>
      <vt:lpstr>PowerPoint 簡報</vt:lpstr>
      <vt:lpstr>PowerPoint 簡報</vt:lpstr>
      <vt:lpstr>PowerPoint 簡報</vt:lpstr>
      <vt:lpstr>AGENDA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MCP 官方網站</vt:lpstr>
      <vt:lpstr>MCP Github</vt:lpstr>
      <vt:lpstr>MCP 示意圖</vt:lpstr>
      <vt:lpstr>MCP Host</vt:lpstr>
      <vt:lpstr>MCP Client</vt:lpstr>
      <vt:lpstr>MCP Server</vt:lpstr>
      <vt:lpstr>MCP 架構圖</vt:lpstr>
      <vt:lpstr>MCP 架構圖 續</vt:lpstr>
      <vt:lpstr>MCP 生命週期</vt:lpstr>
      <vt:lpstr>MCP 實際運作過程</vt:lpstr>
      <vt:lpstr>MCP Java SDK</vt:lpstr>
      <vt:lpstr>MCP Spring Boot Starter</vt:lpstr>
      <vt:lpstr>MCP Server Debug 工具</vt:lpstr>
      <vt:lpstr>MCP Demo with Cline</vt:lpstr>
      <vt:lpstr>MCP Demo with Cline 續</vt:lpstr>
      <vt:lpstr>PowerPoint 簡報</vt:lpstr>
      <vt:lpstr>PowerPoint 簡報</vt:lpstr>
      <vt:lpstr>PowerPoint 簡報</vt:lpstr>
      <vt:lpstr>PowerPoint 簡報</vt:lpstr>
      <vt:lpstr>PowerPoint 簡報</vt:lpstr>
      <vt:lpstr>Fiddler classic 開啟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H2 DB 初始資料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H2 DB 初始資料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MCP remote debug 介紹</vt:lpstr>
      <vt:lpstr>MCP server 開啟 debug port</vt:lpstr>
      <vt:lpstr>intellij 設定 remote debug</vt:lpstr>
      <vt:lpstr>MCP server 開啟 debug 斷點</vt:lpstr>
      <vt:lpstr>啟動目標程式並做 remote debug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陳仁哲(Gary Chen)</dc:creator>
  <cp:lastModifiedBy>Mc Chen</cp:lastModifiedBy>
  <cp:revision>2348</cp:revision>
  <dcterms:created xsi:type="dcterms:W3CDTF">2018-01-02T03:18:11Z</dcterms:created>
  <dcterms:modified xsi:type="dcterms:W3CDTF">2026-05-07T07:09:38Z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0x010100DAA4B3EF1C1EC54090190B80065697EC</vt:lpwstr>
  </property>
  <property fmtid="{D5CDD505-2E9C-101B-9397-08002B2CF9AE}" pid="3" name="LikesCount">
    <vt:i4>2</vt:i4>
  </property>
  <property fmtid="{D5CDD505-2E9C-101B-9397-08002B2CF9AE}" pid="4" name="RatedBy">
    <vt:lpwstr/>
  </property>
  <property fmtid="{D5CDD505-2E9C-101B-9397-08002B2CF9AE}" pid="5" name="LikedBy">
    <vt:lpwstr>28;#劉景華(Gwen Liu);#8;#i:0#.f|membership|1106018@iisigroup.com</vt:lpwstr>
  </property>
  <property fmtid="{D5CDD505-2E9C-101B-9397-08002B2CF9AE}" pid="6" name="MSIP_Label_755196ac-7daa-415d-ac3a-bda7dffaa0f9_Enabled">
    <vt:lpwstr>true</vt:lpwstr>
  </property>
  <property fmtid="{D5CDD505-2E9C-101B-9397-08002B2CF9AE}" pid="7" name="MSIP_Label_755196ac-7daa-415d-ac3a-bda7dffaa0f9_SetDate">
    <vt:lpwstr>2023-11-26T02:55:36Z</vt:lpwstr>
  </property>
  <property fmtid="{D5CDD505-2E9C-101B-9397-08002B2CF9AE}" pid="8" name="MSIP_Label_755196ac-7daa-415d-ac3a-bda7dffaa0f9_Method">
    <vt:lpwstr>Standard</vt:lpwstr>
  </property>
  <property fmtid="{D5CDD505-2E9C-101B-9397-08002B2CF9AE}" pid="9" name="MSIP_Label_755196ac-7daa-415d-ac3a-bda7dffaa0f9_Name">
    <vt:lpwstr>普通</vt:lpwstr>
  </property>
  <property fmtid="{D5CDD505-2E9C-101B-9397-08002B2CF9AE}" pid="10" name="MSIP_Label_755196ac-7daa-415d-ac3a-bda7dffaa0f9_SiteId">
    <vt:lpwstr>54aa2fea-ecb3-4c71-80b3-de9a356e77c1</vt:lpwstr>
  </property>
  <property fmtid="{D5CDD505-2E9C-101B-9397-08002B2CF9AE}" pid="11" name="MSIP_Label_755196ac-7daa-415d-ac3a-bda7dffaa0f9_ActionId">
    <vt:lpwstr>713ed7e0-ba29-4580-8d87-df4fad22409a</vt:lpwstr>
  </property>
  <property fmtid="{D5CDD505-2E9C-101B-9397-08002B2CF9AE}" pid="12" name="MSIP_Label_755196ac-7daa-415d-ac3a-bda7dffaa0f9_ContentBits">
    <vt:lpwstr>0</vt:lpwstr>
  </property>
</Properties>
</file>