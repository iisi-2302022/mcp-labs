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7" r:id="rId4"/>
    <p:sldId id="257" r:id="rId5"/>
    <p:sldId id="263" r:id="rId6"/>
    <p:sldId id="269" r:id="rId7"/>
    <p:sldId id="270" r:id="rId8"/>
    <p:sldId id="274" r:id="rId9"/>
    <p:sldId id="280" r:id="rId10"/>
    <p:sldId id="273" r:id="rId11"/>
    <p:sldId id="281" r:id="rId12"/>
    <p:sldId id="296" r:id="rId13"/>
    <p:sldId id="297" r:id="rId14"/>
    <p:sldId id="278" r:id="rId15"/>
    <p:sldId id="258" r:id="rId16"/>
    <p:sldId id="260" r:id="rId17"/>
    <p:sldId id="267" r:id="rId18"/>
    <p:sldId id="266" r:id="rId19"/>
    <p:sldId id="279" r:id="rId20"/>
    <p:sldId id="282" r:id="rId21"/>
    <p:sldId id="308" r:id="rId22"/>
    <p:sldId id="259" r:id="rId23"/>
    <p:sldId id="264" r:id="rId24"/>
    <p:sldId id="283" r:id="rId25"/>
    <p:sldId id="284" r:id="rId26"/>
    <p:sldId id="292" r:id="rId27"/>
    <p:sldId id="290" r:id="rId28"/>
    <p:sldId id="285" r:id="rId29"/>
    <p:sldId id="318" r:id="rId30"/>
    <p:sldId id="317" r:id="rId31"/>
    <p:sldId id="286" r:id="rId32"/>
    <p:sldId id="319" r:id="rId33"/>
    <p:sldId id="291" r:id="rId34"/>
    <p:sldId id="309" r:id="rId35"/>
    <p:sldId id="293" r:id="rId36"/>
    <p:sldId id="298" r:id="rId37"/>
    <p:sldId id="294" r:id="rId38"/>
    <p:sldId id="295" r:id="rId39"/>
    <p:sldId id="311" r:id="rId40"/>
    <p:sldId id="316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15" r:id="rId49"/>
    <p:sldId id="320" r:id="rId50"/>
    <p:sldId id="322" r:id="rId51"/>
    <p:sldId id="323" r:id="rId52"/>
    <p:sldId id="324" r:id="rId53"/>
    <p:sldId id="307" r:id="rId5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 autoAdjust="0"/>
    <p:restoredTop sz="96727" autoAdjust="0"/>
  </p:normalViewPr>
  <p:slideViewPr>
    <p:cSldViewPr snapToGrid="0">
      <p:cViewPr varScale="1">
        <p:scale>
          <a:sx n="67" d="100"/>
          <a:sy n="67" d="100"/>
        </p:scale>
        <p:origin x="768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8C76D6-7A16-4B95-8AFC-AE13D254D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9F14AED-E5B5-4A67-8741-596768E22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0F5B7F-8249-451D-8690-47DBCDAF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21F-9491-45CA-AE6B-608ADD32F06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672D66-36B7-4620-B3CF-8D7357EBF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FA28CF-33D9-4FC0-B7CC-F907BCC7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1A8D-5A4C-42B4-A725-4B7961AD31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7233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DD8203-328A-4124-B53E-435E76FB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2F8774-30BD-427A-A29B-3F0D3D032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599BBD-3B3A-488C-A3CE-DD650DEF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21F-9491-45CA-AE6B-608ADD32F06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254D30-6701-4F47-BC41-B84C0D80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914AEA-6685-4CD7-9FC8-C37FC6B5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1A8D-5A4C-42B4-A725-4B7961AD31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50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883A00-450C-4540-89CB-80B3F153C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3EECFAE-B3EA-4C84-ABFF-8F5D604DD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8AB39C-FB3B-4DA9-A55A-A844E6EDB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21F-9491-45CA-AE6B-608ADD32F06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7209AD-208D-476F-A7CD-F49F6C01D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5BFDC0-330F-4CED-8529-01330FFF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1A8D-5A4C-42B4-A725-4B7961AD31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774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97CC8D-96E3-489D-9425-CA0D9B77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5574BE-F424-426B-9127-C6F2974BD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8E4ED64-EF39-453D-9606-154B7FAC1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F88E5A-EB7E-46FA-9180-B63AFE819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21F-9491-45CA-AE6B-608ADD32F06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71533A1-1FC8-45D1-BDFC-2988BC111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B20B7F7-70C5-4717-BBAF-B4CF8B6BD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1A8D-5A4C-42B4-A725-4B7961AD31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568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21252F-E813-4F36-8A8F-D9F3204B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85861BA-EE49-46CA-8717-2DDF8E4CE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4EF6FC-298A-4A59-8756-6A5C9F6C8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04FC29A-2588-4E0F-A24C-601A7F0ED8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A80AE07-0182-4DE1-A37C-E85CEE919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CD3DAAD-54F0-4F3E-BBCD-84C3E1640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21F-9491-45CA-AE6B-608ADD32F06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7AF5EC0-E5A3-470B-A4FF-C49939E1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9E959D4-627A-489C-BAF2-97AE97E90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1A8D-5A4C-42B4-A725-4B7961AD31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208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AA5D22-5AA0-4B80-8F61-8B9CC3A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5DD52AD-0425-4956-A8DA-461739CC1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21F-9491-45CA-AE6B-608ADD32F06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C0FCB34-DBF4-4A6C-BA5C-B256E147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873EFC9-984D-4A91-833D-0A387556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1A8D-5A4C-42B4-A725-4B7961AD31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411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B411D77-E43C-4DF9-9EA9-9B799711C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21F-9491-45CA-AE6B-608ADD32F06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72A41C2-36EC-4185-A667-68732C4D8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81AF48-81E9-4048-8F51-C90728E0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1A8D-5A4C-42B4-A725-4B7961AD31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016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1F9314-E671-4460-A9CD-D1605F5C7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2557F3-BB7C-4098-81D7-36F595FB5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25D7660-5AB2-47CB-822A-34B896324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9C4926-C3A9-4258-BA2D-3FEFA0608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21F-9491-45CA-AE6B-608ADD32F06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7C35721-DD50-479F-BC94-506BF6126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F0AB887-92C6-4A70-9929-0013F8CB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1A8D-5A4C-42B4-A725-4B7961AD31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941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AD45F5-0588-4C4C-B463-F1405DE24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1638EED-29C9-4484-A1C0-A0B00EEE8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B05D124-494B-4B40-A01D-9DE89DC3C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AD6EE6-73AE-4CB7-83F4-8F1AA8A3F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21F-9491-45CA-AE6B-608ADD32F06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EBF8D8D-8526-49B6-895B-32939888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069998-F4BD-4858-A45B-CC12FE71F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1A8D-5A4C-42B4-A725-4B7961AD31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5317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9A6537-13F1-4B63-AABC-E95A99A09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3E5B20F-3B4D-4342-ACCD-DB7156D94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0A0446-5CFD-4081-87DF-53BAB8FD5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21F-9491-45CA-AE6B-608ADD32F06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4DBC33-6DEE-4485-A31D-D17551254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9189BB-5129-46A5-B908-64D15E1E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1A8D-5A4C-42B4-A725-4B7961AD31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4283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D5023D7-1219-47CC-9EF4-2224A6C35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4B33E15-4653-4D7E-9A70-B8EBFE49F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C96451-EC59-4583-B39D-6B94384C0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21F-9491-45CA-AE6B-608ADD32F06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13A6ED-9E75-4572-8DD0-A24059C1C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E2C7F6-C064-444C-B6FF-7ECA7564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91A8D-5A4C-42B4-A725-4B7961AD31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1517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B74EFB4-3A37-4185-9FAB-B75449F5C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7E2B54-D98E-4137-8011-D261BFBF7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E96C61-8DB9-4ABA-B477-EE8C7CA571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21F-9491-45CA-AE6B-608ADD32F064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9910B6-A041-4598-AA2D-367072DCD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92CC33-2304-4DDD-95D0-F209924C0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91A8D-5A4C-42B4-A725-4B7961AD31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130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pring-projects/spring-ai-examples/tree/main/model-context-protocol/weather/starter-webflux-server" TargetMode="External"/><Relationship Id="rId3" Type="http://schemas.openxmlformats.org/officeDocument/2006/relationships/hyperlink" Target="https://github.com/modelcontextprotocol/java-sdk" TargetMode="External"/><Relationship Id="rId7" Type="http://schemas.openxmlformats.org/officeDocument/2006/relationships/hyperlink" Target="https://github.com/spring-projects/spring-ai-examples/tree/main/model-context-protocol/client-starter/starter-default-client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docs.spring.io/spring-ai/reference/api/mcp/mcp-server-boot-starter-docs.html" TargetMode="External"/><Relationship Id="rId4" Type="http://schemas.openxmlformats.org/officeDocument/2006/relationships/hyperlink" Target="https://docs.spring.io/spring-ai/reference/api/mcp/mcp-client-boot-starter-docs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modelcontextprotocol/inspector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konghq.com/blog/product-releases/securing-observing-governing-mcp-servers-with-ai-gateway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konghq.com/hub/kong-inc/openid-connect/how-to/authentication/client-credentials/" TargetMode="External"/><Relationship Id="rId2" Type="http://schemas.openxmlformats.org/officeDocument/2006/relationships/hyperlink" Target="https://docs.konghq.com/hub/kong-inc/ai-proxy-advanced/how-to/llm-provider-integration-guides/openai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konghq.com/hub/kong-inc/ai-prompt-guard/how-to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aistudio.google.com/app/apikey?hl=zh-tw" TargetMode="External"/><Relationship Id="rId3" Type="http://schemas.openxmlformats.org/officeDocument/2006/relationships/hyperlink" Target="https://community.chocolatey.org/packages/git.install" TargetMode="External"/><Relationship Id="rId7" Type="http://schemas.openxmlformats.org/officeDocument/2006/relationships/hyperlink" Target="https://community.chocolatey.org/packages/docker-desktop" TargetMode="External"/><Relationship Id="rId2" Type="http://schemas.openxmlformats.org/officeDocument/2006/relationships/hyperlink" Target="https://chocolatey.org/install?_gl=1*5k7yu3*_ga*MTUxOTI3MjY1NC4xNzQ4MDg3MTcw*_ga_0WDD29GGN2*czE3NDgwODcxNjkkbzEkZzEkdDE3NDgwODcxOTIkajAkbDAkaDA.#individua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munity.chocolatey.org/packages/maven" TargetMode="External"/><Relationship Id="rId5" Type="http://schemas.openxmlformats.org/officeDocument/2006/relationships/hyperlink" Target="https://community.chocolatey.org/packages/nodejs-lts" TargetMode="External"/><Relationship Id="rId4" Type="http://schemas.openxmlformats.org/officeDocument/2006/relationships/hyperlink" Target="https://community.chocolatey.org/packages/correttojdk" TargetMode="External"/><Relationship Id="rId9" Type="http://schemas.openxmlformats.org/officeDocument/2006/relationships/hyperlink" Target="https://youtu.be/rfKSYJiBA0M?si=vJzu9VaCLG3sL3Sp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zxc81906119/mcp.git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localhost:8002/workspac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localhost:18080/admin/master/console/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38C5A6-1C76-465C-A561-F5F1691FC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MCP with </a:t>
            </a:r>
            <a:r>
              <a:rPr lang="en-US" altLang="zh-TW" dirty="0" err="1">
                <a:latin typeface="+mj-ea"/>
              </a:rPr>
              <a:t>kong</a:t>
            </a:r>
            <a:br>
              <a:rPr lang="en-US" altLang="zh-TW" dirty="0">
                <a:latin typeface="+mj-ea"/>
              </a:rPr>
            </a:br>
            <a:r>
              <a:rPr lang="en-US" altLang="zh-TW" dirty="0">
                <a:latin typeface="+mj-ea"/>
              </a:rPr>
              <a:t>Labs</a:t>
            </a:r>
            <a:endParaRPr lang="zh-TW" altLang="en-US" dirty="0">
              <a:latin typeface="+mj-ea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238555-AA73-42B8-B880-C5C620B2D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13371"/>
          </a:xfrm>
        </p:spPr>
        <p:txBody>
          <a:bodyPr>
            <a:normAutofit lnSpcReduction="10000"/>
          </a:bodyPr>
          <a:lstStyle/>
          <a:p>
            <a:r>
              <a:rPr lang="en-US" altLang="zh-TW" dirty="0" err="1">
                <a:latin typeface="+mn-ea"/>
              </a:rPr>
              <a:t>ming</a:t>
            </a:r>
            <a:endParaRPr lang="zh-TW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93804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26EB8A-9F7B-4CB0-A8B9-9BF4AF4A3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512102-056B-490B-A431-379EF3816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ea"/>
                <a:hlinkClick r:id="rId2" action="ppaction://hlinksldjump"/>
              </a:rPr>
              <a:t>MCP</a:t>
            </a:r>
            <a:r>
              <a:rPr lang="zh-TW" altLang="en-US" dirty="0">
                <a:latin typeface="+mn-ea"/>
                <a:hlinkClick r:id="rId2" action="ppaction://hlinksldjump"/>
              </a:rPr>
              <a:t> 介紹</a:t>
            </a:r>
            <a:endParaRPr lang="en-US" altLang="zh-TW" dirty="0">
              <a:latin typeface="+mn-ea"/>
            </a:endParaRPr>
          </a:p>
          <a:p>
            <a:r>
              <a:rPr lang="en-US" altLang="zh-TW" dirty="0">
                <a:latin typeface="+mn-ea"/>
                <a:hlinkClick r:id="rId3" action="ppaction://hlinksldjump"/>
              </a:rPr>
              <a:t>Kong</a:t>
            </a:r>
            <a:r>
              <a:rPr lang="zh-TW" altLang="en-US" dirty="0">
                <a:latin typeface="+mn-ea"/>
                <a:hlinkClick r:id="rId3" action="ppaction://hlinksldjump"/>
              </a:rPr>
              <a:t> 介紹</a:t>
            </a:r>
            <a:endParaRPr lang="en-US" altLang="zh-TW" dirty="0">
              <a:latin typeface="+mn-ea"/>
            </a:endParaRPr>
          </a:p>
          <a:p>
            <a:r>
              <a:rPr lang="en-US" altLang="zh-TW" dirty="0">
                <a:latin typeface="+mn-ea"/>
                <a:hlinkClick r:id="rId4" action="ppaction://hlinksldjump"/>
              </a:rPr>
              <a:t>Labs</a:t>
            </a:r>
            <a:r>
              <a:rPr lang="zh-TW" altLang="en-US" dirty="0">
                <a:latin typeface="+mn-ea"/>
                <a:hlinkClick r:id="rId4" action="ppaction://hlinksldjump"/>
              </a:rPr>
              <a:t> 實作</a:t>
            </a:r>
            <a:endParaRPr lang="en-US" altLang="zh-TW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143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C715DC-FBDE-4B36-9DDD-1BA3D3658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833" y="2724785"/>
            <a:ext cx="10515600" cy="932815"/>
          </a:xfrm>
        </p:spPr>
        <p:txBody>
          <a:bodyPr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altLang="zh-TW" sz="4400" dirty="0">
                <a:latin typeface="+mj-ea"/>
                <a:ea typeface="+mj-ea"/>
                <a:cs typeface="+mj-cs"/>
              </a:rPr>
              <a:t>MCP</a:t>
            </a:r>
            <a:endParaRPr lang="zh-TW" altLang="en-US" sz="4400" dirty="0"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22080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ED6C43-A252-4022-A33E-D9467B78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MCP </a:t>
            </a:r>
            <a:r>
              <a:rPr lang="zh-TW" altLang="en-US" dirty="0">
                <a:latin typeface="+mj-ea"/>
              </a:rPr>
              <a:t>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4EE730-5183-4C1E-9865-13708F139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01102"/>
          </a:xfrm>
        </p:spPr>
        <p:txBody>
          <a:bodyPr/>
          <a:lstStyle/>
          <a:p>
            <a:r>
              <a:rPr lang="zh-TW" altLang="en-US" dirty="0">
                <a:latin typeface="+mn-ea"/>
              </a:rPr>
              <a:t>全名為 </a:t>
            </a:r>
            <a:r>
              <a:rPr lang="en-US" altLang="zh-TW" b="0" i="0" dirty="0">
                <a:effectLst/>
                <a:latin typeface="+mn-ea"/>
              </a:rPr>
              <a:t>Model Context Protocol </a:t>
            </a:r>
            <a:r>
              <a:rPr lang="zh-TW" altLang="en-US" b="0" i="0" dirty="0">
                <a:effectLst/>
                <a:latin typeface="+mn-ea"/>
              </a:rPr>
              <a:t> </a:t>
            </a:r>
            <a:r>
              <a:rPr lang="en-US" altLang="zh-TW" b="0" i="0" dirty="0">
                <a:effectLst/>
                <a:latin typeface="+mn-ea"/>
              </a:rPr>
              <a:t>(</a:t>
            </a:r>
            <a:r>
              <a:rPr lang="zh-TW" altLang="en-US" b="0" i="0" dirty="0">
                <a:effectLst/>
                <a:latin typeface="+mn-ea"/>
              </a:rPr>
              <a:t>模型上下文協定</a:t>
            </a:r>
            <a:r>
              <a:rPr lang="en-US" altLang="zh-TW" b="0" i="0" dirty="0">
                <a:effectLst/>
                <a:latin typeface="+mn-ea"/>
              </a:rPr>
              <a:t>)</a:t>
            </a:r>
          </a:p>
          <a:p>
            <a:r>
              <a:rPr lang="en-US" altLang="zh-TW" b="0" i="0" dirty="0">
                <a:effectLst/>
                <a:latin typeface="+mn-ea"/>
              </a:rPr>
              <a:t>2024</a:t>
            </a:r>
            <a:r>
              <a:rPr lang="zh-TW" altLang="en-US" b="0" i="0" dirty="0">
                <a:effectLst/>
                <a:latin typeface="+mn-ea"/>
              </a:rPr>
              <a:t> 年 </a:t>
            </a:r>
            <a:r>
              <a:rPr lang="en-US" altLang="zh-TW" b="0" i="0" dirty="0">
                <a:effectLst/>
                <a:latin typeface="+mn-ea"/>
              </a:rPr>
              <a:t>11</a:t>
            </a:r>
            <a:r>
              <a:rPr lang="zh-TW" altLang="en-US" b="0" i="0" dirty="0">
                <a:effectLst/>
                <a:latin typeface="+mn-ea"/>
              </a:rPr>
              <a:t> 月由 </a:t>
            </a:r>
            <a:r>
              <a:rPr lang="en-US" altLang="zh-TW" b="0" i="0" dirty="0">
                <a:effectLst/>
                <a:latin typeface="+mn-ea"/>
              </a:rPr>
              <a:t>Claude </a:t>
            </a:r>
            <a:r>
              <a:rPr lang="zh-TW" altLang="en-US" b="0" i="0" dirty="0">
                <a:effectLst/>
                <a:latin typeface="+mn-ea"/>
              </a:rPr>
              <a:t>母公司 </a:t>
            </a:r>
            <a:r>
              <a:rPr lang="en-US" altLang="zh-TW" b="0" i="0" dirty="0">
                <a:effectLst/>
                <a:latin typeface="+mn-ea"/>
              </a:rPr>
              <a:t>Anthropic</a:t>
            </a:r>
            <a:r>
              <a:rPr lang="zh-TW" altLang="en-US" b="0" i="0" dirty="0">
                <a:effectLst/>
                <a:latin typeface="+mn-ea"/>
              </a:rPr>
              <a:t> 推出，提供</a:t>
            </a:r>
            <a:r>
              <a:rPr lang="zh-TW" altLang="en-US" b="0" i="0" dirty="0">
                <a:solidFill>
                  <a:schemeClr val="accent1"/>
                </a:solidFill>
                <a:effectLst/>
                <a:latin typeface="+mn-ea"/>
              </a:rPr>
              <a:t>標準化</a:t>
            </a:r>
            <a:r>
              <a:rPr lang="zh-TW" altLang="en-US" b="0" i="0" dirty="0">
                <a:effectLst/>
                <a:latin typeface="+mn-ea"/>
              </a:rPr>
              <a:t>方式，讓 </a:t>
            </a:r>
            <a:r>
              <a:rPr lang="en-US" altLang="zh-TW" dirty="0">
                <a:solidFill>
                  <a:schemeClr val="accent1"/>
                </a:solidFill>
                <a:latin typeface="+mn-ea"/>
              </a:rPr>
              <a:t>LLM</a:t>
            </a:r>
            <a:r>
              <a:rPr lang="zh-TW" altLang="en-US" b="0" i="0" dirty="0">
                <a:effectLst/>
                <a:latin typeface="+mn-ea"/>
              </a:rPr>
              <a:t> 可存取外部</a:t>
            </a:r>
            <a:r>
              <a:rPr lang="zh-TW" altLang="en-US" dirty="0">
                <a:latin typeface="+mn-ea"/>
              </a:rPr>
              <a:t>資源或工具</a:t>
            </a:r>
            <a:endParaRPr lang="en-US" altLang="zh-TW" dirty="0">
              <a:latin typeface="+mn-ea"/>
            </a:endParaRPr>
          </a:p>
          <a:p>
            <a:r>
              <a:rPr lang="zh-TW" altLang="en-US" b="0" i="0" dirty="0">
                <a:effectLst/>
                <a:latin typeface="+mn-ea"/>
              </a:rPr>
              <a:t>透過</a:t>
            </a:r>
            <a:r>
              <a:rPr lang="zh-TW" altLang="en-US" b="0" i="0" dirty="0">
                <a:solidFill>
                  <a:schemeClr val="accent1"/>
                </a:solidFill>
                <a:effectLst/>
                <a:latin typeface="+mn-ea"/>
              </a:rPr>
              <a:t>提供 </a:t>
            </a:r>
            <a:r>
              <a:rPr lang="en-US" altLang="zh-TW" b="0" i="0" dirty="0">
                <a:solidFill>
                  <a:schemeClr val="accent1"/>
                </a:solidFill>
                <a:effectLst/>
                <a:latin typeface="+mn-ea"/>
              </a:rPr>
              <a:t>LLM</a:t>
            </a:r>
            <a:r>
              <a:rPr lang="zh-TW" altLang="en-US" b="0" i="0" dirty="0">
                <a:solidFill>
                  <a:schemeClr val="accent1"/>
                </a:solidFill>
                <a:effectLst/>
                <a:latin typeface="+mn-ea"/>
              </a:rPr>
              <a:t> 上下文指示</a:t>
            </a:r>
            <a:r>
              <a:rPr lang="zh-TW" altLang="en-US" b="0" i="0" dirty="0">
                <a:effectLst/>
                <a:latin typeface="+mn-ea"/>
              </a:rPr>
              <a:t>，讓 </a:t>
            </a:r>
            <a:r>
              <a:rPr lang="en-US" altLang="zh-TW" dirty="0">
                <a:solidFill>
                  <a:schemeClr val="accent1"/>
                </a:solidFill>
                <a:latin typeface="+mn-ea"/>
              </a:rPr>
              <a:t>LLM</a:t>
            </a:r>
            <a:r>
              <a:rPr lang="zh-TW" altLang="en-US" b="0" i="0" dirty="0">
                <a:solidFill>
                  <a:schemeClr val="accent1"/>
                </a:solidFill>
                <a:effectLst/>
                <a:latin typeface="+mn-ea"/>
              </a:rPr>
              <a:t> 決定</a:t>
            </a:r>
            <a:r>
              <a:rPr lang="zh-TW" altLang="en-US" b="0" i="0" dirty="0">
                <a:effectLst/>
                <a:latin typeface="+mn-ea"/>
              </a:rPr>
              <a:t>使用哪些</a:t>
            </a:r>
            <a:r>
              <a:rPr lang="zh-TW" altLang="en-US" b="0" i="0" dirty="0">
                <a:solidFill>
                  <a:schemeClr val="accent1"/>
                </a:solidFill>
                <a:effectLst/>
                <a:latin typeface="+mn-ea"/>
              </a:rPr>
              <a:t>工具</a:t>
            </a:r>
            <a:r>
              <a:rPr lang="zh-TW" altLang="en-US" b="0" i="0" dirty="0">
                <a:effectLst/>
                <a:latin typeface="+mn-ea"/>
              </a:rPr>
              <a:t>、按什麼順序及如何將工作流程連結在一起以完成任務</a:t>
            </a:r>
            <a:endParaRPr lang="en-US" altLang="zh-TW" b="0" i="0" dirty="0">
              <a:effectLst/>
              <a:latin typeface="+mn-ea"/>
            </a:endParaRPr>
          </a:p>
          <a:p>
            <a:endParaRPr lang="zh-TW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1778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1C2736-B505-41F3-85A7-CEEFB70C0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MCP </a:t>
            </a:r>
            <a:r>
              <a:rPr lang="zh-TW" altLang="en-US" dirty="0">
                <a:latin typeface="+mj-ea"/>
              </a:rPr>
              <a:t>組件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F5DCD6-AC62-471D-8E44-74B4A8684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TW" b="0" i="0" dirty="0">
                <a:solidFill>
                  <a:schemeClr val="accent2">
                    <a:lumMod val="75000"/>
                  </a:schemeClr>
                </a:solidFill>
                <a:effectLst/>
                <a:latin typeface="+mn-ea"/>
              </a:rPr>
              <a:t>MCP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 host</a:t>
            </a:r>
            <a:r>
              <a:rPr lang="en-US" altLang="zh-TW" dirty="0">
                <a:latin typeface="+mn-ea"/>
              </a:rPr>
              <a:t>:</a:t>
            </a:r>
          </a:p>
          <a:p>
            <a:pPr lvl="1"/>
            <a:r>
              <a:rPr lang="zh-TW" altLang="en-US" dirty="0">
                <a:latin typeface="+mn-ea"/>
              </a:rPr>
              <a:t>像 </a:t>
            </a:r>
            <a:r>
              <a:rPr lang="en-US" altLang="zh-TW" dirty="0">
                <a:latin typeface="+mn-ea"/>
              </a:rPr>
              <a:t>Claude Desktop</a:t>
            </a:r>
            <a:r>
              <a:rPr lang="zh-TW" altLang="en-US" dirty="0">
                <a:latin typeface="+mn-ea"/>
              </a:rPr>
              <a:t>、</a:t>
            </a:r>
            <a:r>
              <a:rPr lang="en-US" altLang="zh-TW" dirty="0">
                <a:latin typeface="+mn-ea"/>
              </a:rPr>
              <a:t>IDE </a:t>
            </a:r>
            <a:r>
              <a:rPr lang="zh-TW" altLang="en-US" dirty="0">
                <a:latin typeface="+mn-ea"/>
              </a:rPr>
              <a:t>或 </a:t>
            </a:r>
            <a:r>
              <a:rPr lang="en-US" altLang="zh-TW" dirty="0">
                <a:latin typeface="+mn-ea"/>
              </a:rPr>
              <a:t>AI </a:t>
            </a:r>
            <a:r>
              <a:rPr lang="zh-TW" altLang="en-US" dirty="0">
                <a:latin typeface="+mn-ea"/>
              </a:rPr>
              <a:t>工具這樣的程式，需要透過 </a:t>
            </a:r>
            <a:r>
              <a:rPr lang="en-US" altLang="zh-TW" dirty="0">
                <a:latin typeface="+mn-ea"/>
              </a:rPr>
              <a:t>MCP </a:t>
            </a:r>
            <a:r>
              <a:rPr lang="zh-TW" altLang="en-US" dirty="0">
                <a:latin typeface="+mn-ea"/>
              </a:rPr>
              <a:t>存取資料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應用類型</a:t>
            </a:r>
            <a:r>
              <a:rPr lang="en-US" altLang="zh-TW" dirty="0">
                <a:latin typeface="+mn-ea"/>
              </a:rPr>
              <a:t>:</a:t>
            </a:r>
          </a:p>
          <a:p>
            <a:pPr lvl="2"/>
            <a:r>
              <a:rPr lang="zh-TW" altLang="en-US" dirty="0">
                <a:latin typeface="+mn-ea"/>
              </a:rPr>
              <a:t>前後端不分離</a:t>
            </a:r>
            <a:endParaRPr lang="en-US" altLang="zh-TW" dirty="0">
              <a:latin typeface="+mn-ea"/>
            </a:endParaRPr>
          </a:p>
          <a:p>
            <a:pPr lvl="2"/>
            <a:r>
              <a:rPr lang="zh-TW" altLang="en-US" dirty="0">
                <a:latin typeface="+mn-ea"/>
              </a:rPr>
              <a:t>桌面</a:t>
            </a:r>
            <a:endParaRPr lang="en-US" altLang="zh-TW" dirty="0">
              <a:latin typeface="+mn-ea"/>
            </a:endParaRPr>
          </a:p>
          <a:p>
            <a:pPr lvl="2"/>
            <a:r>
              <a:rPr lang="en-US" altLang="zh-TW" dirty="0">
                <a:latin typeface="+mn-ea"/>
              </a:rPr>
              <a:t>Mobile APP</a:t>
            </a:r>
          </a:p>
          <a:p>
            <a:pPr lvl="2"/>
            <a:r>
              <a:rPr lang="zh-TW" altLang="en-US" dirty="0">
                <a:latin typeface="+mn-ea"/>
              </a:rPr>
              <a:t>前後端分離 </a:t>
            </a:r>
            <a:r>
              <a:rPr lang="en-US" altLang="zh-TW" dirty="0">
                <a:latin typeface="+mn-ea"/>
              </a:rPr>
              <a:t>- </a:t>
            </a:r>
            <a:r>
              <a:rPr lang="zh-TW" altLang="en-US" dirty="0">
                <a:solidFill>
                  <a:schemeClr val="accent1"/>
                </a:solidFill>
                <a:latin typeface="+mn-ea"/>
              </a:rPr>
              <a:t>前端</a:t>
            </a:r>
            <a:endParaRPr lang="en-US" altLang="zh-TW" dirty="0">
              <a:solidFill>
                <a:schemeClr val="accent1"/>
              </a:solidFill>
              <a:latin typeface="+mn-ea"/>
            </a:endParaRPr>
          </a:p>
          <a:p>
            <a:r>
              <a:rPr lang="en-US" altLang="zh-TW" b="0" i="0" dirty="0">
                <a:solidFill>
                  <a:schemeClr val="accent2">
                    <a:lumMod val="75000"/>
                  </a:schemeClr>
                </a:solidFill>
                <a:effectLst/>
                <a:latin typeface="+mn-ea"/>
              </a:rPr>
              <a:t>MCP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 client</a:t>
            </a:r>
            <a:r>
              <a:rPr lang="en-US" altLang="zh-TW" dirty="0">
                <a:latin typeface="+mn-ea"/>
              </a:rPr>
              <a:t>:</a:t>
            </a:r>
          </a:p>
          <a:p>
            <a:pPr lvl="1"/>
            <a:r>
              <a:rPr lang="zh-TW" altLang="en-US" dirty="0">
                <a:latin typeface="+mn-ea"/>
              </a:rPr>
              <a:t>與 </a:t>
            </a:r>
            <a:r>
              <a:rPr lang="en-US" altLang="zh-TW" dirty="0">
                <a:latin typeface="+mn-ea"/>
              </a:rPr>
              <a:t>MCP </a:t>
            </a:r>
            <a:r>
              <a:rPr lang="zh-TW" altLang="en-US" dirty="0">
                <a:latin typeface="+mn-ea"/>
              </a:rPr>
              <a:t>伺服器保持 </a:t>
            </a:r>
            <a:r>
              <a:rPr lang="en-US" altLang="zh-TW" dirty="0">
                <a:solidFill>
                  <a:schemeClr val="accent1"/>
                </a:solidFill>
                <a:latin typeface="+mn-ea"/>
              </a:rPr>
              <a:t>1:1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連線之協定用戶端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讓 </a:t>
            </a:r>
            <a:r>
              <a:rPr lang="en-US" altLang="zh-TW" dirty="0">
                <a:latin typeface="+mn-ea"/>
              </a:rPr>
              <a:t>LLM </a:t>
            </a:r>
            <a:r>
              <a:rPr lang="zh-TW" altLang="en-US" dirty="0">
                <a:latin typeface="+mn-ea"/>
              </a:rPr>
              <a:t>得知 </a:t>
            </a:r>
            <a:r>
              <a:rPr lang="en-US" altLang="zh-TW" dirty="0">
                <a:latin typeface="+mn-ea"/>
              </a:rPr>
              <a:t>MCP server </a:t>
            </a:r>
            <a:r>
              <a:rPr lang="zh-TW" altLang="en-US" dirty="0">
                <a:latin typeface="+mn-ea"/>
              </a:rPr>
              <a:t>有哪些工具可使用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如 </a:t>
            </a:r>
            <a:r>
              <a:rPr lang="en-US" altLang="zh-TW" dirty="0">
                <a:latin typeface="+mn-ea"/>
              </a:rPr>
              <a:t>LLM </a:t>
            </a:r>
            <a:r>
              <a:rPr lang="zh-TW" altLang="en-US" dirty="0">
                <a:latin typeface="+mn-ea"/>
              </a:rPr>
              <a:t>回復需使用某工具 </a:t>
            </a:r>
            <a:r>
              <a:rPr lang="en-US" altLang="zh-TW" dirty="0">
                <a:latin typeface="+mn-ea"/>
              </a:rPr>
              <a:t>, </a:t>
            </a:r>
            <a:r>
              <a:rPr lang="zh-TW" altLang="en-US" dirty="0">
                <a:latin typeface="+mn-ea"/>
              </a:rPr>
              <a:t>則調用</a:t>
            </a:r>
            <a:r>
              <a:rPr lang="zh-TW" altLang="en-US" b="0" i="0" dirty="0">
                <a:effectLst/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MCP server </a:t>
            </a:r>
            <a:r>
              <a:rPr lang="zh-TW" altLang="en-US" dirty="0">
                <a:latin typeface="+mn-ea"/>
              </a:rPr>
              <a:t>對應之</a:t>
            </a:r>
            <a:r>
              <a:rPr lang="zh-TW" altLang="en-US" b="0" i="0" dirty="0">
                <a:effectLst/>
                <a:latin typeface="+mn-ea"/>
              </a:rPr>
              <a:t>工具</a:t>
            </a:r>
            <a:endParaRPr lang="en-US" altLang="zh-TW" b="0" i="0" dirty="0">
              <a:effectLst/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通常</a:t>
            </a:r>
            <a:r>
              <a:rPr lang="zh-TW" altLang="en-US" dirty="0">
                <a:solidFill>
                  <a:schemeClr val="accent1"/>
                </a:solidFill>
                <a:latin typeface="+mn-ea"/>
              </a:rPr>
              <a:t>等同 </a:t>
            </a:r>
            <a:r>
              <a:rPr lang="en-US" altLang="zh-TW" dirty="0">
                <a:solidFill>
                  <a:schemeClr val="accent1"/>
                </a:solidFill>
                <a:latin typeface="+mn-ea"/>
              </a:rPr>
              <a:t>MCP host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>
                <a:latin typeface="+mn-ea"/>
              </a:rPr>
              <a:t>前後端分離應用除外 </a:t>
            </a:r>
            <a:r>
              <a:rPr lang="en-US" altLang="zh-TW" dirty="0">
                <a:latin typeface="+mn-ea"/>
              </a:rPr>
              <a:t>,</a:t>
            </a:r>
            <a:r>
              <a:rPr lang="zh-TW" altLang="en-US" dirty="0">
                <a:latin typeface="+mn-ea"/>
              </a:rPr>
              <a:t> 前端</a:t>
            </a:r>
            <a:r>
              <a:rPr lang="en-US" altLang="zh-TW" dirty="0">
                <a:latin typeface="+mn-ea"/>
              </a:rPr>
              <a:t>: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MCP host , </a:t>
            </a:r>
            <a:r>
              <a:rPr lang="zh-TW" altLang="en-US" dirty="0">
                <a:latin typeface="+mn-ea"/>
              </a:rPr>
              <a:t>後端</a:t>
            </a:r>
            <a:r>
              <a:rPr lang="en-US" altLang="zh-TW" dirty="0">
                <a:latin typeface="+mn-ea"/>
              </a:rPr>
              <a:t>: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MCP client)</a:t>
            </a:r>
          </a:p>
          <a:p>
            <a:r>
              <a:rPr lang="en-US" altLang="zh-TW" b="0" i="0" dirty="0">
                <a:solidFill>
                  <a:schemeClr val="accent2">
                    <a:lumMod val="75000"/>
                  </a:schemeClr>
                </a:solidFill>
                <a:effectLst/>
                <a:latin typeface="+mn-ea"/>
              </a:rPr>
              <a:t>MCP</a:t>
            </a:r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 server</a:t>
            </a:r>
            <a:r>
              <a:rPr lang="en-US" altLang="zh-TW" dirty="0">
                <a:latin typeface="+mn-ea"/>
              </a:rPr>
              <a:t>:</a:t>
            </a:r>
          </a:p>
          <a:p>
            <a:pPr lvl="1"/>
            <a:r>
              <a:rPr lang="zh-TW" altLang="en-US" b="0" i="0" dirty="0">
                <a:effectLst/>
                <a:latin typeface="+mn-ea"/>
              </a:rPr>
              <a:t>提供 </a:t>
            </a:r>
            <a:r>
              <a:rPr lang="en-US" altLang="zh-TW" b="0" i="0" dirty="0">
                <a:effectLst/>
                <a:latin typeface="+mn-ea"/>
              </a:rPr>
              <a:t>MCP client</a:t>
            </a:r>
            <a:r>
              <a:rPr lang="zh-TW" altLang="en-US" b="0" i="0" dirty="0">
                <a:effectLst/>
                <a:latin typeface="+mn-ea"/>
              </a:rPr>
              <a:t> 可用</a:t>
            </a:r>
            <a:r>
              <a:rPr lang="zh-TW" altLang="en-US" dirty="0">
                <a:latin typeface="+mn-ea"/>
              </a:rPr>
              <a:t>工具資訊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提供 </a:t>
            </a:r>
            <a:r>
              <a:rPr lang="en-US" altLang="zh-TW" dirty="0">
                <a:latin typeface="+mn-ea"/>
              </a:rPr>
              <a:t>MCP client </a:t>
            </a:r>
            <a:r>
              <a:rPr lang="zh-TW" altLang="en-US" dirty="0">
                <a:latin typeface="+mn-ea"/>
              </a:rPr>
              <a:t>調用工具接口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提供調用方式如下</a:t>
            </a:r>
            <a:r>
              <a:rPr lang="en-US" altLang="zh-TW" dirty="0">
                <a:latin typeface="+mn-ea"/>
              </a:rPr>
              <a:t>:</a:t>
            </a:r>
          </a:p>
          <a:p>
            <a:pPr lvl="2"/>
            <a:r>
              <a:rPr lang="en-US" altLang="zh-TW" dirty="0">
                <a:solidFill>
                  <a:schemeClr val="accent1"/>
                </a:solidFill>
                <a:latin typeface="+mn-ea"/>
              </a:rPr>
              <a:t>STDIO</a:t>
            </a:r>
            <a:r>
              <a:rPr lang="en-US" altLang="zh-TW" dirty="0">
                <a:latin typeface="+mn-ea"/>
              </a:rPr>
              <a:t> : </a:t>
            </a:r>
            <a:r>
              <a:rPr lang="zh-TW" altLang="en-US" dirty="0">
                <a:latin typeface="+mn-ea"/>
              </a:rPr>
              <a:t>本地進程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>
                <a:latin typeface="+mn-ea"/>
              </a:rPr>
              <a:t>與 </a:t>
            </a:r>
            <a:r>
              <a:rPr lang="en-US" altLang="zh-TW" dirty="0">
                <a:latin typeface="+mn-ea"/>
              </a:rPr>
              <a:t>MCP client </a:t>
            </a:r>
            <a:r>
              <a:rPr lang="zh-TW" altLang="en-US" dirty="0">
                <a:latin typeface="+mn-ea"/>
              </a:rPr>
              <a:t>同機</a:t>
            </a:r>
            <a:r>
              <a:rPr lang="en-US" altLang="zh-TW" dirty="0">
                <a:latin typeface="+mn-ea"/>
              </a:rPr>
              <a:t>)</a:t>
            </a:r>
          </a:p>
          <a:p>
            <a:pPr lvl="3"/>
            <a:r>
              <a:rPr lang="zh-TW" altLang="en-US" dirty="0">
                <a:latin typeface="+mn-ea"/>
              </a:rPr>
              <a:t>因同機通訊 </a:t>
            </a:r>
            <a:r>
              <a:rPr lang="en-US" altLang="zh-TW" dirty="0">
                <a:latin typeface="+mn-ea"/>
              </a:rPr>
              <a:t>, </a:t>
            </a:r>
            <a:r>
              <a:rPr lang="zh-TW" altLang="en-US" dirty="0">
                <a:latin typeface="+mn-ea"/>
              </a:rPr>
              <a:t>較高效</a:t>
            </a:r>
            <a:endParaRPr lang="en-US" altLang="zh-TW" dirty="0">
              <a:latin typeface="+mn-ea"/>
            </a:endParaRPr>
          </a:p>
          <a:p>
            <a:pPr lvl="3"/>
            <a:r>
              <a:rPr lang="zh-TW" altLang="en-US" dirty="0">
                <a:latin typeface="+mn-ea"/>
              </a:rPr>
              <a:t>適合本地流程</a:t>
            </a:r>
            <a:endParaRPr lang="en-US" altLang="zh-TW" dirty="0">
              <a:latin typeface="+mn-ea"/>
            </a:endParaRPr>
          </a:p>
          <a:p>
            <a:pPr lvl="2"/>
            <a:r>
              <a:rPr lang="en-US" altLang="zh-TW" dirty="0">
                <a:solidFill>
                  <a:schemeClr val="accent1"/>
                </a:solidFill>
                <a:latin typeface="+mn-ea"/>
              </a:rPr>
              <a:t>SSE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(http) :  </a:t>
            </a:r>
            <a:r>
              <a:rPr lang="zh-TW" altLang="en-US" dirty="0">
                <a:latin typeface="+mn-ea"/>
              </a:rPr>
              <a:t>遠端 </a:t>
            </a:r>
            <a:r>
              <a:rPr lang="en-US" altLang="zh-TW" dirty="0">
                <a:latin typeface="+mn-ea"/>
              </a:rPr>
              <a:t>WEB </a:t>
            </a:r>
            <a:r>
              <a:rPr lang="zh-TW" altLang="en-US" dirty="0">
                <a:latin typeface="+mn-ea"/>
              </a:rPr>
              <a:t>服務</a:t>
            </a:r>
            <a:endParaRPr lang="en-US" altLang="zh-TW" dirty="0">
              <a:latin typeface="+mn-ea"/>
            </a:endParaRPr>
          </a:p>
          <a:p>
            <a:pPr lvl="3"/>
            <a:r>
              <a:rPr lang="zh-TW" altLang="en-US" dirty="0">
                <a:latin typeface="+mn-ea"/>
              </a:rPr>
              <a:t>建議加入</a:t>
            </a:r>
            <a:r>
              <a:rPr lang="zh-TW" altLang="en-US" dirty="0">
                <a:solidFill>
                  <a:schemeClr val="accent1"/>
                </a:solidFill>
                <a:latin typeface="+mn-ea"/>
              </a:rPr>
              <a:t>安全性</a:t>
            </a:r>
            <a:r>
              <a:rPr lang="zh-TW" altLang="en-US" dirty="0">
                <a:latin typeface="+mn-ea"/>
              </a:rPr>
              <a:t>檢查</a:t>
            </a:r>
            <a:endParaRPr lang="en-US" altLang="zh-TW" b="0" i="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28440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C3F83-1F76-419F-9CF2-7D97321C6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4773"/>
          </a:xfrm>
        </p:spPr>
        <p:txBody>
          <a:bodyPr/>
          <a:lstStyle/>
          <a:p>
            <a:r>
              <a:rPr lang="en-US" altLang="zh-TW" dirty="0">
                <a:latin typeface="+mj-ea"/>
              </a:rPr>
              <a:t>MCP </a:t>
            </a:r>
            <a:r>
              <a:rPr lang="zh-TW" altLang="en-US" dirty="0">
                <a:latin typeface="+mj-ea"/>
              </a:rPr>
              <a:t>架構圖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6D949B9-3B8D-4B5E-98CA-14E0DEF26F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7318" y="2837982"/>
            <a:ext cx="5668166" cy="2838846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93F9FEE-424F-4A54-96DC-D2B6936BF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87" y="2592110"/>
            <a:ext cx="5292811" cy="355587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DDBC207-AFDC-48A5-AE4C-58DD4AB190B4}"/>
              </a:ext>
            </a:extLst>
          </p:cNvPr>
          <p:cNvSpPr txBox="1"/>
          <p:nvPr/>
        </p:nvSpPr>
        <p:spPr>
          <a:xfrm>
            <a:off x="7115865" y="1238618"/>
            <a:ext cx="4110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n-ea"/>
              </a:rPr>
              <a:t>官方文件說明 </a:t>
            </a:r>
            <a:r>
              <a:rPr lang="en-US" altLang="zh-TW" dirty="0">
                <a:latin typeface="+mn-ea"/>
              </a:rPr>
              <a:t>MCP client </a:t>
            </a:r>
            <a:r>
              <a:rPr lang="zh-TW" altLang="en-US" dirty="0">
                <a:latin typeface="+mn-ea"/>
              </a:rPr>
              <a:t>與 </a:t>
            </a:r>
            <a:r>
              <a:rPr lang="en-US" altLang="zh-TW" dirty="0">
                <a:latin typeface="+mn-ea"/>
              </a:rPr>
              <a:t>MCP server </a:t>
            </a:r>
            <a:r>
              <a:rPr lang="zh-TW" altLang="en-US" dirty="0">
                <a:latin typeface="+mn-ea"/>
              </a:rPr>
              <a:t>比例為 </a:t>
            </a:r>
            <a:r>
              <a:rPr lang="en-US" altLang="zh-TW" dirty="0">
                <a:solidFill>
                  <a:schemeClr val="accent1"/>
                </a:solidFill>
                <a:latin typeface="+mn-ea"/>
              </a:rPr>
              <a:t>1:1</a:t>
            </a:r>
            <a:endParaRPr lang="zh-TW" altLang="en-US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98E8936-63EA-4A7A-9C9F-2D3A1BDF1814}"/>
              </a:ext>
            </a:extLst>
          </p:cNvPr>
          <p:cNvSpPr txBox="1"/>
          <p:nvPr/>
        </p:nvSpPr>
        <p:spPr>
          <a:xfrm>
            <a:off x="1879159" y="1841623"/>
            <a:ext cx="2052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MCP server </a:t>
            </a:r>
            <a:r>
              <a:rPr lang="zh-TW" altLang="en-US" dirty="0">
                <a:latin typeface="+mn-ea"/>
              </a:rPr>
              <a:t>可存取</a:t>
            </a:r>
            <a:endParaRPr lang="en-US" altLang="zh-TW" dirty="0">
              <a:latin typeface="+mn-ea"/>
            </a:endParaRPr>
          </a:p>
          <a:p>
            <a:r>
              <a:rPr lang="zh-TW" altLang="en-US" dirty="0">
                <a:solidFill>
                  <a:schemeClr val="accent1"/>
                </a:solidFill>
                <a:latin typeface="+mn-ea"/>
              </a:rPr>
              <a:t>本地</a:t>
            </a:r>
            <a:r>
              <a:rPr lang="zh-TW" altLang="en-US" dirty="0">
                <a:latin typeface="+mn-ea"/>
              </a:rPr>
              <a:t>與</a:t>
            </a:r>
            <a:r>
              <a:rPr lang="zh-TW" altLang="en-US" dirty="0">
                <a:solidFill>
                  <a:schemeClr val="accent1"/>
                </a:solidFill>
                <a:latin typeface="+mn-ea"/>
              </a:rPr>
              <a:t>遠端</a:t>
            </a:r>
            <a:r>
              <a:rPr lang="zh-TW" altLang="en-US" dirty="0">
                <a:latin typeface="+mn-ea"/>
              </a:rPr>
              <a:t>資料源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AE73040-0C3D-4CD2-90BB-3F86346802D7}"/>
              </a:ext>
            </a:extLst>
          </p:cNvPr>
          <p:cNvSpPr txBox="1"/>
          <p:nvPr/>
        </p:nvSpPr>
        <p:spPr>
          <a:xfrm>
            <a:off x="7730187" y="1846972"/>
            <a:ext cx="2882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n-ea"/>
              </a:rPr>
              <a:t>但實際可用比例為</a:t>
            </a:r>
            <a:r>
              <a:rPr lang="en-US" altLang="zh-TW" dirty="0">
                <a:latin typeface="+mn-ea"/>
              </a:rPr>
              <a:t>:</a:t>
            </a:r>
          </a:p>
          <a:p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solidFill>
                  <a:schemeClr val="accent1"/>
                </a:solidFill>
                <a:latin typeface="+mn-ea"/>
              </a:rPr>
              <a:t>1:</a:t>
            </a:r>
            <a:r>
              <a:rPr lang="zh-TW" altLang="en-US" dirty="0">
                <a:solidFill>
                  <a:schemeClr val="accent1"/>
                </a:solidFill>
                <a:latin typeface="+mn-ea"/>
              </a:rPr>
              <a:t>多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(STDIO + SSE)</a:t>
            </a:r>
          </a:p>
          <a:p>
            <a:r>
              <a:rPr lang="zh-TW" altLang="en-US" dirty="0">
                <a:solidFill>
                  <a:schemeClr val="accent1"/>
                </a:solidFill>
                <a:latin typeface="+mn-ea"/>
              </a:rPr>
              <a:t>多</a:t>
            </a:r>
            <a:r>
              <a:rPr lang="en-US" altLang="zh-TW" dirty="0">
                <a:solidFill>
                  <a:schemeClr val="accent1"/>
                </a:solidFill>
                <a:latin typeface="+mn-ea"/>
              </a:rPr>
              <a:t>:</a:t>
            </a:r>
            <a:r>
              <a:rPr lang="zh-TW" altLang="en-US" dirty="0">
                <a:solidFill>
                  <a:schemeClr val="accent1"/>
                </a:solidFill>
                <a:latin typeface="+mn-ea"/>
              </a:rPr>
              <a:t>多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(SSE)</a:t>
            </a:r>
            <a:endParaRPr lang="zh-TW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33352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1661E6-563B-42F5-8D95-026513CE4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MCP</a:t>
            </a:r>
            <a:r>
              <a:rPr lang="zh-TW" altLang="en-US" dirty="0">
                <a:latin typeface="+mj-ea"/>
              </a:rPr>
              <a:t> 生命週期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05B621D-0126-4E32-AB36-CD6BA8AF9C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851" y="1809803"/>
            <a:ext cx="3385193" cy="4351338"/>
          </a:xfrm>
        </p:spPr>
      </p:pic>
      <p:pic>
        <p:nvPicPr>
          <p:cNvPr id="6" name="內容版面配置區 4">
            <a:extLst>
              <a:ext uri="{FF2B5EF4-FFF2-40B4-BE49-F238E27FC236}">
                <a16:creationId xmlns:a16="http://schemas.microsoft.com/office/drawing/2014/main" id="{E89CB5FC-76F4-4337-B84F-BD69E8902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906" y="3108689"/>
            <a:ext cx="2748502" cy="1220831"/>
          </a:xfrm>
          <a:prstGeom prst="rect">
            <a:avLst/>
          </a:prstGeom>
        </p:spPr>
      </p:pic>
      <p:pic>
        <p:nvPicPr>
          <p:cNvPr id="7" name="內容版面配置區 4">
            <a:extLst>
              <a:ext uri="{FF2B5EF4-FFF2-40B4-BE49-F238E27FC236}">
                <a16:creationId xmlns:a16="http://schemas.microsoft.com/office/drawing/2014/main" id="{72BB6F95-CD37-4505-91A3-949EEA6C8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270" y="2783806"/>
            <a:ext cx="2724530" cy="2057687"/>
          </a:xfrm>
          <a:prstGeom prst="rect">
            <a:avLst/>
          </a:prstGeom>
        </p:spPr>
      </p:pic>
      <p:sp>
        <p:nvSpPr>
          <p:cNvPr id="10" name="箭號: 向右 9">
            <a:extLst>
              <a:ext uri="{FF2B5EF4-FFF2-40B4-BE49-F238E27FC236}">
                <a16:creationId xmlns:a16="http://schemas.microsoft.com/office/drawing/2014/main" id="{82EA93F4-0A8B-4923-BC32-03D3398DB479}"/>
              </a:ext>
            </a:extLst>
          </p:cNvPr>
          <p:cNvSpPr/>
          <p:nvPr/>
        </p:nvSpPr>
        <p:spPr>
          <a:xfrm>
            <a:off x="4134678" y="3546282"/>
            <a:ext cx="566219" cy="5327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DD14A8F0-DB5D-46F1-A42B-4844B774EB92}"/>
              </a:ext>
            </a:extLst>
          </p:cNvPr>
          <p:cNvSpPr/>
          <p:nvPr/>
        </p:nvSpPr>
        <p:spPr>
          <a:xfrm>
            <a:off x="7787494" y="3452735"/>
            <a:ext cx="566219" cy="5327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28351BE-B5E7-41A4-80B8-54A751CB10E1}"/>
              </a:ext>
            </a:extLst>
          </p:cNvPr>
          <p:cNvSpPr txBox="1"/>
          <p:nvPr/>
        </p:nvSpPr>
        <p:spPr>
          <a:xfrm>
            <a:off x="5273040" y="4648200"/>
            <a:ext cx="2049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dirty="0"/>
              <a:t>請求列出可用工具資訊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en-US" dirty="0"/>
              <a:t>調用工具</a:t>
            </a:r>
          </a:p>
        </p:txBody>
      </p:sp>
    </p:spTree>
    <p:extLst>
      <p:ext uri="{BB962C8B-B14F-4D97-AF65-F5344CB8AC3E}">
        <p14:creationId xmlns:p14="http://schemas.microsoft.com/office/powerpoint/2010/main" val="3194195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EE6F12-2501-4339-B700-0237012E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8577"/>
          </a:xfrm>
        </p:spPr>
        <p:txBody>
          <a:bodyPr/>
          <a:lstStyle/>
          <a:p>
            <a:r>
              <a:rPr lang="en-US" altLang="zh-TW" dirty="0">
                <a:latin typeface="+mj-ea"/>
              </a:rPr>
              <a:t>MCP </a:t>
            </a:r>
            <a:r>
              <a:rPr lang="zh-TW" altLang="en-US" dirty="0">
                <a:latin typeface="+mj-ea"/>
              </a:rPr>
              <a:t>實際運作過程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C31FA1-D56E-424D-8171-61443A663491}"/>
              </a:ext>
            </a:extLst>
          </p:cNvPr>
          <p:cNvSpPr/>
          <p:nvPr/>
        </p:nvSpPr>
        <p:spPr>
          <a:xfrm>
            <a:off x="3924300" y="1616101"/>
            <a:ext cx="1240403" cy="5088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MCP HOST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48386C-4366-4052-8D9B-9DA2B639029F}"/>
              </a:ext>
            </a:extLst>
          </p:cNvPr>
          <p:cNvSpPr/>
          <p:nvPr/>
        </p:nvSpPr>
        <p:spPr>
          <a:xfrm>
            <a:off x="7314536" y="1616101"/>
            <a:ext cx="930302" cy="5088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LLM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527CD7-CAC4-432C-8A98-DF895E3C8AD7}"/>
              </a:ext>
            </a:extLst>
          </p:cNvPr>
          <p:cNvSpPr/>
          <p:nvPr/>
        </p:nvSpPr>
        <p:spPr>
          <a:xfrm>
            <a:off x="5615939" y="1616101"/>
            <a:ext cx="1396779" cy="5088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MCP CLIENT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51F842-C799-498D-B0AE-E357EC163F28}"/>
              </a:ext>
            </a:extLst>
          </p:cNvPr>
          <p:cNvSpPr/>
          <p:nvPr/>
        </p:nvSpPr>
        <p:spPr>
          <a:xfrm>
            <a:off x="8546657" y="1616101"/>
            <a:ext cx="1396779" cy="5088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MCP SERVER</a:t>
            </a:r>
            <a:endParaRPr lang="zh-TW" altLang="en-US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0E0809C-2A51-434D-BD7E-9FC6E0D609AF}"/>
              </a:ext>
            </a:extLst>
          </p:cNvPr>
          <p:cNvCxnSpPr>
            <a:cxnSpLocks/>
          </p:cNvCxnSpPr>
          <p:nvPr/>
        </p:nvCxnSpPr>
        <p:spPr>
          <a:xfrm>
            <a:off x="4544501" y="2124985"/>
            <a:ext cx="0" cy="4379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94F6E560-E2FB-40F0-A54D-ADD985A94BF2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7779687" y="2124985"/>
            <a:ext cx="0" cy="4379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8485297A-D9CF-45BE-B30F-F5E0DFA9E572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314328" y="2124985"/>
            <a:ext cx="1" cy="4291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6A43A427-980E-4E71-AFD0-82067AF4B45E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9245046" y="2124985"/>
            <a:ext cx="1" cy="4291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D27A0269-C0B9-444D-BD53-3D9615CF18A3}"/>
              </a:ext>
            </a:extLst>
          </p:cNvPr>
          <p:cNvCxnSpPr>
            <a:cxnSpLocks/>
          </p:cNvCxnSpPr>
          <p:nvPr/>
        </p:nvCxnSpPr>
        <p:spPr>
          <a:xfrm>
            <a:off x="4557589" y="3156499"/>
            <a:ext cx="17726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7D78E4F-9024-4BCC-86D3-595B099CDB84}"/>
              </a:ext>
            </a:extLst>
          </p:cNvPr>
          <p:cNvSpPr txBox="1"/>
          <p:nvPr/>
        </p:nvSpPr>
        <p:spPr>
          <a:xfrm>
            <a:off x="6616147" y="2864111"/>
            <a:ext cx="930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/>
              <a:t>提交 </a:t>
            </a:r>
            <a:r>
              <a:rPr lang="en-US" altLang="zh-TW" sz="800" dirty="0"/>
              <a:t>user prompt  </a:t>
            </a:r>
          </a:p>
          <a:p>
            <a:r>
              <a:rPr lang="zh-TW" altLang="en-US" sz="800" dirty="0"/>
              <a:t>及 </a:t>
            </a:r>
            <a:r>
              <a:rPr lang="en-US" altLang="zh-TW" sz="800" dirty="0" err="1"/>
              <a:t>mcp</a:t>
            </a:r>
            <a:r>
              <a:rPr lang="en-US" altLang="zh-TW" sz="800" dirty="0"/>
              <a:t> server </a:t>
            </a:r>
            <a:r>
              <a:rPr lang="zh-TW" altLang="en-US" sz="800" dirty="0"/>
              <a:t>提供之工具資訊及定義回傳格式</a:t>
            </a:r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B4CA7040-3358-46BA-A631-5D4869BAFA8D}"/>
              </a:ext>
            </a:extLst>
          </p:cNvPr>
          <p:cNvCxnSpPr>
            <a:cxnSpLocks/>
          </p:cNvCxnSpPr>
          <p:nvPr/>
        </p:nvCxnSpPr>
        <p:spPr>
          <a:xfrm>
            <a:off x="6330232" y="3411345"/>
            <a:ext cx="14653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58C32282-BA99-4423-84FD-37B294580508}"/>
              </a:ext>
            </a:extLst>
          </p:cNvPr>
          <p:cNvCxnSpPr>
            <a:cxnSpLocks/>
          </p:cNvCxnSpPr>
          <p:nvPr/>
        </p:nvCxnSpPr>
        <p:spPr>
          <a:xfrm flipH="1">
            <a:off x="6314329" y="3759310"/>
            <a:ext cx="1465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22908BAD-6012-49E6-84FF-603D6AAE666B}"/>
              </a:ext>
            </a:extLst>
          </p:cNvPr>
          <p:cNvCxnSpPr>
            <a:cxnSpLocks/>
          </p:cNvCxnSpPr>
          <p:nvPr/>
        </p:nvCxnSpPr>
        <p:spPr>
          <a:xfrm>
            <a:off x="6314327" y="4435170"/>
            <a:ext cx="29307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C9368A8C-9217-4BCF-BAA3-AE69B4501831}"/>
              </a:ext>
            </a:extLst>
          </p:cNvPr>
          <p:cNvCxnSpPr>
            <a:cxnSpLocks/>
          </p:cNvCxnSpPr>
          <p:nvPr/>
        </p:nvCxnSpPr>
        <p:spPr>
          <a:xfrm flipH="1">
            <a:off x="6314328" y="5037981"/>
            <a:ext cx="293071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6E602277-7656-4A3A-9580-A911BD8BBFD4}"/>
              </a:ext>
            </a:extLst>
          </p:cNvPr>
          <p:cNvCxnSpPr>
            <a:cxnSpLocks/>
          </p:cNvCxnSpPr>
          <p:nvPr/>
        </p:nvCxnSpPr>
        <p:spPr>
          <a:xfrm flipV="1">
            <a:off x="6324930" y="5598191"/>
            <a:ext cx="1465360" cy="10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077CCCC3-DEDC-4EFA-B7B4-99EE80F50066}"/>
              </a:ext>
            </a:extLst>
          </p:cNvPr>
          <p:cNvSpPr txBox="1"/>
          <p:nvPr/>
        </p:nvSpPr>
        <p:spPr>
          <a:xfrm>
            <a:off x="4910753" y="2954453"/>
            <a:ext cx="9384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800" dirty="0"/>
              <a:t>提交 </a:t>
            </a:r>
            <a:r>
              <a:rPr lang="en-US" altLang="zh-TW" sz="800" dirty="0"/>
              <a:t>user prompt </a:t>
            </a:r>
            <a:endParaRPr lang="zh-TW" altLang="en-US" sz="800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7D674DD-63CB-449E-9286-F29AF997FF51}"/>
              </a:ext>
            </a:extLst>
          </p:cNvPr>
          <p:cNvSpPr/>
          <p:nvPr/>
        </p:nvSpPr>
        <p:spPr>
          <a:xfrm>
            <a:off x="2451321" y="1616101"/>
            <a:ext cx="1240403" cy="5088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USER</a:t>
            </a:r>
            <a:endParaRPr lang="zh-TW" altLang="en-US" dirty="0"/>
          </a:p>
        </p:txBody>
      </p: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AC2C7833-7F95-45BA-9B4B-DBFAD91813D8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3071523" y="2124985"/>
            <a:ext cx="0" cy="441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>
            <a:extLst>
              <a:ext uri="{FF2B5EF4-FFF2-40B4-BE49-F238E27FC236}">
                <a16:creationId xmlns:a16="http://schemas.microsoft.com/office/drawing/2014/main" id="{B5ABC8FE-A78F-42A7-A06B-C1D6A4D73BEB}"/>
              </a:ext>
            </a:extLst>
          </p:cNvPr>
          <p:cNvCxnSpPr>
            <a:cxnSpLocks/>
          </p:cNvCxnSpPr>
          <p:nvPr/>
        </p:nvCxnSpPr>
        <p:spPr>
          <a:xfrm>
            <a:off x="3071522" y="2806580"/>
            <a:ext cx="1465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7FBE0164-CAC9-41A1-93D1-2514D64A71DC}"/>
              </a:ext>
            </a:extLst>
          </p:cNvPr>
          <p:cNvSpPr txBox="1"/>
          <p:nvPr/>
        </p:nvSpPr>
        <p:spPr>
          <a:xfrm>
            <a:off x="3334989" y="2606050"/>
            <a:ext cx="74436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800" dirty="0"/>
              <a:t> 輸入 </a:t>
            </a:r>
            <a:r>
              <a:rPr lang="en-US" altLang="zh-TW" sz="800" dirty="0"/>
              <a:t>prompt </a:t>
            </a:r>
            <a:endParaRPr lang="zh-TW" altLang="en-US" sz="8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A8A53F8-2E29-4F1F-B502-097F3956D777}"/>
              </a:ext>
            </a:extLst>
          </p:cNvPr>
          <p:cNvSpPr txBox="1"/>
          <p:nvPr/>
        </p:nvSpPr>
        <p:spPr>
          <a:xfrm>
            <a:off x="6547567" y="3783323"/>
            <a:ext cx="930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/>
              <a:t>依照 </a:t>
            </a:r>
            <a:r>
              <a:rPr lang="en-US" altLang="zh-TW" sz="800" dirty="0"/>
              <a:t>user </a:t>
            </a:r>
            <a:r>
              <a:rPr lang="zh-TW" altLang="en-US" sz="800" dirty="0"/>
              <a:t>提出問題 </a:t>
            </a:r>
            <a:r>
              <a:rPr lang="en-US" altLang="zh-TW" sz="800" dirty="0"/>
              <a:t>, </a:t>
            </a:r>
            <a:r>
              <a:rPr lang="zh-TW" altLang="en-US" sz="800" dirty="0"/>
              <a:t>回傳需要調用之工具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680B6DC-2795-46DB-A410-500F51ADEBEF}"/>
              </a:ext>
            </a:extLst>
          </p:cNvPr>
          <p:cNvSpPr txBox="1"/>
          <p:nvPr/>
        </p:nvSpPr>
        <p:spPr>
          <a:xfrm>
            <a:off x="7314536" y="4269000"/>
            <a:ext cx="11504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/>
              <a:t>調用 </a:t>
            </a:r>
            <a:r>
              <a:rPr lang="en-US" altLang="zh-TW" sz="800" dirty="0" err="1"/>
              <a:t>llm</a:t>
            </a:r>
            <a:r>
              <a:rPr lang="en-US" altLang="zh-TW" sz="800" dirty="0"/>
              <a:t> </a:t>
            </a:r>
            <a:r>
              <a:rPr lang="zh-TW" altLang="en-US" sz="800" dirty="0"/>
              <a:t>指定之工具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F1F7DBB-F4C3-4D5B-8007-C87162355F16}"/>
              </a:ext>
            </a:extLst>
          </p:cNvPr>
          <p:cNvSpPr txBox="1"/>
          <p:nvPr/>
        </p:nvSpPr>
        <p:spPr>
          <a:xfrm>
            <a:off x="7369863" y="4839837"/>
            <a:ext cx="11504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/>
              <a:t>工具執行與回傳結果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065326D-23A7-4363-96DB-C0C806799CC4}"/>
              </a:ext>
            </a:extLst>
          </p:cNvPr>
          <p:cNvSpPr txBox="1"/>
          <p:nvPr/>
        </p:nvSpPr>
        <p:spPr>
          <a:xfrm>
            <a:off x="6479732" y="5236126"/>
            <a:ext cx="1150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/>
              <a:t>將工具調用結果當作 </a:t>
            </a:r>
            <a:r>
              <a:rPr lang="en-US" altLang="zh-TW" sz="800" dirty="0"/>
              <a:t>prompt</a:t>
            </a:r>
            <a:r>
              <a:rPr lang="zh-TW" altLang="en-US" sz="800" dirty="0"/>
              <a:t> 提交 </a:t>
            </a:r>
            <a:r>
              <a:rPr lang="en-US" altLang="zh-TW" sz="800" dirty="0" err="1"/>
              <a:t>llm</a:t>
            </a:r>
            <a:r>
              <a:rPr lang="en-US" altLang="zh-TW" sz="800" dirty="0"/>
              <a:t> </a:t>
            </a:r>
            <a:endParaRPr lang="zh-TW" altLang="en-US" sz="800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6210E782-F198-432D-9FF3-637AD05CE455}"/>
              </a:ext>
            </a:extLst>
          </p:cNvPr>
          <p:cNvCxnSpPr>
            <a:cxnSpLocks/>
          </p:cNvCxnSpPr>
          <p:nvPr/>
        </p:nvCxnSpPr>
        <p:spPr>
          <a:xfrm flipH="1">
            <a:off x="6324930" y="5936745"/>
            <a:ext cx="14388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3D37204-6609-4AC3-B4B4-3B16724844E5}"/>
              </a:ext>
            </a:extLst>
          </p:cNvPr>
          <p:cNvSpPr txBox="1"/>
          <p:nvPr/>
        </p:nvSpPr>
        <p:spPr>
          <a:xfrm>
            <a:off x="6487683" y="5733326"/>
            <a:ext cx="11504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/>
              <a:t>回傳結果</a:t>
            </a:r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A5A91735-4D49-4669-9A90-989CCFD5232E}"/>
              </a:ext>
            </a:extLst>
          </p:cNvPr>
          <p:cNvCxnSpPr>
            <a:cxnSpLocks/>
          </p:cNvCxnSpPr>
          <p:nvPr/>
        </p:nvCxnSpPr>
        <p:spPr>
          <a:xfrm flipH="1">
            <a:off x="4536882" y="6120950"/>
            <a:ext cx="17774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6D9EA55-0AB9-42D5-B478-6D8236506A78}"/>
              </a:ext>
            </a:extLst>
          </p:cNvPr>
          <p:cNvSpPr txBox="1"/>
          <p:nvPr/>
        </p:nvSpPr>
        <p:spPr>
          <a:xfrm>
            <a:off x="4825695" y="5843374"/>
            <a:ext cx="11504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/>
              <a:t>顯示結果</a:t>
            </a:r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18C2792C-7CCB-45D3-B9D3-E96F020CE54F}"/>
              </a:ext>
            </a:extLst>
          </p:cNvPr>
          <p:cNvCxnSpPr>
            <a:cxnSpLocks/>
          </p:cNvCxnSpPr>
          <p:nvPr/>
        </p:nvCxnSpPr>
        <p:spPr>
          <a:xfrm flipH="1">
            <a:off x="3071522" y="6273350"/>
            <a:ext cx="1486068" cy="3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B353BF4-BBD3-4C51-B53C-8CAAD09068FC}"/>
              </a:ext>
            </a:extLst>
          </p:cNvPr>
          <p:cNvSpPr txBox="1"/>
          <p:nvPr/>
        </p:nvSpPr>
        <p:spPr>
          <a:xfrm>
            <a:off x="3386426" y="6061599"/>
            <a:ext cx="11504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/>
              <a:t>看到結果</a:t>
            </a:r>
          </a:p>
        </p:txBody>
      </p:sp>
    </p:spTree>
    <p:extLst>
      <p:ext uri="{BB962C8B-B14F-4D97-AF65-F5344CB8AC3E}">
        <p14:creationId xmlns:p14="http://schemas.microsoft.com/office/powerpoint/2010/main" val="3613621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38C4A6-677F-4662-81AA-2F109CA8A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8057"/>
          </a:xfrm>
        </p:spPr>
        <p:txBody>
          <a:bodyPr/>
          <a:lstStyle/>
          <a:p>
            <a:r>
              <a:rPr lang="en-US" altLang="zh-TW" dirty="0">
                <a:latin typeface="+mj-ea"/>
              </a:rPr>
              <a:t>MCP</a:t>
            </a:r>
            <a:r>
              <a:rPr lang="zh-TW" altLang="en-US" dirty="0">
                <a:latin typeface="+mj-ea"/>
              </a:rPr>
              <a:t> </a:t>
            </a:r>
            <a:r>
              <a:rPr lang="en-US" altLang="zh-TW" dirty="0">
                <a:latin typeface="+mj-ea"/>
              </a:rPr>
              <a:t>java </a:t>
            </a:r>
            <a:r>
              <a:rPr lang="en-US" altLang="zh-TW" dirty="0" err="1">
                <a:latin typeface="+mj-ea"/>
              </a:rPr>
              <a:t>sdk</a:t>
            </a:r>
            <a:r>
              <a:rPr lang="en-US" altLang="zh-TW" dirty="0">
                <a:latin typeface="+mj-ea"/>
              </a:rPr>
              <a:t> </a:t>
            </a:r>
            <a:endParaRPr lang="zh-TW" altLang="en-US" dirty="0">
              <a:latin typeface="+mj-ea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21F2EC1-6711-4511-B5D6-73F9FCE91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69" y="3429000"/>
            <a:ext cx="5273040" cy="882716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0E111B1D-4E9A-48F0-B759-890AFE8C8C0B}"/>
              </a:ext>
            </a:extLst>
          </p:cNvPr>
          <p:cNvSpPr txBox="1"/>
          <p:nvPr/>
        </p:nvSpPr>
        <p:spPr>
          <a:xfrm>
            <a:off x="838200" y="1369676"/>
            <a:ext cx="32756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+mn-ea"/>
              </a:rPr>
              <a:t>MCP </a:t>
            </a:r>
            <a:r>
              <a:rPr lang="zh-TW" altLang="en-US" dirty="0">
                <a:latin typeface="+mn-ea"/>
              </a:rPr>
              <a:t>官方有提供 </a:t>
            </a:r>
            <a:r>
              <a:rPr lang="en-US" altLang="zh-TW" dirty="0">
                <a:latin typeface="+mn-ea"/>
                <a:hlinkClick r:id="rId3"/>
              </a:rPr>
              <a:t>java </a:t>
            </a:r>
            <a:r>
              <a:rPr lang="en-US" altLang="zh-TW" dirty="0" err="1">
                <a:latin typeface="+mn-ea"/>
                <a:hlinkClick r:id="rId3"/>
              </a:rPr>
              <a:t>sdk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,</a:t>
            </a:r>
          </a:p>
          <a:p>
            <a:r>
              <a:rPr lang="en-US" altLang="zh-TW" dirty="0">
                <a:latin typeface="+mn-ea"/>
              </a:rPr>
              <a:t>spring boot </a:t>
            </a:r>
            <a:r>
              <a:rPr lang="zh-TW" altLang="en-US" dirty="0">
                <a:latin typeface="+mn-ea"/>
              </a:rPr>
              <a:t>官方對其進行包裝</a:t>
            </a:r>
            <a:endParaRPr lang="en-US" altLang="zh-TW" dirty="0">
              <a:latin typeface="+mn-ea"/>
            </a:endParaRPr>
          </a:p>
          <a:p>
            <a:r>
              <a:rPr lang="zh-TW" altLang="en-US" dirty="0">
                <a:latin typeface="+mn-ea"/>
              </a:rPr>
              <a:t>提供 </a:t>
            </a:r>
            <a:r>
              <a:rPr lang="en-US" altLang="zh-TW" dirty="0">
                <a:latin typeface="+mn-ea"/>
                <a:hlinkClick r:id="rId4"/>
              </a:rPr>
              <a:t>MCP client</a:t>
            </a:r>
            <a:r>
              <a:rPr lang="en-US" altLang="zh-TW" dirty="0">
                <a:latin typeface="+mn-ea"/>
              </a:rPr>
              <a:t> &amp; </a:t>
            </a:r>
            <a:r>
              <a:rPr lang="en-US" altLang="zh-TW" dirty="0">
                <a:latin typeface="+mn-ea"/>
                <a:hlinkClick r:id="rId5"/>
              </a:rPr>
              <a:t>MCP server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starter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41706BE2-2589-4CC5-A47F-722F1F5AB5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63" y="5064455"/>
            <a:ext cx="5273040" cy="847737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2C2C78E8-4471-489E-B647-44E33926F875}"/>
              </a:ext>
            </a:extLst>
          </p:cNvPr>
          <p:cNvSpPr txBox="1"/>
          <p:nvPr/>
        </p:nvSpPr>
        <p:spPr>
          <a:xfrm>
            <a:off x="5836920" y="1459673"/>
            <a:ext cx="5516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+mn-ea"/>
              </a:rPr>
              <a:t>目前發現 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spring boot 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提供之 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starter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 擴充性差 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, 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導致有些功能需覆蓋 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starter 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原始碼才可達到 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, 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期望未來能改善</a:t>
            </a:r>
            <a:endParaRPr lang="en-US" altLang="zh-TW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90B75C-9F89-464E-A9B3-36A5B19FCE72}"/>
              </a:ext>
            </a:extLst>
          </p:cNvPr>
          <p:cNvSpPr txBox="1"/>
          <p:nvPr/>
        </p:nvSpPr>
        <p:spPr>
          <a:xfrm>
            <a:off x="6436126" y="2730056"/>
            <a:ext cx="31805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spring ai </a:t>
            </a:r>
            <a:r>
              <a:rPr lang="en-US" altLang="zh-TW" dirty="0" err="1">
                <a:latin typeface="+mn-ea"/>
              </a:rPr>
              <a:t>mcp</a:t>
            </a:r>
            <a:r>
              <a:rPr lang="en-US" altLang="zh-TW" dirty="0">
                <a:latin typeface="+mn-ea"/>
              </a:rPr>
              <a:t> client </a:t>
            </a:r>
            <a:r>
              <a:rPr lang="zh-TW" altLang="en-US" dirty="0">
                <a:latin typeface="+mn-ea"/>
              </a:rPr>
              <a:t>官方範例</a:t>
            </a:r>
            <a:r>
              <a:rPr lang="en-US" altLang="zh-TW" dirty="0">
                <a:latin typeface="+mn-ea"/>
              </a:rPr>
              <a:t>: </a:t>
            </a:r>
            <a:r>
              <a:rPr lang="en-US" altLang="zh-TW" dirty="0">
                <a:latin typeface="+mn-ea"/>
                <a:hlinkClick r:id="rId7"/>
              </a:rPr>
              <a:t>https://github.com/spring-projects/spring-ai-examples/tree/main/model-context-protocol/client-starter/starter-default-client</a:t>
            </a:r>
            <a:endParaRPr lang="en-US" altLang="zh-TW" dirty="0">
              <a:latin typeface="+mn-ea"/>
            </a:endParaRPr>
          </a:p>
          <a:p>
            <a:endParaRPr lang="zh-TW" altLang="en-US" dirty="0">
              <a:latin typeface="+mn-ea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0D0C510-BDA0-4493-A27C-0EB6EF4F8DAF}"/>
              </a:ext>
            </a:extLst>
          </p:cNvPr>
          <p:cNvSpPr txBox="1"/>
          <p:nvPr/>
        </p:nvSpPr>
        <p:spPr>
          <a:xfrm>
            <a:off x="6436126" y="4912808"/>
            <a:ext cx="35245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+mn-ea"/>
              </a:rPr>
              <a:t>spring ai </a:t>
            </a:r>
            <a:r>
              <a:rPr lang="en-US" altLang="zh-TW" dirty="0" err="1">
                <a:latin typeface="+mn-ea"/>
              </a:rPr>
              <a:t>mcp</a:t>
            </a:r>
            <a:r>
              <a:rPr lang="en-US" altLang="zh-TW" dirty="0">
                <a:latin typeface="+mn-ea"/>
              </a:rPr>
              <a:t> server </a:t>
            </a:r>
            <a:r>
              <a:rPr lang="zh-TW" altLang="en-US" dirty="0">
                <a:latin typeface="+mn-ea"/>
              </a:rPr>
              <a:t>官方範例</a:t>
            </a:r>
            <a:r>
              <a:rPr lang="en-US" altLang="zh-TW" dirty="0">
                <a:latin typeface="+mn-ea"/>
              </a:rPr>
              <a:t>:</a:t>
            </a:r>
          </a:p>
          <a:p>
            <a:r>
              <a:rPr lang="en-US" altLang="zh-TW" dirty="0">
                <a:latin typeface="+mn-ea"/>
                <a:hlinkClick r:id="rId8"/>
              </a:rPr>
              <a:t>https://github.com/spring-projects/spring-ai-examples/tree/main/model-context-protocol/weather/starter-webflux-server</a:t>
            </a:r>
            <a:endParaRPr lang="en-US" altLang="zh-TW" dirty="0">
              <a:latin typeface="+mn-ea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0376B3B-814C-4539-8189-C4329CE43ADB}"/>
              </a:ext>
            </a:extLst>
          </p:cNvPr>
          <p:cNvSpPr txBox="1"/>
          <p:nvPr/>
        </p:nvSpPr>
        <p:spPr>
          <a:xfrm>
            <a:off x="305463" y="2798870"/>
            <a:ext cx="2922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+mn-ea"/>
              </a:rPr>
              <a:t>maven pom dependency </a:t>
            </a:r>
            <a:r>
              <a:rPr lang="zh-TW" altLang="en-US" dirty="0">
                <a:latin typeface="+mn-ea"/>
              </a:rPr>
              <a:t>如下</a:t>
            </a:r>
            <a:r>
              <a:rPr lang="en-US" altLang="zh-TW" dirty="0">
                <a:latin typeface="+mn-ea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773809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800DFB-4A56-451F-8657-0D71CD5E9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MCP server debug </a:t>
            </a:r>
            <a:r>
              <a:rPr lang="zh-TW" altLang="en-US" dirty="0">
                <a:latin typeface="+mj-ea"/>
              </a:rPr>
              <a:t>工具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A71547-C60C-4ECF-8B4C-666796C5D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95908" cy="2489200"/>
          </a:xfrm>
        </p:spPr>
        <p:txBody>
          <a:bodyPr>
            <a:noAutofit/>
          </a:bodyPr>
          <a:lstStyle/>
          <a:p>
            <a:r>
              <a:rPr lang="en-US" altLang="zh-TW" sz="1800" dirty="0">
                <a:latin typeface="+mn-ea"/>
              </a:rPr>
              <a:t>MCP </a:t>
            </a:r>
            <a:r>
              <a:rPr lang="zh-TW" altLang="en-US" sz="1800" dirty="0">
                <a:latin typeface="+mn-ea"/>
              </a:rPr>
              <a:t>官方文件提供之 </a:t>
            </a:r>
            <a:r>
              <a:rPr lang="en-US" altLang="zh-TW" sz="1800" dirty="0" err="1">
                <a:latin typeface="+mn-ea"/>
              </a:rPr>
              <a:t>github</a:t>
            </a:r>
            <a:r>
              <a:rPr lang="en-US" altLang="zh-TW" sz="1800" dirty="0">
                <a:latin typeface="+mn-ea"/>
              </a:rPr>
              <a:t> </a:t>
            </a:r>
            <a:r>
              <a:rPr lang="zh-TW" altLang="en-US" sz="1800" dirty="0">
                <a:latin typeface="+mn-ea"/>
              </a:rPr>
              <a:t>工具連結</a:t>
            </a:r>
            <a:r>
              <a:rPr lang="en-US" altLang="zh-TW" sz="1800" dirty="0">
                <a:latin typeface="+mn-ea"/>
              </a:rPr>
              <a:t>: </a:t>
            </a:r>
            <a:r>
              <a:rPr lang="en-US" altLang="zh-TW" sz="1800" dirty="0">
                <a:latin typeface="+mn-ea"/>
                <a:hlinkClick r:id="rId2"/>
              </a:rPr>
              <a:t>https://github.com/modelcontextprotocol/inspector</a:t>
            </a:r>
            <a:endParaRPr lang="en-US" altLang="zh-TW" sz="1800" dirty="0">
              <a:latin typeface="+mn-ea"/>
            </a:endParaRPr>
          </a:p>
          <a:p>
            <a:r>
              <a:rPr lang="zh-TW" altLang="en-US" sz="1800" dirty="0">
                <a:latin typeface="+mn-ea"/>
              </a:rPr>
              <a:t>模擬 </a:t>
            </a:r>
            <a:r>
              <a:rPr lang="en-US" altLang="zh-TW" sz="1800" dirty="0">
                <a:latin typeface="+mn-ea"/>
              </a:rPr>
              <a:t>MCP client </a:t>
            </a:r>
            <a:r>
              <a:rPr lang="zh-TW" altLang="en-US" sz="1800" dirty="0">
                <a:latin typeface="+mn-ea"/>
              </a:rPr>
              <a:t>與</a:t>
            </a:r>
            <a:r>
              <a:rPr lang="zh-TW" altLang="en-US" sz="1800" dirty="0">
                <a:solidFill>
                  <a:schemeClr val="accent1"/>
                </a:solidFill>
                <a:latin typeface="+mn-ea"/>
              </a:rPr>
              <a:t>目標 </a:t>
            </a:r>
            <a:r>
              <a:rPr lang="en-US" altLang="zh-TW" sz="1800" dirty="0">
                <a:solidFill>
                  <a:schemeClr val="accent1"/>
                </a:solidFill>
                <a:latin typeface="+mn-ea"/>
              </a:rPr>
              <a:t>MCP</a:t>
            </a:r>
            <a:r>
              <a:rPr lang="zh-TW" altLang="en-US" sz="1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en-US" altLang="zh-TW" sz="1800" dirty="0">
                <a:solidFill>
                  <a:schemeClr val="accent1"/>
                </a:solidFill>
                <a:latin typeface="+mn-ea"/>
              </a:rPr>
              <a:t>server </a:t>
            </a:r>
            <a:r>
              <a:rPr lang="zh-TW" altLang="en-US" sz="1800" dirty="0">
                <a:latin typeface="+mn-ea"/>
              </a:rPr>
              <a:t>串接</a:t>
            </a:r>
            <a:endParaRPr lang="en-US" altLang="zh-TW" sz="1800" dirty="0">
              <a:latin typeface="+mn-ea"/>
            </a:endParaRPr>
          </a:p>
          <a:p>
            <a:r>
              <a:rPr lang="zh-TW" altLang="en-US" sz="1800" dirty="0">
                <a:latin typeface="+mn-ea"/>
              </a:rPr>
              <a:t>提供 </a:t>
            </a:r>
            <a:r>
              <a:rPr lang="en-US" altLang="zh-TW" sz="1800" dirty="0">
                <a:solidFill>
                  <a:schemeClr val="accent1"/>
                </a:solidFill>
                <a:latin typeface="+mn-ea"/>
              </a:rPr>
              <a:t>web </a:t>
            </a:r>
            <a:r>
              <a:rPr lang="en-US" altLang="zh-TW" sz="1800" dirty="0" err="1">
                <a:solidFill>
                  <a:schemeClr val="accent1"/>
                </a:solidFill>
                <a:latin typeface="+mn-ea"/>
              </a:rPr>
              <a:t>ui</a:t>
            </a:r>
            <a:r>
              <a:rPr lang="en-US" altLang="zh-TW" sz="1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zh-TW" altLang="en-US" sz="1800" dirty="0">
                <a:latin typeface="+mn-ea"/>
              </a:rPr>
              <a:t>供填入 </a:t>
            </a:r>
            <a:r>
              <a:rPr lang="en-US" altLang="zh-TW" sz="1800" dirty="0">
                <a:solidFill>
                  <a:schemeClr val="accent1"/>
                </a:solidFill>
                <a:latin typeface="+mn-ea"/>
              </a:rPr>
              <a:t>MCP server </a:t>
            </a:r>
            <a:r>
              <a:rPr lang="zh-TW" altLang="en-US" sz="1800" dirty="0">
                <a:solidFill>
                  <a:schemeClr val="accent1"/>
                </a:solidFill>
                <a:latin typeface="+mn-ea"/>
              </a:rPr>
              <a:t>串接資訊</a:t>
            </a:r>
            <a:endParaRPr lang="en-US" altLang="zh-TW" sz="1800" dirty="0">
              <a:solidFill>
                <a:schemeClr val="accent1"/>
              </a:solidFill>
              <a:latin typeface="+mn-ea"/>
            </a:endParaRPr>
          </a:p>
          <a:p>
            <a:r>
              <a:rPr lang="zh-TW" altLang="en-US" sz="1800" dirty="0">
                <a:latin typeface="+mn-ea"/>
              </a:rPr>
              <a:t>可</a:t>
            </a:r>
            <a:r>
              <a:rPr lang="zh-TW" altLang="en-US" sz="1800" dirty="0">
                <a:solidFill>
                  <a:schemeClr val="accent1"/>
                </a:solidFill>
                <a:latin typeface="+mn-ea"/>
              </a:rPr>
              <a:t>直接調用 </a:t>
            </a:r>
            <a:r>
              <a:rPr lang="en-US" altLang="zh-TW" sz="1800" dirty="0">
                <a:solidFill>
                  <a:schemeClr val="accent1"/>
                </a:solidFill>
                <a:latin typeface="+mn-ea"/>
              </a:rPr>
              <a:t>MCP server </a:t>
            </a:r>
            <a:r>
              <a:rPr lang="zh-TW" altLang="en-US" sz="1800" dirty="0">
                <a:latin typeface="+mn-ea"/>
              </a:rPr>
              <a:t>可用</a:t>
            </a:r>
            <a:r>
              <a:rPr lang="zh-TW" altLang="en-US" sz="1800" dirty="0">
                <a:solidFill>
                  <a:schemeClr val="accent1"/>
                </a:solidFill>
                <a:latin typeface="+mn-ea"/>
              </a:rPr>
              <a:t>工具</a:t>
            </a:r>
            <a:r>
              <a:rPr lang="zh-TW" altLang="en-US" sz="1800" dirty="0">
                <a:latin typeface="+mn-ea"/>
              </a:rPr>
              <a:t> </a:t>
            </a:r>
            <a:r>
              <a:rPr lang="en-US" altLang="zh-TW" sz="1800" dirty="0">
                <a:latin typeface="+mn-ea"/>
              </a:rPr>
              <a:t>,</a:t>
            </a:r>
            <a:r>
              <a:rPr lang="zh-TW" altLang="en-US" sz="1800" dirty="0">
                <a:latin typeface="+mn-ea"/>
              </a:rPr>
              <a:t> 並傳入</a:t>
            </a:r>
            <a:r>
              <a:rPr lang="zh-TW" altLang="en-US" sz="1800" dirty="0">
                <a:solidFill>
                  <a:schemeClr val="accent1"/>
                </a:solidFill>
                <a:latin typeface="+mn-ea"/>
              </a:rPr>
              <a:t>工具需要之參數</a:t>
            </a:r>
            <a:endParaRPr lang="en-US" altLang="zh-TW" sz="1800" dirty="0">
              <a:solidFill>
                <a:schemeClr val="accent1"/>
              </a:solidFill>
              <a:latin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0616D5-9462-4E32-9F1A-CD0B02243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286" y="3070225"/>
            <a:ext cx="4466295" cy="235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44D2837-FE9C-4226-B145-68554BCF5503}"/>
              </a:ext>
            </a:extLst>
          </p:cNvPr>
          <p:cNvSpPr txBox="1"/>
          <p:nvPr/>
        </p:nvSpPr>
        <p:spPr>
          <a:xfrm>
            <a:off x="838200" y="4314825"/>
            <a:ext cx="355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+mn-ea"/>
              </a:rPr>
              <a:t>MCP server 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建議用 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debug 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模式啟動 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, 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方便進行程式 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debug</a:t>
            </a:r>
            <a:endParaRPr lang="zh-TW" altLang="en-US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10F1EB3-9D99-463A-B9B1-A3FA15C5A193}"/>
              </a:ext>
            </a:extLst>
          </p:cNvPr>
          <p:cNvSpPr txBox="1"/>
          <p:nvPr/>
        </p:nvSpPr>
        <p:spPr>
          <a:xfrm>
            <a:off x="5699760" y="1825625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n-ea"/>
              </a:rPr>
              <a:t>啟動指令</a:t>
            </a:r>
            <a:r>
              <a:rPr lang="en-US" altLang="zh-TW" dirty="0">
                <a:latin typeface="+mn-ea"/>
              </a:rPr>
              <a:t>: </a:t>
            </a:r>
          </a:p>
          <a:p>
            <a:r>
              <a:rPr lang="en-US" altLang="zh-TW" dirty="0" err="1">
                <a:latin typeface="+mn-ea"/>
              </a:rPr>
              <a:t>npx</a:t>
            </a:r>
            <a:r>
              <a:rPr lang="en-US" altLang="zh-TW" dirty="0">
                <a:latin typeface="+mn-ea"/>
              </a:rPr>
              <a:t> @modelcontextprotocol/inspector</a:t>
            </a:r>
            <a:endParaRPr lang="zh-TW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79578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BA3354-2289-48F5-AF29-3B2194EF5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</a:rPr>
              <a:t>選擇與 </a:t>
            </a:r>
            <a:r>
              <a:rPr lang="en-US" altLang="zh-TW" dirty="0" err="1">
                <a:latin typeface="+mj-ea"/>
              </a:rPr>
              <a:t>kong</a:t>
            </a:r>
            <a:r>
              <a:rPr lang="en-US" altLang="zh-TW" dirty="0">
                <a:latin typeface="+mj-ea"/>
              </a:rPr>
              <a:t> </a:t>
            </a:r>
            <a:r>
              <a:rPr lang="zh-TW" altLang="en-US" dirty="0">
                <a:latin typeface="+mj-ea"/>
              </a:rPr>
              <a:t>整合原因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EAB0ED-79FF-470E-8877-57DDD013E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FF0000"/>
                </a:solidFill>
                <a:latin typeface="+mn-ea"/>
              </a:rPr>
              <a:t>公司</a:t>
            </a:r>
            <a:r>
              <a:rPr lang="zh-TW" altLang="en-US" dirty="0">
                <a:latin typeface="+mn-ea"/>
              </a:rPr>
              <a:t>身為 </a:t>
            </a:r>
            <a:r>
              <a:rPr lang="en-US" altLang="zh-TW" dirty="0" err="1">
                <a:solidFill>
                  <a:srgbClr val="FF0000"/>
                </a:solidFill>
                <a:latin typeface="+mn-ea"/>
              </a:rPr>
              <a:t>kong</a:t>
            </a:r>
            <a:r>
              <a:rPr lang="en-US" altLang="zh-TW" dirty="0">
                <a:solidFill>
                  <a:srgbClr val="FF0000"/>
                </a:solidFill>
                <a:latin typeface="+mn-ea"/>
              </a:rPr>
              <a:t> </a:t>
            </a:r>
            <a:r>
              <a:rPr lang="zh-TW" altLang="en-US" dirty="0">
                <a:solidFill>
                  <a:srgbClr val="FF0000"/>
                </a:solidFill>
                <a:latin typeface="+mn-ea"/>
              </a:rPr>
              <a:t>代理商 </a:t>
            </a:r>
            <a:r>
              <a:rPr lang="en-US" altLang="zh-TW" dirty="0">
                <a:latin typeface="+mn-ea"/>
              </a:rPr>
              <a:t>, </a:t>
            </a:r>
            <a:r>
              <a:rPr lang="zh-TW" altLang="en-US" dirty="0">
                <a:latin typeface="+mn-ea"/>
              </a:rPr>
              <a:t>提高產品附加價值 </a:t>
            </a:r>
            <a:r>
              <a:rPr lang="en-US" altLang="zh-TW" dirty="0">
                <a:latin typeface="+mn-ea"/>
              </a:rPr>
              <a:t>, </a:t>
            </a:r>
            <a:r>
              <a:rPr lang="zh-TW" altLang="en-US" dirty="0">
                <a:latin typeface="+mn-ea"/>
              </a:rPr>
              <a:t>不僅能使客戶滿意 </a:t>
            </a:r>
            <a:r>
              <a:rPr lang="en-US" altLang="zh-TW" dirty="0">
                <a:latin typeface="+mn-ea"/>
              </a:rPr>
              <a:t>, </a:t>
            </a:r>
            <a:r>
              <a:rPr lang="zh-TW" altLang="en-US" dirty="0">
                <a:latin typeface="+mn-ea"/>
              </a:rPr>
              <a:t>進而讓產品更好銷售 </a:t>
            </a:r>
            <a:r>
              <a:rPr lang="en-US" altLang="zh-TW" dirty="0">
                <a:latin typeface="+mn-ea"/>
              </a:rPr>
              <a:t>, </a:t>
            </a:r>
            <a:r>
              <a:rPr lang="zh-TW" altLang="en-US" dirty="0">
                <a:latin typeface="+mn-ea"/>
              </a:rPr>
              <a:t> 創造兼贏局面</a:t>
            </a:r>
            <a:endParaRPr lang="en-US" altLang="zh-TW" dirty="0">
              <a:latin typeface="+mn-ea"/>
            </a:endParaRPr>
          </a:p>
          <a:p>
            <a:r>
              <a:rPr lang="en-US" altLang="zh-TW" dirty="0">
                <a:latin typeface="+mn-ea"/>
              </a:rPr>
              <a:t>Kong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3.10.x</a:t>
            </a:r>
            <a:r>
              <a:rPr lang="zh-TW" altLang="en-US" dirty="0">
                <a:latin typeface="+mn-ea"/>
              </a:rPr>
              <a:t> 版開始提供 </a:t>
            </a:r>
            <a:r>
              <a:rPr lang="en-US" altLang="zh-TW" dirty="0" err="1">
                <a:solidFill>
                  <a:srgbClr val="0070C0"/>
                </a:solidFill>
                <a:latin typeface="+mn-ea"/>
              </a:rPr>
              <a:t>kong</a:t>
            </a:r>
            <a:r>
              <a:rPr lang="en-US" altLang="zh-TW" dirty="0">
                <a:solidFill>
                  <a:srgbClr val="0070C0"/>
                </a:solidFill>
                <a:latin typeface="+mn-ea"/>
              </a:rPr>
              <a:t> ai gateway </a:t>
            </a:r>
            <a:r>
              <a:rPr lang="zh-TW" altLang="en-US" dirty="0">
                <a:latin typeface="+mn-ea"/>
              </a:rPr>
              <a:t>系列 </a:t>
            </a:r>
            <a:r>
              <a:rPr lang="en-US" altLang="zh-TW" dirty="0">
                <a:latin typeface="+mn-ea"/>
              </a:rPr>
              <a:t>plugin , </a:t>
            </a:r>
            <a:r>
              <a:rPr lang="zh-TW" altLang="en-US" dirty="0">
                <a:latin typeface="+mn-ea"/>
              </a:rPr>
              <a:t>有助於整合  </a:t>
            </a:r>
            <a:r>
              <a:rPr lang="en-US" altLang="zh-TW" dirty="0">
                <a:solidFill>
                  <a:srgbClr val="0070C0"/>
                </a:solidFill>
                <a:latin typeface="+mn-ea"/>
              </a:rPr>
              <a:t>AI </a:t>
            </a:r>
            <a:r>
              <a:rPr lang="zh-TW" altLang="en-US" dirty="0">
                <a:solidFill>
                  <a:srgbClr val="0070C0"/>
                </a:solidFill>
                <a:latin typeface="+mn-ea"/>
              </a:rPr>
              <a:t>應用</a:t>
            </a:r>
            <a:r>
              <a:rPr lang="zh-TW" altLang="en-US" dirty="0">
                <a:latin typeface="+mn-ea"/>
              </a:rPr>
              <a:t>與 </a:t>
            </a:r>
            <a:r>
              <a:rPr lang="en-US" altLang="zh-TW" dirty="0">
                <a:solidFill>
                  <a:srgbClr val="0070C0"/>
                </a:solidFill>
                <a:latin typeface="+mn-ea"/>
              </a:rPr>
              <a:t>LLM</a:t>
            </a:r>
          </a:p>
          <a:p>
            <a:r>
              <a:rPr lang="zh-TW" altLang="en-US" dirty="0">
                <a:latin typeface="+mn-ea"/>
              </a:rPr>
              <a:t>搭配 </a:t>
            </a:r>
            <a:r>
              <a:rPr lang="en-US" altLang="zh-TW" dirty="0" err="1">
                <a:latin typeface="+mn-ea"/>
              </a:rPr>
              <a:t>kong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既有</a:t>
            </a:r>
            <a:r>
              <a:rPr lang="zh-TW" altLang="en-US" dirty="0">
                <a:solidFill>
                  <a:srgbClr val="0070C0"/>
                </a:solidFill>
                <a:latin typeface="+mn-ea"/>
              </a:rPr>
              <a:t>身分認證與授權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plugins ,</a:t>
            </a:r>
            <a:r>
              <a:rPr lang="zh-TW" altLang="en-US" dirty="0">
                <a:latin typeface="+mn-ea"/>
              </a:rPr>
              <a:t> 確保 </a:t>
            </a:r>
            <a:r>
              <a:rPr lang="en-US" altLang="zh-TW" dirty="0">
                <a:latin typeface="+mn-ea"/>
              </a:rPr>
              <a:t>AI</a:t>
            </a:r>
            <a:r>
              <a:rPr lang="zh-TW" altLang="en-US" dirty="0">
                <a:latin typeface="+mn-ea"/>
              </a:rPr>
              <a:t> 應用與 </a:t>
            </a:r>
            <a:r>
              <a:rPr lang="en-US" altLang="zh-TW" dirty="0">
                <a:latin typeface="+mn-ea"/>
              </a:rPr>
              <a:t>LLM </a:t>
            </a:r>
            <a:r>
              <a:rPr lang="zh-TW" altLang="en-US" dirty="0">
                <a:latin typeface="+mn-ea"/>
              </a:rPr>
              <a:t>存取之</a:t>
            </a:r>
            <a:r>
              <a:rPr lang="zh-TW" altLang="en-US" dirty="0">
                <a:solidFill>
                  <a:srgbClr val="0070C0"/>
                </a:solidFill>
                <a:latin typeface="+mn-ea"/>
              </a:rPr>
              <a:t>安全性</a:t>
            </a:r>
            <a:endParaRPr lang="en-US" altLang="zh-TW" dirty="0">
              <a:solidFill>
                <a:srgbClr val="0070C0"/>
              </a:solidFill>
              <a:latin typeface="+mn-ea"/>
            </a:endParaRPr>
          </a:p>
          <a:p>
            <a:r>
              <a:rPr lang="zh-TW" altLang="en-US" dirty="0">
                <a:latin typeface="+mn-ea"/>
              </a:rPr>
              <a:t>搭配 </a:t>
            </a:r>
            <a:r>
              <a:rPr lang="en-US" altLang="zh-TW" dirty="0" err="1">
                <a:latin typeface="+mn-ea"/>
              </a:rPr>
              <a:t>kong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solidFill>
                  <a:srgbClr val="0070C0"/>
                </a:solidFill>
                <a:latin typeface="+mn-ea"/>
              </a:rPr>
              <a:t>觀測性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plugins , </a:t>
            </a:r>
            <a:r>
              <a:rPr lang="zh-TW" altLang="en-US" dirty="0">
                <a:latin typeface="+mn-ea"/>
              </a:rPr>
              <a:t>使 </a:t>
            </a:r>
            <a:r>
              <a:rPr lang="en-US" altLang="zh-TW" dirty="0">
                <a:latin typeface="+mn-ea"/>
              </a:rPr>
              <a:t>AI </a:t>
            </a:r>
            <a:r>
              <a:rPr lang="zh-TW" altLang="en-US" dirty="0">
                <a:latin typeface="+mn-ea"/>
              </a:rPr>
              <a:t>應用與 </a:t>
            </a:r>
            <a:r>
              <a:rPr lang="en-US" altLang="zh-TW" dirty="0">
                <a:latin typeface="+mn-ea"/>
              </a:rPr>
              <a:t>LLM </a:t>
            </a:r>
            <a:r>
              <a:rPr lang="zh-TW" altLang="en-US" dirty="0">
                <a:latin typeface="+mn-ea"/>
              </a:rPr>
              <a:t>可被觀測 </a:t>
            </a:r>
            <a:r>
              <a:rPr lang="en-US" altLang="zh-TW" dirty="0">
                <a:latin typeface="+mn-ea"/>
              </a:rPr>
              <a:t>, </a:t>
            </a:r>
            <a:r>
              <a:rPr lang="zh-TW" altLang="en-US" dirty="0">
                <a:latin typeface="+mn-ea"/>
              </a:rPr>
              <a:t>在問題發生時 </a:t>
            </a:r>
            <a:r>
              <a:rPr lang="en-US" altLang="zh-TW" dirty="0">
                <a:latin typeface="+mn-ea"/>
              </a:rPr>
              <a:t>, </a:t>
            </a:r>
            <a:r>
              <a:rPr lang="zh-TW" altLang="en-US" dirty="0">
                <a:latin typeface="+mn-ea"/>
              </a:rPr>
              <a:t>容易找出根因</a:t>
            </a:r>
            <a:endParaRPr lang="en-US" altLang="zh-TW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75502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7DF135-6F27-4EA7-82F2-498E8244A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Kong</a:t>
            </a:r>
            <a:r>
              <a:rPr lang="zh-TW" altLang="en-US" dirty="0"/>
              <a:t> 整合 </a:t>
            </a:r>
            <a:r>
              <a:rPr lang="en-US" altLang="zh-TW" dirty="0"/>
              <a:t>MCP </a:t>
            </a:r>
            <a:r>
              <a:rPr lang="zh-TW" altLang="en-US" dirty="0"/>
              <a:t>安全性架構圖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6D2B98B-E432-44B9-BE41-B19515728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8326" y="1690688"/>
            <a:ext cx="5386146" cy="4351338"/>
          </a:xfrm>
        </p:spPr>
      </p:pic>
    </p:spTree>
    <p:extLst>
      <p:ext uri="{BB962C8B-B14F-4D97-AF65-F5344CB8AC3E}">
        <p14:creationId xmlns:p14="http://schemas.microsoft.com/office/powerpoint/2010/main" val="1547422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2AB029-A8C2-4580-A3E1-53976B7A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Kong </a:t>
            </a:r>
            <a:r>
              <a:rPr lang="zh-TW" altLang="en-US" dirty="0"/>
              <a:t>整合 </a:t>
            </a:r>
            <a:r>
              <a:rPr lang="en-US" altLang="zh-TW" dirty="0"/>
              <a:t>MCP </a:t>
            </a:r>
            <a:r>
              <a:rPr lang="zh-TW" altLang="en-US" dirty="0"/>
              <a:t>文章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AE3425-2D69-4F06-B947-30E6EE714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https://konghq.com/blog/product-releases/securing-observing-governing-mcp-servers-with-ai-gateway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28313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C715DC-FBDE-4B36-9DDD-1BA3D3658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833" y="2724785"/>
            <a:ext cx="10515600" cy="932815"/>
          </a:xfrm>
        </p:spPr>
        <p:txBody>
          <a:bodyPr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altLang="zh-TW" sz="4400" dirty="0">
                <a:latin typeface="+mj-ea"/>
                <a:ea typeface="+mj-ea"/>
                <a:cs typeface="+mj-cs"/>
              </a:rPr>
              <a:t>Kong</a:t>
            </a:r>
            <a:endParaRPr lang="zh-TW" altLang="en-US" sz="4400" dirty="0"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12659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ED6C43-A252-4022-A33E-D9467B78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Kong </a:t>
            </a:r>
            <a:r>
              <a:rPr lang="zh-TW" altLang="en-US" dirty="0">
                <a:latin typeface="+mj-ea"/>
              </a:rPr>
              <a:t>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4EE730-5183-4C1E-9865-13708F139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b="0" i="0" dirty="0">
                <a:effectLst/>
                <a:latin typeface="+mn-ea"/>
              </a:rPr>
              <a:t>Kong Gateway </a:t>
            </a:r>
            <a:r>
              <a:rPr lang="zh-TW" altLang="en-US" b="0" i="0" dirty="0">
                <a:effectLst/>
                <a:latin typeface="+mn-ea"/>
              </a:rPr>
              <a:t>是一個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+mn-ea"/>
              </a:rPr>
              <a:t>輕量</a:t>
            </a:r>
            <a:r>
              <a:rPr lang="zh-TW" altLang="en-US" b="0" i="0" dirty="0">
                <a:effectLst/>
                <a:latin typeface="+mn-ea"/>
              </a:rPr>
              <a:t>、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+mn-ea"/>
              </a:rPr>
              <a:t>快速</a:t>
            </a:r>
            <a:r>
              <a:rPr lang="zh-TW" altLang="en-US" b="0" i="0" dirty="0">
                <a:effectLst/>
                <a:latin typeface="+mn-ea"/>
              </a:rPr>
              <a:t>且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+mn-ea"/>
              </a:rPr>
              <a:t>靈活</a:t>
            </a:r>
            <a:r>
              <a:rPr lang="zh-TW" altLang="en-US" b="0" i="0" dirty="0">
                <a:effectLst/>
                <a:latin typeface="+mn-ea"/>
              </a:rPr>
              <a:t>的雲端原生 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+mn-ea"/>
              </a:rPr>
              <a:t>API 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+mn-ea"/>
              </a:rPr>
              <a:t>閘道 </a:t>
            </a:r>
            <a:endParaRPr lang="en-US" altLang="zh-TW" b="0" i="0" dirty="0">
              <a:solidFill>
                <a:srgbClr val="0070C0"/>
              </a:solidFill>
              <a:effectLst/>
              <a:latin typeface="+mn-ea"/>
            </a:endParaRPr>
          </a:p>
          <a:p>
            <a:r>
              <a:rPr lang="en-US" altLang="zh-TW" b="0" i="0" dirty="0">
                <a:effectLst/>
                <a:latin typeface="+mn-ea"/>
              </a:rPr>
              <a:t>API </a:t>
            </a:r>
            <a:r>
              <a:rPr lang="zh-TW" altLang="en-US" b="0" i="0" dirty="0">
                <a:effectLst/>
                <a:latin typeface="+mn-ea"/>
              </a:rPr>
              <a:t>閘道是一種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+mn-ea"/>
              </a:rPr>
              <a:t>反向代理</a:t>
            </a:r>
            <a:r>
              <a:rPr lang="zh-TW" altLang="en-US" b="0" i="0" dirty="0">
                <a:effectLst/>
                <a:latin typeface="+mn-ea"/>
              </a:rPr>
              <a:t>，可讓您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+mn-ea"/>
              </a:rPr>
              <a:t>管理</a:t>
            </a:r>
            <a:r>
              <a:rPr lang="zh-TW" altLang="en-US" b="0" i="0" dirty="0">
                <a:effectLst/>
                <a:latin typeface="+mn-ea"/>
              </a:rPr>
              <a:t>、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+mn-ea"/>
              </a:rPr>
              <a:t>設定</a:t>
            </a:r>
            <a:r>
              <a:rPr lang="zh-TW" altLang="en-US" b="0" i="0" dirty="0">
                <a:effectLst/>
                <a:latin typeface="+mn-ea"/>
              </a:rPr>
              <a:t>和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+mn-ea"/>
              </a:rPr>
              <a:t>路由</a:t>
            </a:r>
            <a:r>
              <a:rPr lang="zh-TW" altLang="en-US" b="0" i="0" dirty="0">
                <a:effectLst/>
                <a:latin typeface="+mn-ea"/>
              </a:rPr>
              <a:t>到您的 </a:t>
            </a:r>
            <a:r>
              <a:rPr lang="en-US" altLang="zh-TW" b="0" i="0" dirty="0">
                <a:effectLst/>
                <a:latin typeface="+mn-ea"/>
              </a:rPr>
              <a:t>API </a:t>
            </a:r>
            <a:r>
              <a:rPr lang="zh-TW" altLang="en-US" b="0" i="0" dirty="0">
                <a:effectLst/>
                <a:latin typeface="+mn-ea"/>
              </a:rPr>
              <a:t>的請求</a:t>
            </a:r>
            <a:endParaRPr lang="en-US" altLang="zh-TW" b="0" i="0" dirty="0">
              <a:effectLst/>
              <a:latin typeface="+mn-ea"/>
            </a:endParaRPr>
          </a:p>
          <a:p>
            <a:r>
              <a:rPr lang="en-US" altLang="zh-TW" b="0" i="0" dirty="0">
                <a:effectLst/>
                <a:latin typeface="+mn-ea"/>
              </a:rPr>
              <a:t>Kong Gateway </a:t>
            </a:r>
            <a:r>
              <a:rPr lang="zh-TW" altLang="en-US" b="0" i="0" dirty="0">
                <a:effectLst/>
                <a:latin typeface="+mn-ea"/>
              </a:rPr>
              <a:t>在任何 </a:t>
            </a:r>
            <a:r>
              <a:rPr lang="en-US" altLang="zh-TW" b="0" i="0" dirty="0">
                <a:effectLst/>
                <a:latin typeface="+mn-ea"/>
              </a:rPr>
              <a:t>RESTful API </a:t>
            </a:r>
            <a:r>
              <a:rPr lang="zh-TW" altLang="en-US" b="0" i="0" dirty="0">
                <a:effectLst/>
                <a:latin typeface="+mn-ea"/>
              </a:rPr>
              <a:t>之前運行，並且可以透過模組和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+mn-ea"/>
              </a:rPr>
              <a:t>插件</a:t>
            </a:r>
            <a:r>
              <a:rPr lang="zh-TW" altLang="en-US" b="0" i="0" dirty="0">
                <a:effectLst/>
                <a:latin typeface="+mn-ea"/>
              </a:rPr>
              <a:t>進行擴充</a:t>
            </a:r>
            <a:endParaRPr lang="en-US" altLang="zh-TW" b="0" i="0" dirty="0">
              <a:effectLst/>
              <a:latin typeface="+mn-ea"/>
            </a:endParaRPr>
          </a:p>
          <a:p>
            <a:r>
              <a:rPr lang="zh-TW" altLang="en-US" b="0" i="0" dirty="0">
                <a:effectLst/>
                <a:latin typeface="+mn-ea"/>
              </a:rPr>
              <a:t>它被設計用於分散式架構上運行，包括混合雲和多雲部署</a:t>
            </a:r>
            <a:endParaRPr lang="en-US" altLang="zh-TW" b="0" i="0" dirty="0">
              <a:effectLst/>
              <a:latin typeface="+mn-ea"/>
            </a:endParaRPr>
          </a:p>
          <a:p>
            <a:r>
              <a:rPr lang="zh-TW" altLang="en-US" dirty="0">
                <a:latin typeface="+mn-ea"/>
              </a:rPr>
              <a:t>使用 </a:t>
            </a:r>
            <a:r>
              <a:rPr lang="en-US" altLang="zh-TW" dirty="0">
                <a:latin typeface="+mn-ea"/>
              </a:rPr>
              <a:t>Kong Gateway</a:t>
            </a:r>
            <a:r>
              <a:rPr lang="zh-TW" altLang="en-US" dirty="0">
                <a:latin typeface="+mn-ea"/>
              </a:rPr>
              <a:t>，使用者可以：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利用工作流程自動化和現代 </a:t>
            </a:r>
            <a:r>
              <a:rPr lang="en-US" altLang="zh-TW" dirty="0" err="1">
                <a:latin typeface="+mn-ea"/>
              </a:rPr>
              <a:t>GitOps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實踐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分散應用程式</a:t>
            </a:r>
            <a:r>
              <a:rPr lang="en-US" altLang="zh-TW" dirty="0">
                <a:latin typeface="+mn-ea"/>
              </a:rPr>
              <a:t>/</a:t>
            </a:r>
            <a:r>
              <a:rPr lang="zh-TW" altLang="en-US" dirty="0">
                <a:latin typeface="+mn-ea"/>
              </a:rPr>
              <a:t>服務並過渡到微服務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打造蓬勃發展的 </a:t>
            </a:r>
            <a:r>
              <a:rPr lang="en-US" altLang="zh-TW" dirty="0">
                <a:latin typeface="+mn-ea"/>
              </a:rPr>
              <a:t>API </a:t>
            </a:r>
            <a:r>
              <a:rPr lang="zh-TW" altLang="en-US" dirty="0">
                <a:latin typeface="+mn-ea"/>
              </a:rPr>
              <a:t>開發者生態系統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主動識別與 </a:t>
            </a:r>
            <a:r>
              <a:rPr lang="en-US" altLang="zh-TW" dirty="0">
                <a:latin typeface="+mn-ea"/>
              </a:rPr>
              <a:t>API </a:t>
            </a:r>
            <a:r>
              <a:rPr lang="zh-TW" altLang="en-US" dirty="0">
                <a:latin typeface="+mn-ea"/>
              </a:rPr>
              <a:t>相關的異常和威脅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保護和管理 </a:t>
            </a:r>
            <a:r>
              <a:rPr lang="en-US" altLang="zh-TW" dirty="0">
                <a:latin typeface="+mn-ea"/>
              </a:rPr>
              <a:t>API/</a:t>
            </a:r>
            <a:r>
              <a:rPr lang="zh-TW" altLang="en-US" dirty="0">
                <a:latin typeface="+mn-ea"/>
              </a:rPr>
              <a:t>服務，並提高整個組織的 </a:t>
            </a:r>
            <a:r>
              <a:rPr lang="en-US" altLang="zh-TW" dirty="0">
                <a:latin typeface="+mn-ea"/>
              </a:rPr>
              <a:t>API </a:t>
            </a:r>
            <a:r>
              <a:rPr lang="zh-TW" altLang="en-US" dirty="0">
                <a:latin typeface="+mn-ea"/>
              </a:rPr>
              <a:t>可見度</a:t>
            </a:r>
          </a:p>
        </p:txBody>
      </p:sp>
    </p:spTree>
    <p:extLst>
      <p:ext uri="{BB962C8B-B14F-4D97-AF65-F5344CB8AC3E}">
        <p14:creationId xmlns:p14="http://schemas.microsoft.com/office/powerpoint/2010/main" val="1531118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F404AF-69FB-4D24-A836-58A8BED6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Kong </a:t>
            </a:r>
            <a:r>
              <a:rPr lang="zh-TW" altLang="en-US" dirty="0">
                <a:latin typeface="+mj-ea"/>
              </a:rPr>
              <a:t>組件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97BCEC-B7AA-4DB0-B8EA-D2A84CD18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Workspace</a:t>
            </a:r>
            <a:r>
              <a:rPr lang="en-US" altLang="zh-TW" dirty="0">
                <a:latin typeface="+mn-ea"/>
              </a:rPr>
              <a:t>: </a:t>
            </a:r>
            <a:r>
              <a:rPr lang="zh-TW" altLang="en-US" dirty="0">
                <a:latin typeface="+mn-ea"/>
              </a:rPr>
              <a:t>邏輯上之獨立管理空間 </a:t>
            </a:r>
            <a:r>
              <a:rPr lang="en-US" altLang="zh-TW" dirty="0">
                <a:latin typeface="+mn-ea"/>
              </a:rPr>
              <a:t>, </a:t>
            </a:r>
            <a:r>
              <a:rPr lang="zh-TW" altLang="en-US" dirty="0">
                <a:latin typeface="+mn-ea"/>
              </a:rPr>
              <a:t>各自管理以下組件</a:t>
            </a:r>
            <a:endParaRPr lang="en-US" altLang="zh-TW" dirty="0">
              <a:latin typeface="+mn-ea"/>
            </a:endParaRPr>
          </a:p>
          <a:p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Service</a:t>
            </a:r>
            <a:r>
              <a:rPr lang="en-US" altLang="zh-TW" dirty="0">
                <a:latin typeface="+mn-ea"/>
              </a:rPr>
              <a:t>:</a:t>
            </a:r>
          </a:p>
          <a:p>
            <a:pPr lvl="1"/>
            <a:r>
              <a:rPr lang="zh-TW" altLang="en-US" dirty="0">
                <a:latin typeface="+mn-ea"/>
              </a:rPr>
              <a:t>實際上游服務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可想像為 </a:t>
            </a:r>
            <a:r>
              <a:rPr lang="en-US" altLang="zh-TW" dirty="0" err="1">
                <a:latin typeface="+mn-ea"/>
              </a:rPr>
              <a:t>nginx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之 </a:t>
            </a:r>
            <a:r>
              <a:rPr lang="en-US" altLang="zh-TW" dirty="0" err="1">
                <a:latin typeface="+mn-ea"/>
              </a:rPr>
              <a:t>proxy_pass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指定的值</a:t>
            </a:r>
            <a:endParaRPr lang="en-US" altLang="zh-TW" dirty="0">
              <a:latin typeface="+mn-ea"/>
            </a:endParaRPr>
          </a:p>
          <a:p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Route</a:t>
            </a:r>
            <a:r>
              <a:rPr lang="en-US" altLang="zh-TW" dirty="0">
                <a:latin typeface="+mn-ea"/>
              </a:rPr>
              <a:t>:</a:t>
            </a:r>
          </a:p>
          <a:p>
            <a:pPr lvl="1"/>
            <a:r>
              <a:rPr lang="en-US" altLang="zh-TW" dirty="0" err="1">
                <a:latin typeface="+mn-ea"/>
              </a:rPr>
              <a:t>kong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進入上游服務之入口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可想像為 </a:t>
            </a:r>
            <a:r>
              <a:rPr lang="en-US" altLang="zh-TW" dirty="0" err="1">
                <a:latin typeface="+mn-ea"/>
              </a:rPr>
              <a:t>nginx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之 </a:t>
            </a:r>
            <a:r>
              <a:rPr lang="en-US" altLang="zh-TW" dirty="0">
                <a:latin typeface="+mn-ea"/>
              </a:rPr>
              <a:t>server + location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+ </a:t>
            </a:r>
            <a:r>
              <a:rPr lang="en-US" altLang="zh-TW" dirty="0" err="1">
                <a:effectLst/>
                <a:latin typeface="+mn-ea"/>
              </a:rPr>
              <a:t>limit_except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等設定</a:t>
            </a:r>
            <a:endParaRPr lang="en-US" altLang="zh-TW" dirty="0">
              <a:latin typeface="+mn-ea"/>
            </a:endParaRPr>
          </a:p>
          <a:p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Plugin</a:t>
            </a:r>
            <a:r>
              <a:rPr lang="en-US" altLang="zh-TW" dirty="0">
                <a:latin typeface="+mn-ea"/>
              </a:rPr>
              <a:t>:</a:t>
            </a:r>
          </a:p>
          <a:p>
            <a:pPr lvl="1"/>
            <a:r>
              <a:rPr lang="zh-TW" altLang="en-US" dirty="0">
                <a:latin typeface="+mn-ea"/>
              </a:rPr>
              <a:t>進入 </a:t>
            </a:r>
            <a:r>
              <a:rPr lang="en-US" altLang="zh-TW" dirty="0" err="1">
                <a:latin typeface="+mn-ea"/>
              </a:rPr>
              <a:t>kong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上游服務前會進行之前置動作</a:t>
            </a:r>
            <a:endParaRPr lang="en-US" altLang="zh-TW" dirty="0">
              <a:latin typeface="+mn-ea"/>
            </a:endParaRPr>
          </a:p>
          <a:p>
            <a:pPr lvl="1"/>
            <a:r>
              <a:rPr lang="zh-TW" altLang="en-US" dirty="0">
                <a:latin typeface="+mn-ea"/>
              </a:rPr>
              <a:t>可綁定在 </a:t>
            </a:r>
            <a:r>
              <a:rPr lang="en-US" altLang="zh-TW" dirty="0">
                <a:latin typeface="+mn-ea"/>
              </a:rPr>
              <a:t>Service , Route , Consumer </a:t>
            </a:r>
            <a:r>
              <a:rPr lang="zh-TW" altLang="en-US" dirty="0">
                <a:latin typeface="+mn-ea"/>
              </a:rPr>
              <a:t>或全域 </a:t>
            </a:r>
            <a:r>
              <a:rPr lang="en-US" altLang="zh-TW" dirty="0">
                <a:latin typeface="+mn-ea"/>
              </a:rPr>
              <a:t>scope </a:t>
            </a:r>
          </a:p>
          <a:p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Consumer</a:t>
            </a:r>
            <a:r>
              <a:rPr lang="en-US" altLang="zh-TW" dirty="0">
                <a:latin typeface="+mn-ea"/>
              </a:rPr>
              <a:t>: </a:t>
            </a:r>
            <a:r>
              <a:rPr lang="zh-TW" altLang="en-US" dirty="0">
                <a:latin typeface="+mn-ea"/>
              </a:rPr>
              <a:t>存取 </a:t>
            </a:r>
            <a:r>
              <a:rPr lang="en-US" altLang="zh-TW" dirty="0" err="1">
                <a:latin typeface="+mn-ea"/>
              </a:rPr>
              <a:t>api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之 </a:t>
            </a:r>
            <a:r>
              <a:rPr lang="en-US" altLang="zh-TW" dirty="0">
                <a:latin typeface="+mn-ea"/>
              </a:rPr>
              <a:t>user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or </a:t>
            </a:r>
            <a:r>
              <a:rPr lang="zh-TW" altLang="en-US" dirty="0">
                <a:latin typeface="+mn-ea"/>
              </a:rPr>
              <a:t>應用</a:t>
            </a:r>
            <a:endParaRPr lang="en-US" altLang="zh-TW" dirty="0">
              <a:latin typeface="+mn-ea"/>
            </a:endParaRPr>
          </a:p>
          <a:p>
            <a:pPr lvl="1"/>
            <a:r>
              <a:rPr lang="en-US" altLang="zh-TW" dirty="0" err="1">
                <a:latin typeface="+mn-ea"/>
              </a:rPr>
              <a:t>kong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可經由身分認證 </a:t>
            </a:r>
            <a:r>
              <a:rPr lang="en-US" altLang="zh-TW" dirty="0">
                <a:latin typeface="+mn-ea"/>
              </a:rPr>
              <a:t>plugin </a:t>
            </a:r>
            <a:r>
              <a:rPr lang="zh-TW" altLang="en-US" dirty="0">
                <a:latin typeface="+mn-ea"/>
              </a:rPr>
              <a:t>判斷 </a:t>
            </a:r>
            <a:r>
              <a:rPr lang="en-US" altLang="zh-TW" dirty="0" err="1">
                <a:latin typeface="+mn-ea"/>
              </a:rPr>
              <a:t>api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存取者為哪個 </a:t>
            </a:r>
            <a:r>
              <a:rPr lang="en-US" altLang="zh-TW" dirty="0">
                <a:latin typeface="+mn-ea"/>
              </a:rPr>
              <a:t>consumer</a:t>
            </a:r>
          </a:p>
        </p:txBody>
      </p:sp>
    </p:spTree>
    <p:extLst>
      <p:ext uri="{BB962C8B-B14F-4D97-AF65-F5344CB8AC3E}">
        <p14:creationId xmlns:p14="http://schemas.microsoft.com/office/powerpoint/2010/main" val="674957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C715DC-FBDE-4B36-9DDD-1BA3D3658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833" y="2724785"/>
            <a:ext cx="10515600" cy="932815"/>
          </a:xfrm>
        </p:spPr>
        <p:txBody>
          <a:bodyPr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en-US" altLang="zh-TW" sz="4400" dirty="0">
                <a:latin typeface="+mj-ea"/>
                <a:ea typeface="+mj-ea"/>
                <a:cs typeface="+mj-cs"/>
              </a:rPr>
              <a:t>Labs</a:t>
            </a:r>
            <a:endParaRPr lang="zh-TW" altLang="en-US" sz="4400" dirty="0"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58559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E7FC90-D898-426F-8C40-D2DE20A0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Labs</a:t>
            </a:r>
            <a:r>
              <a:rPr lang="zh-TW" altLang="en-US" dirty="0">
                <a:latin typeface="+mj-ea"/>
              </a:rPr>
              <a:t> 終極目標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4F7666-3193-4837-999D-0C226497A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0" i="0" dirty="0">
                <a:effectLst/>
                <a:latin typeface="+mn-ea"/>
              </a:rPr>
              <a:t>MCP:</a:t>
            </a:r>
            <a:r>
              <a:rPr lang="zh-TW" altLang="en-US" b="0" i="0" dirty="0">
                <a:effectLst/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”</a:t>
            </a:r>
            <a:r>
              <a:rPr lang="zh-TW" altLang="en-US" dirty="0">
                <a:latin typeface="+mn-ea"/>
              </a:rPr>
              <a:t>與 </a:t>
            </a:r>
            <a:r>
              <a:rPr lang="en-US" altLang="zh-TW" dirty="0">
                <a:latin typeface="+mn-ea"/>
              </a:rPr>
              <a:t>AI </a:t>
            </a:r>
            <a:r>
              <a:rPr lang="zh-TW" altLang="en-US" dirty="0">
                <a:latin typeface="+mn-ea"/>
              </a:rPr>
              <a:t>互動管理 </a:t>
            </a:r>
            <a:r>
              <a:rPr lang="en-US" altLang="zh-TW" dirty="0" err="1">
                <a:latin typeface="+mn-ea"/>
              </a:rPr>
              <a:t>kong</a:t>
            </a:r>
            <a:r>
              <a:rPr lang="en-US" altLang="zh-TW" dirty="0">
                <a:latin typeface="+mn-ea"/>
              </a:rPr>
              <a:t>“</a:t>
            </a:r>
            <a:r>
              <a:rPr lang="zh-TW" altLang="en-US" dirty="0">
                <a:latin typeface="+mn-ea"/>
              </a:rPr>
              <a:t> </a:t>
            </a:r>
            <a:endParaRPr lang="en-US" altLang="zh-TW" dirty="0">
              <a:latin typeface="+mn-ea"/>
            </a:endParaRPr>
          </a:p>
          <a:p>
            <a:r>
              <a:rPr lang="en-US" altLang="zh-TW" dirty="0" err="1">
                <a:latin typeface="+mn-ea"/>
              </a:rPr>
              <a:t>kong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整合</a:t>
            </a:r>
            <a:r>
              <a:rPr lang="en-US" altLang="zh-TW" dirty="0">
                <a:latin typeface="+mn-ea"/>
              </a:rPr>
              <a:t>:</a:t>
            </a:r>
          </a:p>
          <a:p>
            <a:pPr lvl="1"/>
            <a:r>
              <a:rPr lang="en-US" altLang="zh-TW" dirty="0">
                <a:latin typeface="+mn-ea"/>
              </a:rPr>
              <a:t>AI </a:t>
            </a:r>
            <a:r>
              <a:rPr lang="zh-TW" altLang="en-US" dirty="0">
                <a:latin typeface="+mn-ea"/>
              </a:rPr>
              <a:t>應用安全性</a:t>
            </a:r>
            <a:endParaRPr lang="en-US" altLang="zh-TW" dirty="0">
              <a:latin typeface="+mn-ea"/>
            </a:endParaRPr>
          </a:p>
          <a:p>
            <a:pPr lvl="1"/>
            <a:r>
              <a:rPr lang="en-US" altLang="zh-TW" dirty="0">
                <a:latin typeface="+mn-ea"/>
              </a:rPr>
              <a:t>AI</a:t>
            </a:r>
            <a:r>
              <a:rPr lang="zh-TW" altLang="en-US" dirty="0">
                <a:latin typeface="+mn-ea"/>
              </a:rPr>
              <a:t> 應用可觀測性</a:t>
            </a:r>
            <a:endParaRPr lang="en-US" altLang="zh-TW" dirty="0">
              <a:latin typeface="+mn-ea"/>
            </a:endParaRPr>
          </a:p>
          <a:p>
            <a:pPr lvl="1"/>
            <a:r>
              <a:rPr lang="en-US" altLang="zh-TW" dirty="0">
                <a:latin typeface="+mn-ea"/>
              </a:rPr>
              <a:t>AI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gateway</a:t>
            </a:r>
          </a:p>
        </p:txBody>
      </p:sp>
    </p:spTree>
    <p:extLst>
      <p:ext uri="{BB962C8B-B14F-4D97-AF65-F5344CB8AC3E}">
        <p14:creationId xmlns:p14="http://schemas.microsoft.com/office/powerpoint/2010/main" val="1340597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176D7-5DAB-4E6B-8104-53B349E3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Labs </a:t>
            </a:r>
            <a:r>
              <a:rPr lang="zh-TW" altLang="en-US" dirty="0">
                <a:latin typeface="+mj-ea"/>
              </a:rPr>
              <a:t>內容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31F868-093F-4729-8FF8-A853D4901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ea"/>
              </a:rPr>
              <a:t>MCP: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TW" altLang="en-US" dirty="0">
                <a:latin typeface="+mn-ea"/>
              </a:rPr>
              <a:t>產生一組 </a:t>
            </a:r>
            <a:r>
              <a:rPr lang="en-US" altLang="zh-TW" dirty="0" err="1">
                <a:latin typeface="+mn-ea"/>
              </a:rPr>
              <a:t>uuid</a:t>
            </a:r>
            <a:r>
              <a:rPr lang="zh-TW" altLang="en-US" dirty="0">
                <a:latin typeface="+mn-ea"/>
              </a:rPr>
              <a:t> 字串</a:t>
            </a:r>
            <a:endParaRPr lang="en-US" altLang="zh-TW" dirty="0">
              <a:latin typeface="+mn-ea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zh-TW" altLang="en-US" dirty="0">
                <a:latin typeface="+mn-ea"/>
              </a:rPr>
              <a:t>列出 </a:t>
            </a:r>
            <a:r>
              <a:rPr lang="en-US" altLang="zh-TW" dirty="0" err="1">
                <a:latin typeface="+mn-ea"/>
              </a:rPr>
              <a:t>kong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某 </a:t>
            </a:r>
            <a:r>
              <a:rPr lang="en-US" altLang="zh-TW" dirty="0">
                <a:latin typeface="+mn-ea"/>
              </a:rPr>
              <a:t>workspace </a:t>
            </a:r>
            <a:r>
              <a:rPr lang="zh-TW" altLang="en-US" dirty="0">
                <a:latin typeface="+mn-ea"/>
              </a:rPr>
              <a:t>中未掛上 </a:t>
            </a:r>
            <a:r>
              <a:rPr lang="en-US" altLang="zh-TW" dirty="0" err="1">
                <a:latin typeface="+mn-ea"/>
              </a:rPr>
              <a:t>openid</a:t>
            </a:r>
            <a:r>
              <a:rPr lang="en-US" altLang="zh-TW" dirty="0">
                <a:latin typeface="+mn-ea"/>
              </a:rPr>
              <a:t>-connect plugin </a:t>
            </a:r>
            <a:r>
              <a:rPr lang="zh-TW" altLang="en-US" dirty="0">
                <a:latin typeface="+mn-ea"/>
              </a:rPr>
              <a:t>之 </a:t>
            </a:r>
            <a:r>
              <a:rPr lang="en-US" altLang="zh-TW" dirty="0">
                <a:latin typeface="+mn-ea"/>
              </a:rPr>
              <a:t>routes</a:t>
            </a:r>
            <a:r>
              <a:rPr lang="zh-TW" altLang="en-US" dirty="0">
                <a:latin typeface="+mn-ea"/>
              </a:rPr>
              <a:t> 有哪些</a:t>
            </a:r>
            <a:endParaRPr lang="en-US" altLang="zh-TW" dirty="0">
              <a:latin typeface="+mn-ea"/>
            </a:endParaRPr>
          </a:p>
          <a:p>
            <a:r>
              <a:rPr lang="en-US" altLang="zh-TW" dirty="0">
                <a:latin typeface="+mn-ea"/>
              </a:rPr>
              <a:t>Kong </a:t>
            </a:r>
            <a:r>
              <a:rPr lang="zh-TW" altLang="en-US" dirty="0">
                <a:latin typeface="+mn-ea"/>
              </a:rPr>
              <a:t>整合</a:t>
            </a:r>
            <a:r>
              <a:rPr lang="en-US" altLang="zh-TW" dirty="0">
                <a:latin typeface="+mn-ea"/>
              </a:rPr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TW" altLang="en-US" dirty="0">
                <a:latin typeface="+mn-ea"/>
              </a:rPr>
              <a:t>使用</a:t>
            </a:r>
            <a:r>
              <a:rPr lang="en-US" altLang="zh-TW" dirty="0">
                <a:latin typeface="+mn-ea"/>
              </a:rPr>
              <a:t> </a:t>
            </a:r>
            <a:r>
              <a:rPr lang="en-US" altLang="zh-TW" dirty="0">
                <a:solidFill>
                  <a:schemeClr val="accent1"/>
                </a:solidFill>
                <a:latin typeface="+mn-ea"/>
                <a:hlinkClick r:id="rId2"/>
              </a:rPr>
              <a:t>ai proxy advanced</a:t>
            </a:r>
            <a:r>
              <a:rPr lang="en-US" altLang="zh-TW" dirty="0">
                <a:latin typeface="+mn-ea"/>
              </a:rPr>
              <a:t> plugin </a:t>
            </a:r>
            <a:r>
              <a:rPr lang="zh-TW" altLang="en-US" dirty="0">
                <a:latin typeface="+mn-ea"/>
              </a:rPr>
              <a:t>整合</a:t>
            </a:r>
            <a:r>
              <a:rPr lang="en-US" altLang="zh-TW" dirty="0">
                <a:latin typeface="+mn-ea"/>
              </a:rPr>
              <a:t> </a:t>
            </a:r>
            <a:r>
              <a:rPr lang="en-US" altLang="zh-TW" dirty="0">
                <a:solidFill>
                  <a:schemeClr val="accent1"/>
                </a:solidFill>
                <a:latin typeface="+mn-ea"/>
              </a:rPr>
              <a:t>LLM</a:t>
            </a:r>
            <a:r>
              <a:rPr lang="en-US" altLang="zh-TW" dirty="0">
                <a:latin typeface="+mn-ea"/>
              </a:rPr>
              <a:t> : </a:t>
            </a:r>
            <a:r>
              <a:rPr lang="en-US" altLang="zh-TW" dirty="0">
                <a:solidFill>
                  <a:schemeClr val="accent1"/>
                </a:solidFill>
                <a:latin typeface="+mn-ea"/>
              </a:rPr>
              <a:t>gemini-1.5-flash</a:t>
            </a:r>
            <a:r>
              <a:rPr lang="en-US" altLang="zh-TW" dirty="0">
                <a:latin typeface="+mn-ea"/>
              </a:rPr>
              <a:t> &amp; </a:t>
            </a:r>
            <a:r>
              <a:rPr lang="en-US" altLang="zh-TW" dirty="0">
                <a:solidFill>
                  <a:schemeClr val="accent1"/>
                </a:solidFill>
                <a:latin typeface="+mn-ea"/>
              </a:rPr>
              <a:t>gpt-4o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TW" altLang="en-US" dirty="0">
                <a:latin typeface="+mn-ea"/>
              </a:rPr>
              <a:t>使用 </a:t>
            </a:r>
            <a:r>
              <a:rPr lang="en-US" altLang="zh-TW" dirty="0" err="1">
                <a:solidFill>
                  <a:schemeClr val="accent1"/>
                </a:solidFill>
                <a:latin typeface="+mn-ea"/>
                <a:hlinkClick r:id="rId3"/>
              </a:rPr>
              <a:t>openid</a:t>
            </a:r>
            <a:r>
              <a:rPr lang="en-US" altLang="zh-TW" dirty="0">
                <a:solidFill>
                  <a:schemeClr val="accent1"/>
                </a:solidFill>
                <a:latin typeface="+mn-ea"/>
                <a:hlinkClick r:id="rId3"/>
              </a:rPr>
              <a:t>-connect</a:t>
            </a:r>
            <a:r>
              <a:rPr lang="en-US" altLang="zh-TW" dirty="0">
                <a:latin typeface="+mn-ea"/>
              </a:rPr>
              <a:t> plugin </a:t>
            </a:r>
            <a:r>
              <a:rPr lang="zh-TW" altLang="en-US" dirty="0">
                <a:latin typeface="+mn-ea"/>
              </a:rPr>
              <a:t>整合 </a:t>
            </a:r>
            <a:r>
              <a:rPr lang="en-US" altLang="zh-TW" dirty="0" err="1">
                <a:solidFill>
                  <a:schemeClr val="accent1"/>
                </a:solidFill>
                <a:latin typeface="+mn-ea"/>
              </a:rPr>
              <a:t>keycloak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並採取 </a:t>
            </a:r>
            <a:r>
              <a:rPr lang="en-US" altLang="zh-TW" dirty="0">
                <a:solidFill>
                  <a:schemeClr val="accent1"/>
                </a:solidFill>
                <a:latin typeface="+mn-ea"/>
              </a:rPr>
              <a:t>client credentials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流程增加 </a:t>
            </a:r>
            <a:r>
              <a:rPr lang="en-US" altLang="zh-TW" dirty="0">
                <a:latin typeface="+mn-ea"/>
              </a:rPr>
              <a:t>MCP client &amp; MCP server </a:t>
            </a:r>
            <a:r>
              <a:rPr lang="zh-TW" altLang="en-US" dirty="0">
                <a:solidFill>
                  <a:schemeClr val="accent1"/>
                </a:solidFill>
                <a:latin typeface="+mn-ea"/>
              </a:rPr>
              <a:t>安全性</a:t>
            </a:r>
            <a:endParaRPr lang="en-US" altLang="zh-TW" dirty="0">
              <a:solidFill>
                <a:schemeClr val="accent1"/>
              </a:solidFill>
              <a:latin typeface="+mn-ea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zh-TW" altLang="en-US" dirty="0">
                <a:latin typeface="+mn-ea"/>
              </a:rPr>
              <a:t>使用 </a:t>
            </a:r>
            <a:r>
              <a:rPr lang="en-US" altLang="zh-TW" dirty="0">
                <a:solidFill>
                  <a:schemeClr val="accent1"/>
                </a:solidFill>
                <a:latin typeface="+mn-ea"/>
                <a:hlinkClick r:id="rId4"/>
              </a:rPr>
              <a:t>ai prompt guard</a:t>
            </a:r>
            <a:r>
              <a:rPr lang="en-US" altLang="zh-TW" dirty="0">
                <a:latin typeface="+mn-ea"/>
              </a:rPr>
              <a:t> plugin </a:t>
            </a:r>
            <a:r>
              <a:rPr lang="zh-TW" altLang="en-US" dirty="0">
                <a:latin typeface="+mn-ea"/>
              </a:rPr>
              <a:t>確保 </a:t>
            </a:r>
            <a:r>
              <a:rPr lang="en-US" altLang="zh-TW" dirty="0">
                <a:latin typeface="+mn-ea"/>
              </a:rPr>
              <a:t>user prompt </a:t>
            </a:r>
            <a:r>
              <a:rPr lang="zh-TW" altLang="en-US" dirty="0">
                <a:latin typeface="+mn-ea"/>
              </a:rPr>
              <a:t>無法使用黑名單之指定之 </a:t>
            </a:r>
            <a:r>
              <a:rPr lang="en-US" altLang="zh-TW" dirty="0">
                <a:latin typeface="+mn-ea"/>
              </a:rPr>
              <a:t>‘gg’</a:t>
            </a:r>
            <a:r>
              <a:rPr lang="zh-TW" altLang="en-US" dirty="0">
                <a:latin typeface="+mn-ea"/>
              </a:rPr>
              <a:t> 字串</a:t>
            </a:r>
          </a:p>
        </p:txBody>
      </p:sp>
    </p:spTree>
    <p:extLst>
      <p:ext uri="{BB962C8B-B14F-4D97-AF65-F5344CB8AC3E}">
        <p14:creationId xmlns:p14="http://schemas.microsoft.com/office/powerpoint/2010/main" val="1501411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2C79D3CF-A84F-4C7E-B074-513F767C4697}"/>
              </a:ext>
            </a:extLst>
          </p:cNvPr>
          <p:cNvSpPr/>
          <p:nvPr/>
        </p:nvSpPr>
        <p:spPr>
          <a:xfrm>
            <a:off x="801938" y="1152933"/>
            <a:ext cx="10925175" cy="52749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host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506D559-86CC-488A-BC57-81D4B84CB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66" y="128951"/>
            <a:ext cx="3816626" cy="865014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Labs </a:t>
            </a:r>
            <a:r>
              <a:rPr lang="zh-TW" altLang="en-US" dirty="0"/>
              <a:t>安裝架構圖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8D89CE-EA0F-4BF3-9589-918174F5C182}"/>
              </a:ext>
            </a:extLst>
          </p:cNvPr>
          <p:cNvSpPr/>
          <p:nvPr/>
        </p:nvSpPr>
        <p:spPr>
          <a:xfrm>
            <a:off x="1406947" y="2323716"/>
            <a:ext cx="9996087" cy="38204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docker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2D3714-E1AC-4451-82A6-FE91EEC3C4BE}"/>
              </a:ext>
            </a:extLst>
          </p:cNvPr>
          <p:cNvSpPr/>
          <p:nvPr/>
        </p:nvSpPr>
        <p:spPr>
          <a:xfrm>
            <a:off x="3970702" y="2447925"/>
            <a:ext cx="4296140" cy="350202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err="1"/>
              <a:t>kong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EE6B9F-4ABE-458E-9ECC-848155CCCDBE}"/>
              </a:ext>
            </a:extLst>
          </p:cNvPr>
          <p:cNvSpPr/>
          <p:nvPr/>
        </p:nvSpPr>
        <p:spPr>
          <a:xfrm>
            <a:off x="2166587" y="2801701"/>
            <a:ext cx="1447800" cy="8858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keycloak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40166C-9EBC-44EB-A4E9-A46C79028E0C}"/>
              </a:ext>
            </a:extLst>
          </p:cNvPr>
          <p:cNvSpPr/>
          <p:nvPr/>
        </p:nvSpPr>
        <p:spPr>
          <a:xfrm>
            <a:off x="2176979" y="4165511"/>
            <a:ext cx="1447800" cy="8858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postgresSql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62524C6-B9B1-4973-B7E7-6CAC59DBDBA4}"/>
              </a:ext>
            </a:extLst>
          </p:cNvPr>
          <p:cNvSpPr/>
          <p:nvPr/>
        </p:nvSpPr>
        <p:spPr>
          <a:xfrm>
            <a:off x="10289574" y="3454862"/>
            <a:ext cx="1052863" cy="62729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redis</a:t>
            </a:r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8369CD-620F-4B54-A1AE-D56914D05808}"/>
              </a:ext>
            </a:extLst>
          </p:cNvPr>
          <p:cNvSpPr/>
          <p:nvPr/>
        </p:nvSpPr>
        <p:spPr>
          <a:xfrm>
            <a:off x="8539039" y="4858143"/>
            <a:ext cx="1447800" cy="8858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Spring-ai-</a:t>
            </a:r>
            <a:r>
              <a:rPr lang="en-US" altLang="zh-TW" dirty="0" err="1"/>
              <a:t>mcp</a:t>
            </a:r>
            <a:r>
              <a:rPr lang="en-US" altLang="zh-TW" dirty="0"/>
              <a:t>-server</a:t>
            </a:r>
            <a:endParaRPr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77EDEA2-EB16-4439-B740-C9E16BE2A487}"/>
              </a:ext>
            </a:extLst>
          </p:cNvPr>
          <p:cNvSpPr/>
          <p:nvPr/>
        </p:nvSpPr>
        <p:spPr>
          <a:xfrm>
            <a:off x="8552638" y="3325600"/>
            <a:ext cx="1447800" cy="8858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Spring-ai-</a:t>
            </a:r>
            <a:r>
              <a:rPr lang="en-US" altLang="zh-TW" dirty="0" err="1"/>
              <a:t>mcp</a:t>
            </a:r>
            <a:r>
              <a:rPr lang="en-US" altLang="zh-TW" dirty="0"/>
              <a:t>-client</a:t>
            </a:r>
            <a:endParaRPr lang="zh-TW" altLang="en-US" dirty="0"/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7FC0D11D-897D-44F6-A22A-2F54BB4E7206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890487" y="3687526"/>
            <a:ext cx="10392" cy="4779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A38388B0-1C86-4280-9BCE-664C3428623C}"/>
              </a:ext>
            </a:extLst>
          </p:cNvPr>
          <p:cNvCxnSpPr>
            <a:cxnSpLocks/>
            <a:stCxn id="19" idx="3"/>
            <a:endCxn id="17" idx="1"/>
          </p:cNvCxnSpPr>
          <p:nvPr/>
        </p:nvCxnSpPr>
        <p:spPr>
          <a:xfrm flipV="1">
            <a:off x="10000438" y="3768512"/>
            <a:ext cx="289136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6D5D268A-314F-42A5-864C-FE15A141F764}"/>
              </a:ext>
            </a:extLst>
          </p:cNvPr>
          <p:cNvSpPr/>
          <p:nvPr/>
        </p:nvSpPr>
        <p:spPr>
          <a:xfrm>
            <a:off x="4755638" y="86353"/>
            <a:ext cx="1447800" cy="8858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Gpt-4o</a:t>
            </a:r>
            <a:endParaRPr lang="zh-TW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E80142C-A520-40CC-95FE-BF985D31A5DE}"/>
              </a:ext>
            </a:extLst>
          </p:cNvPr>
          <p:cNvSpPr/>
          <p:nvPr/>
        </p:nvSpPr>
        <p:spPr>
          <a:xfrm>
            <a:off x="8496878" y="44848"/>
            <a:ext cx="1447800" cy="8858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Postman </a:t>
            </a:r>
            <a:r>
              <a:rPr lang="zh-TW" altLang="en-US" dirty="0"/>
              <a:t>網頁版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E4E772B-6CCA-4787-9AFD-E1D6DFC2C644}"/>
              </a:ext>
            </a:extLst>
          </p:cNvPr>
          <p:cNvSpPr/>
          <p:nvPr/>
        </p:nvSpPr>
        <p:spPr>
          <a:xfrm>
            <a:off x="8490958" y="1346005"/>
            <a:ext cx="1447800" cy="8858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Postman agent</a:t>
            </a:r>
            <a:endParaRPr lang="zh-TW" altLang="en-US" dirty="0"/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F81593EA-2A39-4E79-BF63-7A8CAC5DBDCD}"/>
              </a:ext>
            </a:extLst>
          </p:cNvPr>
          <p:cNvCxnSpPr>
            <a:cxnSpLocks/>
            <a:stCxn id="45" idx="2"/>
            <a:endCxn id="55" idx="0"/>
          </p:cNvCxnSpPr>
          <p:nvPr/>
        </p:nvCxnSpPr>
        <p:spPr>
          <a:xfrm flipH="1">
            <a:off x="9214858" y="930673"/>
            <a:ext cx="5920" cy="41533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912B1B7A-955C-4426-B621-35A125BF4423}"/>
              </a:ext>
            </a:extLst>
          </p:cNvPr>
          <p:cNvSpPr/>
          <p:nvPr/>
        </p:nvSpPr>
        <p:spPr>
          <a:xfrm>
            <a:off x="5257800" y="3926279"/>
            <a:ext cx="1407879" cy="7540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spring-ai-</a:t>
            </a:r>
            <a:r>
              <a:rPr lang="en-US" altLang="zh-TW" dirty="0" err="1"/>
              <a:t>mcp</a:t>
            </a:r>
            <a:r>
              <a:rPr lang="en-US" altLang="zh-TW" dirty="0"/>
              <a:t>-client</a:t>
            </a:r>
          </a:p>
          <a:p>
            <a:pPr algn="ctr"/>
            <a:r>
              <a:rPr lang="en-US" altLang="zh-TW" dirty="0"/>
              <a:t>route</a:t>
            </a:r>
            <a:endParaRPr lang="zh-TW" altLang="en-US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DC2D581-4E28-4B01-944F-437E00967C3F}"/>
              </a:ext>
            </a:extLst>
          </p:cNvPr>
          <p:cNvSpPr/>
          <p:nvPr/>
        </p:nvSpPr>
        <p:spPr>
          <a:xfrm>
            <a:off x="5257800" y="4958954"/>
            <a:ext cx="1407879" cy="7540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spring-ai-</a:t>
            </a:r>
            <a:r>
              <a:rPr lang="en-US" altLang="zh-TW" dirty="0" err="1"/>
              <a:t>mcp</a:t>
            </a:r>
            <a:r>
              <a:rPr lang="en-US" altLang="zh-TW" dirty="0"/>
              <a:t>-server</a:t>
            </a:r>
          </a:p>
          <a:p>
            <a:pPr algn="ctr"/>
            <a:r>
              <a:rPr lang="en-US" altLang="zh-TW" dirty="0"/>
              <a:t>route</a:t>
            </a:r>
            <a:endParaRPr lang="zh-TW" altLang="en-US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43EC2DB-DB18-4607-92DB-BF9151D6D48C}"/>
              </a:ext>
            </a:extLst>
          </p:cNvPr>
          <p:cNvSpPr/>
          <p:nvPr/>
        </p:nvSpPr>
        <p:spPr>
          <a:xfrm>
            <a:off x="5265504" y="2936873"/>
            <a:ext cx="1400175" cy="7540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chat-</a:t>
            </a:r>
            <a:r>
              <a:rPr lang="en-US" altLang="zh-TW" dirty="0" err="1"/>
              <a:t>gpt</a:t>
            </a:r>
            <a:endParaRPr lang="en-US" altLang="zh-TW" dirty="0"/>
          </a:p>
          <a:p>
            <a:pPr algn="ctr"/>
            <a:r>
              <a:rPr lang="en-US" altLang="zh-TW" dirty="0"/>
              <a:t>route</a:t>
            </a:r>
            <a:endParaRPr lang="zh-TW" altLang="en-US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75BEF7F-CE7C-43F3-8497-783B19E73D07}"/>
              </a:ext>
            </a:extLst>
          </p:cNvPr>
          <p:cNvSpPr/>
          <p:nvPr/>
        </p:nvSpPr>
        <p:spPr>
          <a:xfrm>
            <a:off x="4515872" y="3748479"/>
            <a:ext cx="1015943" cy="24317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 err="1"/>
              <a:t>openid</a:t>
            </a:r>
            <a:r>
              <a:rPr lang="en-US" altLang="zh-TW" sz="900" dirty="0"/>
              <a:t>-connect</a:t>
            </a:r>
          </a:p>
          <a:p>
            <a:pPr algn="ctr"/>
            <a:r>
              <a:rPr lang="en-US" altLang="zh-TW" sz="900" dirty="0"/>
              <a:t>plugin</a:t>
            </a:r>
            <a:endParaRPr lang="zh-TW" altLang="en-US" sz="900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779F59E-CBC5-4A97-AF1D-2AF01088840C}"/>
              </a:ext>
            </a:extLst>
          </p:cNvPr>
          <p:cNvSpPr/>
          <p:nvPr/>
        </p:nvSpPr>
        <p:spPr>
          <a:xfrm>
            <a:off x="4957509" y="2789632"/>
            <a:ext cx="1044059" cy="25557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ai-proxy-advanced</a:t>
            </a:r>
          </a:p>
          <a:p>
            <a:pPr algn="ctr"/>
            <a:r>
              <a:rPr lang="en-US" altLang="zh-TW" sz="900" dirty="0"/>
              <a:t>plugin</a:t>
            </a:r>
            <a:endParaRPr lang="zh-TW" altLang="en-US" sz="900" dirty="0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81C1834-0FD0-4FD5-BB2C-F01D6A40FB7C}"/>
              </a:ext>
            </a:extLst>
          </p:cNvPr>
          <p:cNvSpPr/>
          <p:nvPr/>
        </p:nvSpPr>
        <p:spPr>
          <a:xfrm>
            <a:off x="6111085" y="2775829"/>
            <a:ext cx="1011412" cy="28318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/>
              <a:t>ai-prompt-guard</a:t>
            </a:r>
          </a:p>
          <a:p>
            <a:pPr algn="ctr"/>
            <a:r>
              <a:rPr lang="en-US" altLang="zh-TW" sz="900" dirty="0"/>
              <a:t>plugin</a:t>
            </a:r>
            <a:endParaRPr lang="zh-TW" altLang="en-US" sz="900" dirty="0"/>
          </a:p>
        </p:txBody>
      </p:sp>
      <p:cxnSp>
        <p:nvCxnSpPr>
          <p:cNvPr id="72" name="直線單箭頭接點 71">
            <a:extLst>
              <a:ext uri="{FF2B5EF4-FFF2-40B4-BE49-F238E27FC236}">
                <a16:creationId xmlns:a16="http://schemas.microsoft.com/office/drawing/2014/main" id="{B76CC853-3D2B-4F6D-919B-2295788D7426}"/>
              </a:ext>
            </a:extLst>
          </p:cNvPr>
          <p:cNvCxnSpPr>
            <a:cxnSpLocks/>
            <a:stCxn id="69" idx="0"/>
            <a:endCxn id="44" idx="2"/>
          </p:cNvCxnSpPr>
          <p:nvPr/>
        </p:nvCxnSpPr>
        <p:spPr>
          <a:xfrm flipH="1" flipV="1">
            <a:off x="5479538" y="972178"/>
            <a:ext cx="1" cy="1817454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3F2E3F5F-A417-413A-A114-3F570B31C929}"/>
              </a:ext>
            </a:extLst>
          </p:cNvPr>
          <p:cNvCxnSpPr>
            <a:cxnSpLocks/>
            <a:stCxn id="19" idx="1"/>
            <a:endCxn id="67" idx="3"/>
          </p:cNvCxnSpPr>
          <p:nvPr/>
        </p:nvCxnSpPr>
        <p:spPr>
          <a:xfrm flipH="1">
            <a:off x="6665679" y="3768513"/>
            <a:ext cx="1886959" cy="156747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>
            <a:extLst>
              <a:ext uri="{FF2B5EF4-FFF2-40B4-BE49-F238E27FC236}">
                <a16:creationId xmlns:a16="http://schemas.microsoft.com/office/drawing/2014/main" id="{766B6AB7-2BD9-4F20-B617-B2032C046742}"/>
              </a:ext>
            </a:extLst>
          </p:cNvPr>
          <p:cNvCxnSpPr>
            <a:cxnSpLocks/>
            <a:stCxn id="67" idx="3"/>
            <a:endCxn id="18" idx="1"/>
          </p:cNvCxnSpPr>
          <p:nvPr/>
        </p:nvCxnSpPr>
        <p:spPr>
          <a:xfrm flipV="1">
            <a:off x="6665679" y="5301056"/>
            <a:ext cx="1873360" cy="349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BEE526D8-C631-4C32-A27E-4DB31BC8D8A2}"/>
              </a:ext>
            </a:extLst>
          </p:cNvPr>
          <p:cNvCxnSpPr>
            <a:cxnSpLocks/>
            <a:stCxn id="55" idx="2"/>
            <a:endCxn id="66" idx="3"/>
          </p:cNvCxnSpPr>
          <p:nvPr/>
        </p:nvCxnSpPr>
        <p:spPr>
          <a:xfrm flipH="1">
            <a:off x="6665679" y="2231830"/>
            <a:ext cx="2549179" cy="207148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單箭頭接點 134">
            <a:extLst>
              <a:ext uri="{FF2B5EF4-FFF2-40B4-BE49-F238E27FC236}">
                <a16:creationId xmlns:a16="http://schemas.microsoft.com/office/drawing/2014/main" id="{7555CD0B-8A28-439F-927D-3B2A258B4232}"/>
              </a:ext>
            </a:extLst>
          </p:cNvPr>
          <p:cNvCxnSpPr>
            <a:cxnSpLocks/>
            <a:stCxn id="66" idx="3"/>
            <a:endCxn id="19" idx="1"/>
          </p:cNvCxnSpPr>
          <p:nvPr/>
        </p:nvCxnSpPr>
        <p:spPr>
          <a:xfrm flipV="1">
            <a:off x="6665679" y="3768513"/>
            <a:ext cx="1886959" cy="53479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>
            <a:extLst>
              <a:ext uri="{FF2B5EF4-FFF2-40B4-BE49-F238E27FC236}">
                <a16:creationId xmlns:a16="http://schemas.microsoft.com/office/drawing/2014/main" id="{FC360A73-E26F-4005-ACBB-9CA1D7A9BDCC}"/>
              </a:ext>
            </a:extLst>
          </p:cNvPr>
          <p:cNvCxnSpPr>
            <a:cxnSpLocks/>
            <a:stCxn id="19" idx="1"/>
            <a:endCxn id="68" idx="3"/>
          </p:cNvCxnSpPr>
          <p:nvPr/>
        </p:nvCxnSpPr>
        <p:spPr>
          <a:xfrm flipH="1" flipV="1">
            <a:off x="6665679" y="3313905"/>
            <a:ext cx="1886959" cy="45460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矩形 155">
            <a:extLst>
              <a:ext uri="{FF2B5EF4-FFF2-40B4-BE49-F238E27FC236}">
                <a16:creationId xmlns:a16="http://schemas.microsoft.com/office/drawing/2014/main" id="{78EC6B37-C69B-43E1-9AAB-A24DB1BFD975}"/>
              </a:ext>
            </a:extLst>
          </p:cNvPr>
          <p:cNvSpPr/>
          <p:nvPr/>
        </p:nvSpPr>
        <p:spPr>
          <a:xfrm>
            <a:off x="4579913" y="4751891"/>
            <a:ext cx="1015943" cy="24317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dirty="0" err="1"/>
              <a:t>openid</a:t>
            </a:r>
            <a:r>
              <a:rPr lang="en-US" altLang="zh-TW" sz="900" dirty="0"/>
              <a:t>-connect</a:t>
            </a:r>
          </a:p>
          <a:p>
            <a:pPr algn="ctr"/>
            <a:r>
              <a:rPr lang="en-US" altLang="zh-TW" sz="900" dirty="0"/>
              <a:t>plugin</a:t>
            </a:r>
            <a:endParaRPr lang="zh-TW" altLang="en-US" sz="900" dirty="0"/>
          </a:p>
        </p:txBody>
      </p:sp>
      <p:cxnSp>
        <p:nvCxnSpPr>
          <p:cNvPr id="157" name="直線單箭頭接點 156">
            <a:extLst>
              <a:ext uri="{FF2B5EF4-FFF2-40B4-BE49-F238E27FC236}">
                <a16:creationId xmlns:a16="http://schemas.microsoft.com/office/drawing/2014/main" id="{8E38EFAB-4F5D-4609-BA4F-3532E62625FE}"/>
              </a:ext>
            </a:extLst>
          </p:cNvPr>
          <p:cNvCxnSpPr>
            <a:cxnSpLocks/>
            <a:stCxn id="71" idx="1"/>
            <a:endCxn id="6" idx="3"/>
          </p:cNvCxnSpPr>
          <p:nvPr/>
        </p:nvCxnSpPr>
        <p:spPr>
          <a:xfrm flipH="1" flipV="1">
            <a:off x="3614387" y="3244614"/>
            <a:ext cx="901485" cy="62545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單箭頭接點 159">
            <a:extLst>
              <a:ext uri="{FF2B5EF4-FFF2-40B4-BE49-F238E27FC236}">
                <a16:creationId xmlns:a16="http://schemas.microsoft.com/office/drawing/2014/main" id="{85F4BDC1-1C0F-4BFA-8728-A4AC128340FC}"/>
              </a:ext>
            </a:extLst>
          </p:cNvPr>
          <p:cNvCxnSpPr>
            <a:cxnSpLocks/>
            <a:stCxn id="156" idx="1"/>
            <a:endCxn id="6" idx="3"/>
          </p:cNvCxnSpPr>
          <p:nvPr/>
        </p:nvCxnSpPr>
        <p:spPr>
          <a:xfrm flipH="1" flipV="1">
            <a:off x="3614387" y="3244614"/>
            <a:ext cx="965526" cy="162886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單箭頭接點 163">
            <a:extLst>
              <a:ext uri="{FF2B5EF4-FFF2-40B4-BE49-F238E27FC236}">
                <a16:creationId xmlns:a16="http://schemas.microsoft.com/office/drawing/2014/main" id="{E45AB5C2-BAB8-4265-95DC-E6201AB6CDB7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3624779" y="4198938"/>
            <a:ext cx="345923" cy="40948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>
            <a:extLst>
              <a:ext uri="{FF2B5EF4-FFF2-40B4-BE49-F238E27FC236}">
                <a16:creationId xmlns:a16="http://schemas.microsoft.com/office/drawing/2014/main" id="{7B14A0C8-5D8A-4659-8B6D-E21A3D8E388C}"/>
              </a:ext>
            </a:extLst>
          </p:cNvPr>
          <p:cNvCxnSpPr>
            <a:cxnSpLocks/>
          </p:cNvCxnSpPr>
          <p:nvPr/>
        </p:nvCxnSpPr>
        <p:spPr>
          <a:xfrm>
            <a:off x="1443115" y="1438725"/>
            <a:ext cx="394816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單箭頭接點 172">
            <a:extLst>
              <a:ext uri="{FF2B5EF4-FFF2-40B4-BE49-F238E27FC236}">
                <a16:creationId xmlns:a16="http://schemas.microsoft.com/office/drawing/2014/main" id="{BF8134D0-349D-4040-8A54-CC3D4E258DB7}"/>
              </a:ext>
            </a:extLst>
          </p:cNvPr>
          <p:cNvCxnSpPr>
            <a:cxnSpLocks/>
          </p:cNvCxnSpPr>
          <p:nvPr/>
        </p:nvCxnSpPr>
        <p:spPr>
          <a:xfrm flipV="1">
            <a:off x="1448311" y="1685957"/>
            <a:ext cx="389620" cy="1195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單箭頭接點 175">
            <a:extLst>
              <a:ext uri="{FF2B5EF4-FFF2-40B4-BE49-F238E27FC236}">
                <a16:creationId xmlns:a16="http://schemas.microsoft.com/office/drawing/2014/main" id="{E4A25DD2-1230-40C7-A28D-16F80FF5AB10}"/>
              </a:ext>
            </a:extLst>
          </p:cNvPr>
          <p:cNvCxnSpPr>
            <a:cxnSpLocks/>
          </p:cNvCxnSpPr>
          <p:nvPr/>
        </p:nvCxnSpPr>
        <p:spPr>
          <a:xfrm>
            <a:off x="1443115" y="1933190"/>
            <a:ext cx="394816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文字方塊 180">
            <a:extLst>
              <a:ext uri="{FF2B5EF4-FFF2-40B4-BE49-F238E27FC236}">
                <a16:creationId xmlns:a16="http://schemas.microsoft.com/office/drawing/2014/main" id="{D6074967-F24F-4902-8F21-A8EDC2CC03A6}"/>
              </a:ext>
            </a:extLst>
          </p:cNvPr>
          <p:cNvSpPr txBox="1"/>
          <p:nvPr/>
        </p:nvSpPr>
        <p:spPr>
          <a:xfrm>
            <a:off x="1937155" y="1229245"/>
            <a:ext cx="123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上游服務</a:t>
            </a:r>
          </a:p>
        </p:txBody>
      </p:sp>
      <p:sp>
        <p:nvSpPr>
          <p:cNvPr id="182" name="文字方塊 181">
            <a:extLst>
              <a:ext uri="{FF2B5EF4-FFF2-40B4-BE49-F238E27FC236}">
                <a16:creationId xmlns:a16="http://schemas.microsoft.com/office/drawing/2014/main" id="{20CA7BF1-0BDC-4FEF-987D-3870FEA47762}"/>
              </a:ext>
            </a:extLst>
          </p:cNvPr>
          <p:cNvSpPr txBox="1"/>
          <p:nvPr/>
        </p:nvSpPr>
        <p:spPr>
          <a:xfrm>
            <a:off x="1928365" y="1511472"/>
            <a:ext cx="123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accent4"/>
                </a:solidFill>
              </a:rPr>
              <a:t>調用方向</a:t>
            </a:r>
          </a:p>
        </p:txBody>
      </p:sp>
      <p:sp>
        <p:nvSpPr>
          <p:cNvPr id="183" name="文字方塊 182">
            <a:extLst>
              <a:ext uri="{FF2B5EF4-FFF2-40B4-BE49-F238E27FC236}">
                <a16:creationId xmlns:a16="http://schemas.microsoft.com/office/drawing/2014/main" id="{2E29D566-D705-4A32-9778-4C1497185997}"/>
              </a:ext>
            </a:extLst>
          </p:cNvPr>
          <p:cNvSpPr txBox="1"/>
          <p:nvPr/>
        </p:nvSpPr>
        <p:spPr>
          <a:xfrm>
            <a:off x="1919575" y="1821813"/>
            <a:ext cx="1237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資料存取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36B1DB-A8B1-4A44-B0B9-B02F75D1F719}"/>
              </a:ext>
            </a:extLst>
          </p:cNvPr>
          <p:cNvSpPr/>
          <p:nvPr/>
        </p:nvSpPr>
        <p:spPr>
          <a:xfrm>
            <a:off x="4206240" y="5162434"/>
            <a:ext cx="853440" cy="7540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chemeClr val="tx1"/>
                </a:solidFill>
              </a:rPr>
              <a:t>kong</a:t>
            </a:r>
            <a:endParaRPr lang="en-US" altLang="zh-TW" dirty="0">
              <a:solidFill>
                <a:schemeClr val="tx1"/>
              </a:solidFill>
            </a:endParaRP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admin </a:t>
            </a:r>
            <a:r>
              <a:rPr lang="en-US" altLang="zh-TW" dirty="0" err="1">
                <a:solidFill>
                  <a:schemeClr val="tx1"/>
                </a:solidFill>
              </a:rPr>
              <a:t>api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41286227-8E0C-4A9E-84A6-F345C34A4491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5068683" y="5301056"/>
            <a:ext cx="3470356" cy="22226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360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79435C-44DC-432A-A605-BD4F3576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Kong </a:t>
            </a:r>
            <a:r>
              <a:rPr lang="en-US" altLang="zh-TW" dirty="0" err="1"/>
              <a:t>openid</a:t>
            </a:r>
            <a:r>
              <a:rPr lang="en-US" altLang="zh-TW" dirty="0"/>
              <a:t>-connect plugin with client credentials flow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E1902D96-5962-42B1-8207-D6A543036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3014" y="1690688"/>
            <a:ext cx="5107486" cy="4700024"/>
          </a:xfrm>
        </p:spPr>
      </p:pic>
    </p:spTree>
    <p:extLst>
      <p:ext uri="{BB962C8B-B14F-4D97-AF65-F5344CB8AC3E}">
        <p14:creationId xmlns:p14="http://schemas.microsoft.com/office/powerpoint/2010/main" val="2462828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325416-B696-4EBB-959A-30EFB0C32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Labs </a:t>
            </a:r>
            <a:r>
              <a:rPr lang="zh-TW" altLang="en-US" dirty="0">
                <a:latin typeface="+mj-ea"/>
              </a:rPr>
              <a:t>前置環境準備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8557F7-4DF4-4455-877A-748306E0C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TW" dirty="0">
                <a:latin typeface="+mn-ea"/>
              </a:rPr>
              <a:t>Windows</a:t>
            </a:r>
            <a:r>
              <a:rPr lang="zh-TW" altLang="en-US" dirty="0">
                <a:latin typeface="+mn-ea"/>
              </a:rPr>
              <a:t> 環境建議安裝 </a:t>
            </a:r>
            <a:r>
              <a:rPr lang="en-US" altLang="zh-TW" dirty="0">
                <a:latin typeface="+mn-ea"/>
                <a:hlinkClick r:id="rId2"/>
              </a:rPr>
              <a:t>chocolatey</a:t>
            </a:r>
            <a:endParaRPr lang="en-US" altLang="zh-TW" dirty="0">
              <a:latin typeface="+mn-ea"/>
            </a:endParaRPr>
          </a:p>
          <a:p>
            <a:pPr lvl="1"/>
            <a:r>
              <a:rPr lang="en-US" altLang="zh-TW" dirty="0">
                <a:latin typeface="+mn-ea"/>
                <a:hlinkClick r:id="rId3"/>
              </a:rPr>
              <a:t>Git 2.49.0</a:t>
            </a:r>
            <a:endParaRPr lang="en-US" altLang="zh-TW" dirty="0">
              <a:latin typeface="+mn-ea"/>
            </a:endParaRPr>
          </a:p>
          <a:p>
            <a:pPr lvl="1"/>
            <a:r>
              <a:rPr lang="en-US" altLang="zh-TW" dirty="0" err="1">
                <a:latin typeface="+mn-ea"/>
                <a:hlinkClick r:id="rId4"/>
              </a:rPr>
              <a:t>Jdk</a:t>
            </a:r>
            <a:r>
              <a:rPr lang="en-US" altLang="zh-TW" dirty="0">
                <a:latin typeface="+mn-ea"/>
                <a:hlinkClick r:id="rId4"/>
              </a:rPr>
              <a:t> 21</a:t>
            </a:r>
            <a:endParaRPr lang="en-US" altLang="zh-TW" dirty="0">
              <a:latin typeface="+mn-ea"/>
            </a:endParaRPr>
          </a:p>
          <a:p>
            <a:pPr lvl="1"/>
            <a:r>
              <a:rPr lang="en-US" altLang="zh-TW" dirty="0">
                <a:latin typeface="+mn-ea"/>
                <a:hlinkClick r:id="rId5"/>
              </a:rPr>
              <a:t>Node v22.16.0</a:t>
            </a:r>
            <a:r>
              <a:rPr lang="en-US" altLang="zh-TW" dirty="0">
                <a:latin typeface="+mn-ea"/>
              </a:rPr>
              <a:t> (</a:t>
            </a:r>
            <a:r>
              <a:rPr lang="zh-TW" altLang="en-US" dirty="0">
                <a:latin typeface="+mn-ea"/>
              </a:rPr>
              <a:t>含 </a:t>
            </a:r>
            <a:r>
              <a:rPr lang="en-US" altLang="zh-TW" dirty="0" err="1">
                <a:latin typeface="+mn-ea"/>
              </a:rPr>
              <a:t>npm</a:t>
            </a:r>
            <a:r>
              <a:rPr lang="en-US" altLang="zh-TW" dirty="0">
                <a:latin typeface="+mn-ea"/>
              </a:rPr>
              <a:t>)</a:t>
            </a:r>
          </a:p>
          <a:p>
            <a:pPr lvl="1"/>
            <a:r>
              <a:rPr lang="en-US" altLang="zh-TW" dirty="0">
                <a:latin typeface="+mn-ea"/>
                <a:hlinkClick r:id="rId6"/>
              </a:rPr>
              <a:t>Maven 3.9.9</a:t>
            </a:r>
            <a:endParaRPr lang="en-US" altLang="zh-TW" dirty="0">
              <a:latin typeface="+mn-ea"/>
            </a:endParaRPr>
          </a:p>
          <a:p>
            <a:pPr lvl="1"/>
            <a:r>
              <a:rPr lang="en-US" altLang="zh-TW" dirty="0">
                <a:latin typeface="+mn-ea"/>
                <a:hlinkClick r:id="rId7"/>
              </a:rPr>
              <a:t>Docker Desktop 4.41.2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>
                <a:latin typeface="+mn-ea"/>
              </a:rPr>
              <a:t>含 </a:t>
            </a:r>
            <a:r>
              <a:rPr lang="en-US" altLang="zh-TW">
                <a:latin typeface="+mn-ea"/>
              </a:rPr>
              <a:t>docker-compose)</a:t>
            </a:r>
            <a:endParaRPr lang="en-US" altLang="zh-TW" dirty="0">
              <a:latin typeface="+mn-ea"/>
            </a:endParaRPr>
          </a:p>
          <a:p>
            <a:pPr lvl="1"/>
            <a:r>
              <a:rPr lang="en-US" altLang="zh-TW" dirty="0">
                <a:latin typeface="+mn-ea"/>
                <a:hlinkClick r:id="rId8"/>
              </a:rPr>
              <a:t>Gemini </a:t>
            </a:r>
            <a:r>
              <a:rPr lang="en-US" altLang="zh-TW" dirty="0" err="1">
                <a:latin typeface="+mn-ea"/>
                <a:hlinkClick r:id="rId8"/>
              </a:rPr>
              <a:t>apiKey</a:t>
            </a:r>
            <a:r>
              <a:rPr lang="zh-TW" altLang="en-US" dirty="0">
                <a:latin typeface="+mn-ea"/>
                <a:hlinkClick r:id="rId8"/>
              </a:rPr>
              <a:t> 產生</a:t>
            </a:r>
            <a:endParaRPr lang="en-US" altLang="zh-TW" dirty="0">
              <a:latin typeface="+mn-ea"/>
            </a:endParaRPr>
          </a:p>
          <a:p>
            <a:pPr lvl="1"/>
            <a:r>
              <a:rPr lang="en-US" altLang="zh-TW" dirty="0" err="1">
                <a:latin typeface="+mn-ea"/>
                <a:hlinkClick r:id="rId9"/>
              </a:rPr>
              <a:t>Openai</a:t>
            </a:r>
            <a:r>
              <a:rPr lang="en-US" altLang="zh-TW" dirty="0">
                <a:latin typeface="+mn-ea"/>
                <a:hlinkClick r:id="rId9"/>
              </a:rPr>
              <a:t> </a:t>
            </a:r>
            <a:r>
              <a:rPr lang="en-US" altLang="zh-TW" dirty="0" err="1">
                <a:latin typeface="+mn-ea"/>
                <a:hlinkClick r:id="rId9"/>
              </a:rPr>
              <a:t>apiKey</a:t>
            </a:r>
            <a:r>
              <a:rPr lang="en-US" altLang="zh-TW" dirty="0">
                <a:latin typeface="+mn-ea"/>
                <a:hlinkClick r:id="rId9"/>
              </a:rPr>
              <a:t> </a:t>
            </a:r>
            <a:r>
              <a:rPr lang="zh-TW" altLang="en-US" dirty="0">
                <a:latin typeface="+mn-ea"/>
                <a:hlinkClick r:id="rId9"/>
              </a:rPr>
              <a:t>產生與信用卡帳單設定</a:t>
            </a:r>
            <a:endParaRPr lang="en-US" altLang="zh-TW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9694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C18D46-B6FC-4000-A186-B982C9C5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Labs </a:t>
            </a:r>
            <a:r>
              <a:rPr lang="zh-TW" altLang="en-US" dirty="0">
                <a:latin typeface="+mj-ea"/>
              </a:rPr>
              <a:t>相關服務安裝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FE8E6E-42EF-431E-BCFB-F35F8BDA5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Redis</a:t>
            </a:r>
            <a:r>
              <a:rPr lang="en-US" altLang="zh-TW" dirty="0">
                <a:latin typeface="+mn-ea"/>
              </a:rPr>
              <a:t>: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8.0.1-alpine</a:t>
            </a:r>
          </a:p>
          <a:p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MCP Server</a:t>
            </a:r>
            <a:r>
              <a:rPr lang="en-US" altLang="zh-TW" dirty="0">
                <a:latin typeface="+mn-ea"/>
              </a:rPr>
              <a:t>:</a:t>
            </a:r>
          </a:p>
          <a:p>
            <a:pPr lvl="1"/>
            <a:r>
              <a:rPr lang="en-US" altLang="zh-TW" dirty="0">
                <a:latin typeface="+mn-ea"/>
              </a:rPr>
              <a:t>Spring-ai-</a:t>
            </a:r>
            <a:r>
              <a:rPr lang="en-US" altLang="zh-TW" dirty="0" err="1">
                <a:latin typeface="+mn-ea"/>
              </a:rPr>
              <a:t>mcp</a:t>
            </a:r>
            <a:r>
              <a:rPr lang="en-US" altLang="zh-TW" dirty="0">
                <a:latin typeface="+mn-ea"/>
              </a:rPr>
              <a:t>-server : 1.0.0-M8</a:t>
            </a:r>
          </a:p>
          <a:p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MCP Host</a:t>
            </a:r>
            <a:r>
              <a:rPr lang="en-US" altLang="zh-TW" dirty="0">
                <a:latin typeface="+mn-ea"/>
              </a:rPr>
              <a:t>:</a:t>
            </a:r>
          </a:p>
          <a:p>
            <a:pPr lvl="1"/>
            <a:r>
              <a:rPr lang="en-US" altLang="zh-TW" dirty="0">
                <a:latin typeface="+mn-ea"/>
              </a:rPr>
              <a:t>Postman</a:t>
            </a:r>
          </a:p>
          <a:p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MCP Client</a:t>
            </a:r>
            <a:r>
              <a:rPr lang="en-US" altLang="zh-TW" dirty="0">
                <a:latin typeface="+mn-ea"/>
              </a:rPr>
              <a:t>:</a:t>
            </a:r>
          </a:p>
          <a:p>
            <a:pPr lvl="1"/>
            <a:r>
              <a:rPr lang="en-US" altLang="zh-TW" dirty="0">
                <a:latin typeface="+mn-ea"/>
              </a:rPr>
              <a:t>Spring-ai-</a:t>
            </a:r>
            <a:r>
              <a:rPr lang="en-US" altLang="zh-TW" dirty="0" err="1">
                <a:latin typeface="+mn-ea"/>
              </a:rPr>
              <a:t>mcp</a:t>
            </a:r>
            <a:r>
              <a:rPr lang="en-US" altLang="zh-TW" dirty="0">
                <a:latin typeface="+mn-ea"/>
              </a:rPr>
              <a:t>-client :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1.0.0-M8</a:t>
            </a:r>
          </a:p>
          <a:p>
            <a:r>
              <a:rPr lang="en-US" altLang="zh-TW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Kong</a:t>
            </a:r>
            <a:r>
              <a:rPr lang="en-US" altLang="zh-TW" dirty="0">
                <a:latin typeface="+mn-ea"/>
              </a:rPr>
              <a:t>: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>
                <a:latin typeface="+mn-ea"/>
              </a:rPr>
              <a:t>3.10.0.1</a:t>
            </a:r>
          </a:p>
          <a:p>
            <a:r>
              <a:rPr lang="en-US" altLang="zh-TW" dirty="0" err="1">
                <a:solidFill>
                  <a:schemeClr val="accent2">
                    <a:lumMod val="75000"/>
                  </a:schemeClr>
                </a:solidFill>
                <a:latin typeface="+mn-ea"/>
              </a:rPr>
              <a:t>Keycloak</a:t>
            </a:r>
            <a:r>
              <a:rPr lang="en-US" altLang="zh-TW" dirty="0">
                <a:latin typeface="+mn-ea"/>
              </a:rPr>
              <a:t>: 26.2</a:t>
            </a:r>
          </a:p>
          <a:p>
            <a:r>
              <a:rPr lang="en-US" altLang="zh-TW" dirty="0" err="1">
                <a:solidFill>
                  <a:schemeClr val="accent2">
                    <a:lumMod val="75000"/>
                  </a:schemeClr>
                </a:solidFill>
                <a:latin typeface="+mn-ea"/>
              </a:rPr>
              <a:t>postgresSql</a:t>
            </a:r>
            <a:r>
              <a:rPr lang="en-US" altLang="zh-TW" dirty="0">
                <a:latin typeface="+mn-ea"/>
              </a:rPr>
              <a:t> : 13.16</a:t>
            </a:r>
          </a:p>
        </p:txBody>
      </p:sp>
    </p:spTree>
    <p:extLst>
      <p:ext uri="{BB962C8B-B14F-4D97-AF65-F5344CB8AC3E}">
        <p14:creationId xmlns:p14="http://schemas.microsoft.com/office/powerpoint/2010/main" val="4056232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03BAD-2440-43FC-89AC-6D83AD778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ea"/>
              </a:rPr>
              <a:t>拉下 </a:t>
            </a:r>
            <a:r>
              <a:rPr lang="en-US" altLang="zh-TW" dirty="0">
                <a:latin typeface="+mj-ea"/>
              </a:rPr>
              <a:t>Labs </a:t>
            </a:r>
            <a:r>
              <a:rPr lang="zh-TW" altLang="en-US" dirty="0">
                <a:latin typeface="+mj-ea"/>
              </a:rPr>
              <a:t>原始碼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8764E1-9611-41B0-A186-BAC97D671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80729" cy="639279"/>
          </a:xfrm>
        </p:spPr>
        <p:txBody>
          <a:bodyPr/>
          <a:lstStyle/>
          <a:p>
            <a:r>
              <a:rPr lang="en-US" altLang="zh-TW" dirty="0" err="1">
                <a:latin typeface="+mn-ea"/>
              </a:rPr>
              <a:t>Github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連結</a:t>
            </a:r>
            <a:r>
              <a:rPr lang="en-US" altLang="zh-TW" dirty="0">
                <a:latin typeface="+mn-ea"/>
              </a:rPr>
              <a:t>: </a:t>
            </a:r>
            <a:r>
              <a:rPr lang="en-US" altLang="zh-TW" dirty="0">
                <a:latin typeface="+mn-ea"/>
                <a:hlinkClick r:id="rId2"/>
              </a:rPr>
              <a:t>https://github.com/zxc81906119/mcp.git</a:t>
            </a:r>
            <a:endParaRPr lang="en-US" altLang="zh-TW" dirty="0">
              <a:latin typeface="+mn-ea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6C2D9C1-3C1A-4988-93F7-E19BBE87E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686" y="2752515"/>
            <a:ext cx="2705478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3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03BAD-2440-43FC-89AC-6D83AD778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環境安裝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8764E1-9611-41B0-A186-BAC97D671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Windows </a:t>
            </a:r>
            <a:r>
              <a:rPr lang="zh-TW" altLang="en-US" dirty="0"/>
              <a:t>環境打開 </a:t>
            </a:r>
            <a:r>
              <a:rPr lang="en-US" altLang="zh-TW" dirty="0"/>
              <a:t>git bash</a:t>
            </a:r>
          </a:p>
          <a:p>
            <a:r>
              <a:rPr lang="en-US" altLang="zh-TW" dirty="0"/>
              <a:t>cd script</a:t>
            </a:r>
          </a:p>
          <a:p>
            <a:r>
              <a:rPr lang="en-US" altLang="zh-TW" dirty="0" err="1"/>
              <a:t>chmod</a:t>
            </a:r>
            <a:r>
              <a:rPr lang="en-US" altLang="zh-TW" dirty="0"/>
              <a:t> -R </a:t>
            </a:r>
            <a:r>
              <a:rPr lang="en-US" altLang="zh-TW" dirty="0" err="1"/>
              <a:t>u+x</a:t>
            </a:r>
            <a:r>
              <a:rPr lang="en-US" altLang="zh-TW" dirty="0"/>
              <a:t> ./</a:t>
            </a:r>
          </a:p>
          <a:p>
            <a:r>
              <a:rPr lang="en-US" altLang="zh-TW" dirty="0"/>
              <a:t>./restart_env.sh</a:t>
            </a:r>
          </a:p>
          <a:p>
            <a:r>
              <a:rPr lang="zh-TW" altLang="en-US" dirty="0"/>
              <a:t>休息一分鐘等待 </a:t>
            </a:r>
            <a:r>
              <a:rPr lang="en-US" altLang="zh-TW" dirty="0" err="1"/>
              <a:t>postgresSql</a:t>
            </a:r>
            <a:r>
              <a:rPr lang="en-US" altLang="zh-TW" dirty="0"/>
              <a:t> </a:t>
            </a:r>
            <a:r>
              <a:rPr lang="zh-TW" altLang="en-US" dirty="0"/>
              <a:t>啟動完成</a:t>
            </a:r>
            <a:endParaRPr lang="en-US" altLang="zh-TW" dirty="0"/>
          </a:p>
          <a:p>
            <a:r>
              <a:rPr lang="zh-TW" altLang="en-US" dirty="0"/>
              <a:t>觀察 </a:t>
            </a:r>
            <a:r>
              <a:rPr lang="en-US" altLang="zh-TW" dirty="0" err="1"/>
              <a:t>kong</a:t>
            </a:r>
            <a:r>
              <a:rPr lang="en-US" altLang="zh-TW" dirty="0"/>
              <a:t> </a:t>
            </a:r>
            <a:r>
              <a:rPr lang="zh-TW" altLang="en-US" dirty="0"/>
              <a:t>是否正常啟動</a:t>
            </a:r>
            <a:endParaRPr lang="en-US" altLang="zh-TW" dirty="0"/>
          </a:p>
          <a:p>
            <a:r>
              <a:rPr lang="zh-TW" altLang="en-US" dirty="0"/>
              <a:t>如啟動失敗 </a:t>
            </a:r>
            <a:r>
              <a:rPr lang="en-US" altLang="zh-TW" dirty="0"/>
              <a:t>, </a:t>
            </a:r>
            <a:r>
              <a:rPr lang="zh-TW" altLang="en-US" dirty="0"/>
              <a:t>再執行</a:t>
            </a:r>
            <a:endParaRPr lang="en-US" altLang="zh-TW" dirty="0"/>
          </a:p>
          <a:p>
            <a:r>
              <a:rPr lang="en-US" altLang="zh-TW" dirty="0" err="1"/>
              <a:t>chmod</a:t>
            </a:r>
            <a:r>
              <a:rPr lang="en-US" altLang="zh-TW" dirty="0"/>
              <a:t> </a:t>
            </a:r>
            <a:r>
              <a:rPr lang="en-US" altLang="zh-TW" dirty="0" err="1"/>
              <a:t>u+x</a:t>
            </a:r>
            <a:r>
              <a:rPr lang="en-US" altLang="zh-TW" dirty="0"/>
              <a:t> ./start_kong_migrations.sh</a:t>
            </a:r>
          </a:p>
          <a:p>
            <a:r>
              <a:rPr lang="en-US" altLang="zh-TW" dirty="0"/>
              <a:t>./start_kong_migrations.sh</a:t>
            </a:r>
          </a:p>
          <a:p>
            <a:r>
              <a:rPr lang="zh-TW" altLang="en-US" dirty="0"/>
              <a:t>等 </a:t>
            </a:r>
            <a:r>
              <a:rPr lang="en-US" altLang="zh-TW" dirty="0"/>
              <a:t>10</a:t>
            </a:r>
            <a:r>
              <a:rPr lang="zh-TW" altLang="en-US" dirty="0"/>
              <a:t> 秒鐘</a:t>
            </a:r>
            <a:endParaRPr lang="en-US" altLang="zh-TW" dirty="0"/>
          </a:p>
          <a:p>
            <a:r>
              <a:rPr lang="en-US" altLang="zh-TW" dirty="0"/>
              <a:t>docker restart </a:t>
            </a:r>
            <a:r>
              <a:rPr lang="en-US" altLang="zh-TW" dirty="0" err="1"/>
              <a:t>kong</a:t>
            </a:r>
            <a:r>
              <a:rPr lang="en-US" altLang="zh-TW" dirty="0"/>
              <a:t>-gateway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8429492-B5B3-4575-93AB-3BD1D7978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384" y="2376358"/>
            <a:ext cx="3991532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93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397047-9CEF-4929-82F3-D7EA75332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環境存取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5A0808-99F0-4E94-AF5A-0AC3470FA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62" y="1657277"/>
            <a:ext cx="5419725" cy="1028845"/>
          </a:xfrm>
        </p:spPr>
        <p:txBody>
          <a:bodyPr>
            <a:normAutofit fontScale="92500"/>
          </a:bodyPr>
          <a:lstStyle/>
          <a:p>
            <a:r>
              <a:rPr lang="en-US" altLang="zh-TW" dirty="0"/>
              <a:t>Kong web </a:t>
            </a:r>
            <a:r>
              <a:rPr lang="zh-TW" altLang="en-US" dirty="0"/>
              <a:t>管理介面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網址</a:t>
            </a:r>
            <a:r>
              <a:rPr lang="en-US" altLang="zh-TW" dirty="0"/>
              <a:t>: </a:t>
            </a:r>
            <a:r>
              <a:rPr lang="en-US" altLang="zh-TW" dirty="0">
                <a:hlinkClick r:id="rId2"/>
              </a:rPr>
              <a:t>http://localhost:8002/workspaces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139B420-91D5-4767-9FEC-1E26A8217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827180"/>
            <a:ext cx="4171950" cy="199688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57678F9-8685-4555-BE42-472C4D3C8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700" y="3307060"/>
            <a:ext cx="3562350" cy="170510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B6B8A5A-3C96-4948-834B-F493D009D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700" y="5082942"/>
            <a:ext cx="3562350" cy="1485918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A03B04EC-D1A9-4F9F-B787-31EC36D1C3CC}"/>
              </a:ext>
            </a:extLst>
          </p:cNvPr>
          <p:cNvSpPr txBox="1"/>
          <p:nvPr/>
        </p:nvSpPr>
        <p:spPr>
          <a:xfrm>
            <a:off x="517684" y="3836893"/>
            <a:ext cx="562927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600" dirty="0" err="1"/>
              <a:t>Keycloak</a:t>
            </a:r>
            <a:r>
              <a:rPr lang="en-US" altLang="zh-TW" sz="2600" dirty="0"/>
              <a:t> web </a:t>
            </a:r>
            <a:r>
              <a:rPr lang="zh-TW" altLang="en-US" sz="2600" dirty="0"/>
              <a:t>管理介面</a:t>
            </a:r>
            <a:r>
              <a:rPr lang="en-US" altLang="zh-TW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200" dirty="0"/>
              <a:t>網址</a:t>
            </a:r>
            <a:r>
              <a:rPr lang="en-US" altLang="zh-TW" sz="2200" dirty="0"/>
              <a:t>: </a:t>
            </a:r>
            <a:r>
              <a:rPr lang="en-US" altLang="zh-TW" dirty="0">
                <a:hlinkClick r:id="rId6"/>
              </a:rPr>
              <a:t>http://localhost:18080/admin/master/console/</a:t>
            </a:r>
            <a:r>
              <a:rPr lang="zh-TW" altLang="en-US" dirty="0"/>
              <a:t> </a:t>
            </a:r>
            <a:endParaRPr lang="en-US" altLang="zh-TW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200" dirty="0"/>
              <a:t>帳密</a:t>
            </a:r>
            <a:r>
              <a:rPr lang="en-US" altLang="zh-TW" sz="2200" dirty="0"/>
              <a:t>:</a:t>
            </a:r>
            <a:r>
              <a:rPr lang="zh-TW" altLang="en-US" sz="2200" dirty="0"/>
              <a:t> </a:t>
            </a:r>
            <a:r>
              <a:rPr lang="en-US" altLang="zh-TW" sz="2200" dirty="0"/>
              <a:t>admin/admin</a:t>
            </a:r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9027FEFF-5FE1-4518-B10A-30B8416E1477}"/>
              </a:ext>
            </a:extLst>
          </p:cNvPr>
          <p:cNvSpPr/>
          <p:nvPr/>
        </p:nvSpPr>
        <p:spPr>
          <a:xfrm>
            <a:off x="6434137" y="1911302"/>
            <a:ext cx="676275" cy="346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882EF6E6-3E37-4A11-B625-B1E844E27E1C}"/>
              </a:ext>
            </a:extLst>
          </p:cNvPr>
          <p:cNvSpPr/>
          <p:nvPr/>
        </p:nvSpPr>
        <p:spPr>
          <a:xfrm>
            <a:off x="6434137" y="4666089"/>
            <a:ext cx="676275" cy="346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EF1C3C9-D105-400F-AEEB-211E578AF763}"/>
              </a:ext>
            </a:extLst>
          </p:cNvPr>
          <p:cNvSpPr txBox="1"/>
          <p:nvPr/>
        </p:nvSpPr>
        <p:spPr>
          <a:xfrm>
            <a:off x="1407381" y="2767054"/>
            <a:ext cx="2806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此時 </a:t>
            </a:r>
            <a:r>
              <a:rPr lang="en-US" altLang="zh-TW" dirty="0" err="1"/>
              <a:t>kong</a:t>
            </a:r>
            <a:r>
              <a:rPr lang="en-US" altLang="zh-TW" dirty="0"/>
              <a:t> </a:t>
            </a:r>
            <a:r>
              <a:rPr lang="zh-TW" altLang="en-US" dirty="0"/>
              <a:t>只存在一個空的 </a:t>
            </a:r>
            <a:r>
              <a:rPr lang="en-US" altLang="zh-TW" dirty="0"/>
              <a:t>default workspace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DAFE4D9-AC08-4192-BA1F-689A0EBDE8E2}"/>
              </a:ext>
            </a:extLst>
          </p:cNvPr>
          <p:cNvSpPr txBox="1"/>
          <p:nvPr/>
        </p:nvSpPr>
        <p:spPr>
          <a:xfrm>
            <a:off x="1224501" y="5374924"/>
            <a:ext cx="2806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除了 </a:t>
            </a:r>
            <a:r>
              <a:rPr lang="en-US" altLang="zh-TW" dirty="0"/>
              <a:t>master realm </a:t>
            </a:r>
            <a:r>
              <a:rPr lang="zh-TW" altLang="en-US" dirty="0"/>
              <a:t>外 </a:t>
            </a:r>
            <a:r>
              <a:rPr lang="en-US" altLang="zh-TW" dirty="0"/>
              <a:t>, </a:t>
            </a:r>
            <a:r>
              <a:rPr lang="zh-TW" altLang="en-US" dirty="0"/>
              <a:t>還創建了 </a:t>
            </a:r>
            <a:r>
              <a:rPr lang="en-US" altLang="zh-TW" dirty="0"/>
              <a:t>labs </a:t>
            </a:r>
            <a:r>
              <a:rPr lang="zh-TW" altLang="en-US" dirty="0"/>
              <a:t>環境使用的 </a:t>
            </a:r>
            <a:r>
              <a:rPr lang="en-US" altLang="zh-TW" dirty="0" err="1">
                <a:solidFill>
                  <a:schemeClr val="accent1"/>
                </a:solidFill>
              </a:rPr>
              <a:t>mcp</a:t>
            </a:r>
            <a:r>
              <a:rPr lang="en-US" altLang="zh-TW" dirty="0"/>
              <a:t> realm </a:t>
            </a:r>
            <a:r>
              <a:rPr lang="zh-TW" altLang="en-US" dirty="0"/>
              <a:t>和測試 </a:t>
            </a:r>
            <a:r>
              <a:rPr lang="en-US" altLang="zh-TW" dirty="0"/>
              <a:t>clients</a:t>
            </a:r>
          </a:p>
        </p:txBody>
      </p:sp>
    </p:spTree>
    <p:extLst>
      <p:ext uri="{BB962C8B-B14F-4D97-AF65-F5344CB8AC3E}">
        <p14:creationId xmlns:p14="http://schemas.microsoft.com/office/powerpoint/2010/main" val="4090923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92D4BC-5DD5-4157-A534-FCD1135E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匯入 </a:t>
            </a:r>
            <a:r>
              <a:rPr lang="en-US" altLang="zh-TW" dirty="0" err="1"/>
              <a:t>kong</a:t>
            </a:r>
            <a:r>
              <a:rPr lang="en-US" altLang="zh-TW" dirty="0"/>
              <a:t> </a:t>
            </a:r>
            <a:r>
              <a:rPr lang="zh-TW" altLang="en-US" dirty="0"/>
              <a:t>組件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55C3DB-37C8-466A-9338-9BF787449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1241425"/>
          </a:xfrm>
        </p:spPr>
        <p:txBody>
          <a:bodyPr/>
          <a:lstStyle/>
          <a:p>
            <a:r>
              <a:rPr lang="en-US" altLang="zh-TW" dirty="0" err="1"/>
              <a:t>chmod</a:t>
            </a:r>
            <a:r>
              <a:rPr lang="en-US" altLang="zh-TW" dirty="0"/>
              <a:t> </a:t>
            </a:r>
            <a:r>
              <a:rPr lang="en-US" altLang="zh-TW" dirty="0" err="1"/>
              <a:t>u+x</a:t>
            </a:r>
            <a:r>
              <a:rPr lang="en-US" altLang="zh-TW" dirty="0"/>
              <a:t> ./sync_kong-config.sh</a:t>
            </a:r>
          </a:p>
          <a:p>
            <a:r>
              <a:rPr lang="en-US" altLang="zh-TW" dirty="0"/>
              <a:t>./sync_kong-config.sh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3DC5168-E764-4BE7-916A-D8142DC43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51" y="3067050"/>
            <a:ext cx="2133898" cy="3210373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53E00385-A6F5-40FA-AC72-5A739B550DF2}"/>
              </a:ext>
            </a:extLst>
          </p:cNvPr>
          <p:cNvSpPr/>
          <p:nvPr/>
        </p:nvSpPr>
        <p:spPr>
          <a:xfrm>
            <a:off x="3905324" y="4333081"/>
            <a:ext cx="676275" cy="346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6D84B0C-074C-4F88-AF32-22A79FD53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220" y="3067050"/>
            <a:ext cx="6256020" cy="299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14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03BAD-2440-43FC-89AC-6D83AD778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啟動 </a:t>
            </a:r>
            <a:r>
              <a:rPr lang="en-US" altLang="zh-TW" dirty="0"/>
              <a:t>spring-ai-</a:t>
            </a:r>
            <a:r>
              <a:rPr lang="en-US" altLang="zh-TW" dirty="0" err="1"/>
              <a:t>mcp</a:t>
            </a:r>
            <a:r>
              <a:rPr lang="en-US" altLang="zh-TW" dirty="0"/>
              <a:t>-server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8764E1-9611-41B0-A186-BAC97D671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chmod</a:t>
            </a:r>
            <a:r>
              <a:rPr lang="en-US" altLang="zh-TW" dirty="0"/>
              <a:t> </a:t>
            </a:r>
            <a:r>
              <a:rPr lang="en-US" altLang="zh-TW" dirty="0" err="1"/>
              <a:t>u+x</a:t>
            </a:r>
            <a:r>
              <a:rPr lang="en-US" altLang="zh-TW" dirty="0"/>
              <a:t> ./restart_mcp-server.sh</a:t>
            </a:r>
          </a:p>
          <a:p>
            <a:r>
              <a:rPr lang="en-US" altLang="zh-TW" dirty="0"/>
              <a:t>./restart_mcp-server.sh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5C5305A-DB45-4545-B6C3-C1FF6DCE9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752" y="3324924"/>
            <a:ext cx="1933845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140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CDCE19-BBED-4CBC-9A66-ED5BBA39A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Tool -</a:t>
            </a:r>
            <a:r>
              <a:rPr lang="zh-TW" altLang="en-US" dirty="0"/>
              <a:t> </a:t>
            </a:r>
            <a:r>
              <a:rPr lang="en-US" altLang="zh-TW" dirty="0"/>
              <a:t>UUID </a:t>
            </a:r>
            <a:r>
              <a:rPr lang="zh-TW" altLang="en-US" dirty="0"/>
              <a:t>產生器</a:t>
            </a: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C6076F43-B049-4283-94FF-6FC28AD28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19535"/>
            <a:ext cx="10515600" cy="3563517"/>
          </a:xfrm>
        </p:spPr>
      </p:pic>
    </p:spTree>
    <p:extLst>
      <p:ext uri="{BB962C8B-B14F-4D97-AF65-F5344CB8AC3E}">
        <p14:creationId xmlns:p14="http://schemas.microsoft.com/office/powerpoint/2010/main" val="42827987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D4F40C-0DA2-4F7F-9260-93311438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Tool -</a:t>
            </a:r>
            <a:r>
              <a:rPr lang="zh-TW" altLang="en-US" dirty="0"/>
              <a:t> 列出 </a:t>
            </a:r>
            <a:r>
              <a:rPr lang="en-US" altLang="zh-TW" dirty="0" err="1"/>
              <a:t>kong</a:t>
            </a:r>
            <a:r>
              <a:rPr lang="en-US" altLang="zh-TW" dirty="0"/>
              <a:t> routes </a:t>
            </a:r>
            <a:r>
              <a:rPr lang="zh-TW" altLang="en-US" dirty="0"/>
              <a:t>與其對應之 </a:t>
            </a:r>
            <a:r>
              <a:rPr lang="en-US" altLang="zh-TW" dirty="0"/>
              <a:t>plugins </a:t>
            </a:r>
            <a:r>
              <a:rPr lang="zh-TW" altLang="en-US" dirty="0"/>
              <a:t>資訊</a:t>
            </a: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235CAFAC-2EB9-4A2C-80B0-C6085FEB7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1440" y="1515428"/>
            <a:ext cx="5531880" cy="4351338"/>
          </a:xfrm>
        </p:spPr>
      </p:pic>
    </p:spTree>
    <p:extLst>
      <p:ext uri="{BB962C8B-B14F-4D97-AF65-F5344CB8AC3E}">
        <p14:creationId xmlns:p14="http://schemas.microsoft.com/office/powerpoint/2010/main" val="1056225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03BAD-2440-43FC-89AC-6D83AD778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啟動 </a:t>
            </a:r>
            <a:r>
              <a:rPr lang="en-US" altLang="zh-TW" dirty="0"/>
              <a:t>spring-ai-</a:t>
            </a:r>
            <a:r>
              <a:rPr lang="en-US" altLang="zh-TW" dirty="0" err="1"/>
              <a:t>mcp</a:t>
            </a:r>
            <a:r>
              <a:rPr lang="en-US" altLang="zh-TW" dirty="0"/>
              <a:t>-client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8764E1-9611-41B0-A186-BAC97D671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chmod</a:t>
            </a:r>
            <a:r>
              <a:rPr lang="en-US" altLang="zh-TW" dirty="0"/>
              <a:t> </a:t>
            </a:r>
            <a:r>
              <a:rPr lang="en-US" altLang="zh-TW" dirty="0" err="1"/>
              <a:t>u+x</a:t>
            </a:r>
            <a:r>
              <a:rPr lang="en-US" altLang="zh-TW" dirty="0"/>
              <a:t> ./restart_mcp-client.sh</a:t>
            </a:r>
          </a:p>
          <a:p>
            <a:r>
              <a:rPr lang="en-US" altLang="zh-TW" dirty="0"/>
              <a:t>./restart_mcp-client.sh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76CA3E3-A4D2-4B56-8704-BDEE5685F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494" y="3314617"/>
            <a:ext cx="1867161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03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5E02AF-9115-4ED0-BD16-6917E577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與 </a:t>
            </a:r>
            <a:r>
              <a:rPr lang="en-US" altLang="zh-TW" dirty="0"/>
              <a:t>LLM </a:t>
            </a:r>
            <a:r>
              <a:rPr lang="zh-TW" altLang="en-US" dirty="0"/>
              <a:t>聊天 </a:t>
            </a:r>
            <a:r>
              <a:rPr lang="en-US" altLang="zh-TW" dirty="0"/>
              <a:t>controller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4BEA0EE-55C3-4FBE-9859-73ED129F8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1176" y="1825625"/>
            <a:ext cx="2989647" cy="4351338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E624158-2E43-4EE5-93FF-A58EA36AFCD9}"/>
              </a:ext>
            </a:extLst>
          </p:cNvPr>
          <p:cNvSpPr txBox="1"/>
          <p:nvPr/>
        </p:nvSpPr>
        <p:spPr>
          <a:xfrm>
            <a:off x="571500" y="2206675"/>
            <a:ext cx="3398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提供之功能</a:t>
            </a:r>
            <a:r>
              <a:rPr lang="en-US" altLang="zh-TW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同步</a:t>
            </a:r>
            <a:r>
              <a:rPr lang="en-US" altLang="zh-TW" dirty="0"/>
              <a:t>/</a:t>
            </a:r>
            <a:r>
              <a:rPr lang="zh-TW" altLang="en-US" dirty="0"/>
              <a:t>非同步 聊天</a:t>
            </a:r>
            <a:endParaRPr lang="en-US" altLang="zh-TW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聊天上下文記憶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585516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03BAD-2440-43FC-89AC-6D83AD778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匯入 </a:t>
            </a:r>
            <a:r>
              <a:rPr lang="en-US" altLang="zh-TW" dirty="0"/>
              <a:t>postman </a:t>
            </a:r>
            <a:r>
              <a:rPr lang="en-US" altLang="zh-TW" dirty="0" err="1"/>
              <a:t>collection.json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D47F469-F526-4CE0-9A18-9F998B87F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34" y="1748798"/>
            <a:ext cx="2915057" cy="495369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4556A28D-3C0F-4E76-BA2B-957522000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551" y="4808878"/>
            <a:ext cx="2692842" cy="1078528"/>
          </a:xfrm>
          <a:prstGeom prst="rect">
            <a:avLst/>
          </a:prstGeom>
        </p:spPr>
      </p:pic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F8A84D36-2481-4FBB-816C-3380DCF5B0FC}"/>
              </a:ext>
            </a:extLst>
          </p:cNvPr>
          <p:cNvSpPr/>
          <p:nvPr/>
        </p:nvSpPr>
        <p:spPr>
          <a:xfrm>
            <a:off x="7052343" y="3754990"/>
            <a:ext cx="775130" cy="4286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351BD945-9FE3-4267-8CCC-C6375AEF94CD}"/>
              </a:ext>
            </a:extLst>
          </p:cNvPr>
          <p:cNvGrpSpPr/>
          <p:nvPr/>
        </p:nvGrpSpPr>
        <p:grpSpPr>
          <a:xfrm>
            <a:off x="4127827" y="2857161"/>
            <a:ext cx="2448290" cy="1589163"/>
            <a:chOff x="4123393" y="2276893"/>
            <a:chExt cx="2448290" cy="1589163"/>
          </a:xfrm>
        </p:grpSpPr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5BFCDBA3-8D57-4942-819C-45D19495E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3393" y="2276893"/>
              <a:ext cx="2448290" cy="1589163"/>
            </a:xfrm>
            <a:prstGeom prst="rect">
              <a:avLst/>
            </a:prstGeom>
          </p:spPr>
        </p:pic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7E59040-89D5-4E73-8111-F9DE2327B5F4}"/>
                </a:ext>
              </a:extLst>
            </p:cNvPr>
            <p:cNvSpPr/>
            <p:nvPr/>
          </p:nvSpPr>
          <p:spPr>
            <a:xfrm>
              <a:off x="5205412" y="3258259"/>
              <a:ext cx="100013" cy="826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4" name="箭號: 向右 23">
            <a:extLst>
              <a:ext uri="{FF2B5EF4-FFF2-40B4-BE49-F238E27FC236}">
                <a16:creationId xmlns:a16="http://schemas.microsoft.com/office/drawing/2014/main" id="{A5B8D740-EFE9-40EB-AE79-0950A35B754D}"/>
              </a:ext>
            </a:extLst>
          </p:cNvPr>
          <p:cNvSpPr/>
          <p:nvPr/>
        </p:nvSpPr>
        <p:spPr>
          <a:xfrm>
            <a:off x="2876471" y="3651743"/>
            <a:ext cx="775130" cy="4286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3776D1F0-655E-4BDF-B0ED-AB70B5F00074}"/>
              </a:ext>
            </a:extLst>
          </p:cNvPr>
          <p:cNvGrpSpPr/>
          <p:nvPr/>
        </p:nvGrpSpPr>
        <p:grpSpPr>
          <a:xfrm>
            <a:off x="569808" y="2899542"/>
            <a:ext cx="1971968" cy="2568145"/>
            <a:chOff x="496315" y="2581984"/>
            <a:chExt cx="1971968" cy="2568145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BF3C27FC-C57E-4506-8E61-8BC3903A3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6315" y="2581984"/>
              <a:ext cx="1971968" cy="2568145"/>
            </a:xfrm>
            <a:prstGeom prst="rect">
              <a:avLst/>
            </a:prstGeom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058D16F-8B92-4552-8821-6231BA764AC0}"/>
                </a:ext>
              </a:extLst>
            </p:cNvPr>
            <p:cNvSpPr/>
            <p:nvPr/>
          </p:nvSpPr>
          <p:spPr>
            <a:xfrm>
              <a:off x="2162175" y="2581984"/>
              <a:ext cx="306108" cy="18026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9C386FF-861F-4475-9A82-958AF27C269A}"/>
                </a:ext>
              </a:extLst>
            </p:cNvPr>
            <p:cNvSpPr/>
            <p:nvPr/>
          </p:nvSpPr>
          <p:spPr>
            <a:xfrm>
              <a:off x="507064" y="2762250"/>
              <a:ext cx="407335" cy="3238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8" name="圖片 7">
            <a:extLst>
              <a:ext uri="{FF2B5EF4-FFF2-40B4-BE49-F238E27FC236}">
                <a16:creationId xmlns:a16="http://schemas.microsoft.com/office/drawing/2014/main" id="{E81AC22A-8E15-4BF8-A83C-C19526AA3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44" y="3079808"/>
            <a:ext cx="2358823" cy="194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116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FBBC6A-4FA8-4816-8C7D-73B39073A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0525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demo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22003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3C0BA1-6192-4C6F-9691-30D58BB6A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n-ea"/>
              </a:rPr>
              <a:t>產生一組 </a:t>
            </a:r>
            <a:r>
              <a:rPr lang="en-US" altLang="zh-TW" dirty="0" err="1">
                <a:latin typeface="+mn-ea"/>
              </a:rPr>
              <a:t>uuid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E498951F-C562-4375-8DDC-6158E4F90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5360" y="2138505"/>
            <a:ext cx="9906000" cy="3417740"/>
          </a:xfrm>
        </p:spPr>
      </p:pic>
    </p:spTree>
    <p:extLst>
      <p:ext uri="{BB962C8B-B14F-4D97-AF65-F5344CB8AC3E}">
        <p14:creationId xmlns:p14="http://schemas.microsoft.com/office/powerpoint/2010/main" val="8729607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32BDEE-F43B-4C00-A67F-6FCA6147C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n-ea"/>
              </a:rPr>
              <a:t>產生一組長度為 </a:t>
            </a:r>
            <a:r>
              <a:rPr lang="en-US" altLang="zh-TW" dirty="0">
                <a:latin typeface="+mn-ea"/>
              </a:rPr>
              <a:t>12 </a:t>
            </a:r>
            <a:r>
              <a:rPr lang="zh-TW" altLang="en-US" dirty="0">
                <a:latin typeface="+mn-ea"/>
              </a:rPr>
              <a:t>的 </a:t>
            </a:r>
            <a:r>
              <a:rPr lang="en-US" altLang="zh-TW" dirty="0" err="1">
                <a:latin typeface="+mn-ea"/>
              </a:rPr>
              <a:t>uuid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D328235-2B14-453B-A2B4-EF200BAF27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4143" y="1825625"/>
            <a:ext cx="8643714" cy="4351338"/>
          </a:xfrm>
        </p:spPr>
      </p:pic>
    </p:spTree>
    <p:extLst>
      <p:ext uri="{BB962C8B-B14F-4D97-AF65-F5344CB8AC3E}">
        <p14:creationId xmlns:p14="http://schemas.microsoft.com/office/powerpoint/2010/main" val="30456765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809215-F0A1-4E57-8DFE-274B08B1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列出 </a:t>
            </a:r>
            <a:r>
              <a:rPr lang="en-US" altLang="zh-TW" dirty="0" err="1"/>
              <a:t>kong</a:t>
            </a:r>
            <a:r>
              <a:rPr lang="en-US" altLang="zh-TW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ai workspace </a:t>
            </a:r>
            <a:r>
              <a:rPr lang="zh-TW" altLang="en-US" dirty="0"/>
              <a:t>有哪些 </a:t>
            </a:r>
            <a:r>
              <a:rPr lang="en-US" altLang="zh-TW" dirty="0"/>
              <a:t>routes </a:t>
            </a:r>
            <a:r>
              <a:rPr lang="zh-TW" altLang="en-US" dirty="0"/>
              <a:t>不含有 </a:t>
            </a:r>
            <a:r>
              <a:rPr lang="en-US" altLang="zh-TW" dirty="0" err="1"/>
              <a:t>openid</a:t>
            </a:r>
            <a:r>
              <a:rPr lang="en-US" altLang="zh-TW" dirty="0"/>
              <a:t>-connect plugin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9081752-B397-43DE-A9D8-6C0DDA329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5657" y="1825625"/>
            <a:ext cx="8860685" cy="4351338"/>
          </a:xfrm>
        </p:spPr>
      </p:pic>
    </p:spTree>
    <p:extLst>
      <p:ext uri="{BB962C8B-B14F-4D97-AF65-F5344CB8AC3E}">
        <p14:creationId xmlns:p14="http://schemas.microsoft.com/office/powerpoint/2010/main" val="33447215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AF75ED-228B-43AC-9CE1-7EAAF620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prompt </a:t>
            </a:r>
            <a:r>
              <a:rPr lang="zh-TW" altLang="en-US" dirty="0"/>
              <a:t>含 </a:t>
            </a:r>
            <a:r>
              <a:rPr lang="en-US" altLang="zh-TW" dirty="0"/>
              <a:t>‘gg’ </a:t>
            </a:r>
            <a:r>
              <a:rPr lang="zh-TW" altLang="en-US" dirty="0"/>
              <a:t>關鍵字就會被 </a:t>
            </a:r>
            <a:r>
              <a:rPr lang="en-US" altLang="zh-TW" dirty="0" err="1"/>
              <a:t>kong</a:t>
            </a:r>
            <a:r>
              <a:rPr lang="en-US" altLang="zh-TW" dirty="0"/>
              <a:t> </a:t>
            </a:r>
            <a:r>
              <a:rPr lang="zh-TW" altLang="en-US" dirty="0"/>
              <a:t>擋住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9DC75A7-FA3E-4637-9C5D-16E8EF73D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9846" y="1825625"/>
            <a:ext cx="8852308" cy="4351338"/>
          </a:xfrm>
        </p:spPr>
      </p:pic>
    </p:spTree>
    <p:extLst>
      <p:ext uri="{BB962C8B-B14F-4D97-AF65-F5344CB8AC3E}">
        <p14:creationId xmlns:p14="http://schemas.microsoft.com/office/powerpoint/2010/main" val="39258292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FBBC6A-4FA8-4816-8C7D-73B39073A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0525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Debug MCP Server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19740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5CB0D-EE1F-4AD5-98C2-610C401F7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啟動 </a:t>
            </a:r>
            <a:r>
              <a:rPr lang="en-US" altLang="zh-TW" dirty="0"/>
              <a:t>debug </a:t>
            </a:r>
            <a:r>
              <a:rPr lang="zh-TW" altLang="en-US" dirty="0"/>
              <a:t>工具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0536148-5696-401E-A457-A644BECF20B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zh-TW" altLang="en-US" dirty="0">
                <a:latin typeface="+mn-ea"/>
              </a:rPr>
              <a:t>指令</a:t>
            </a:r>
            <a:r>
              <a:rPr lang="en-US" altLang="zh-TW" dirty="0">
                <a:latin typeface="+mn-ea"/>
              </a:rPr>
              <a:t>:</a:t>
            </a:r>
            <a:r>
              <a:rPr lang="zh-TW" altLang="en-US" dirty="0">
                <a:latin typeface="+mn-ea"/>
              </a:rPr>
              <a:t> </a:t>
            </a:r>
            <a:r>
              <a:rPr lang="en-US" altLang="zh-TW" dirty="0" err="1">
                <a:latin typeface="+mn-ea"/>
              </a:rPr>
              <a:t>npx</a:t>
            </a:r>
            <a:r>
              <a:rPr lang="en-US" altLang="zh-TW" dirty="0">
                <a:latin typeface="+mn-ea"/>
              </a:rPr>
              <a:t> @modelcontextprotocol/inspector</a:t>
            </a:r>
            <a:endParaRPr lang="zh-TW" altLang="en-US" dirty="0">
              <a:latin typeface="+mn-ea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47E0CF3-785B-47DA-943B-31794533E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57" y="2671657"/>
            <a:ext cx="4763165" cy="151468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9A16640-C182-4DD4-A971-24A04D856A7E}"/>
              </a:ext>
            </a:extLst>
          </p:cNvPr>
          <p:cNvSpPr/>
          <p:nvPr/>
        </p:nvSpPr>
        <p:spPr>
          <a:xfrm>
            <a:off x="3794154" y="3875764"/>
            <a:ext cx="1616046" cy="2025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D77FACA-8CD8-46D4-8FD1-82CE2ACABFEA}"/>
              </a:ext>
            </a:extLst>
          </p:cNvPr>
          <p:cNvSpPr txBox="1"/>
          <p:nvPr/>
        </p:nvSpPr>
        <p:spPr>
          <a:xfrm>
            <a:off x="3584907" y="4229078"/>
            <a:ext cx="2202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瀏覽器訪問此網址便可至 </a:t>
            </a:r>
            <a:r>
              <a:rPr lang="en-US" altLang="zh-TW" dirty="0">
                <a:solidFill>
                  <a:srgbClr val="FF0000"/>
                </a:solidFill>
              </a:rPr>
              <a:t>debug web </a:t>
            </a:r>
            <a:r>
              <a:rPr lang="en-US" altLang="zh-TW" dirty="0" err="1">
                <a:solidFill>
                  <a:srgbClr val="FF0000"/>
                </a:solidFill>
              </a:rPr>
              <a:t>ui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3914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9BCB6-4AB5-4FF9-8575-F97DAF85A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連線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6BC433D-9085-4781-AF86-AB2C018E65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0533" y="1825625"/>
            <a:ext cx="9090934" cy="4351338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CDA190E-BF33-4DC8-A76D-8433AF7D486B}"/>
              </a:ext>
            </a:extLst>
          </p:cNvPr>
          <p:cNvSpPr/>
          <p:nvPr/>
        </p:nvSpPr>
        <p:spPr>
          <a:xfrm>
            <a:off x="1614144" y="2333874"/>
            <a:ext cx="230560" cy="2025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5EAD62-DD5D-44EA-8209-18592DFCD914}"/>
              </a:ext>
            </a:extLst>
          </p:cNvPr>
          <p:cNvSpPr/>
          <p:nvPr/>
        </p:nvSpPr>
        <p:spPr>
          <a:xfrm>
            <a:off x="1630074" y="2732764"/>
            <a:ext cx="1319860" cy="2025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284C67-C42F-4595-AAAF-AFDC508CE290}"/>
              </a:ext>
            </a:extLst>
          </p:cNvPr>
          <p:cNvSpPr/>
          <p:nvPr/>
        </p:nvSpPr>
        <p:spPr>
          <a:xfrm>
            <a:off x="2028936" y="3720053"/>
            <a:ext cx="507529" cy="1224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956DB4A-48C7-444F-94ED-275CC854BC2C}"/>
              </a:ext>
            </a:extLst>
          </p:cNvPr>
          <p:cNvSpPr txBox="1"/>
          <p:nvPr/>
        </p:nvSpPr>
        <p:spPr>
          <a:xfrm>
            <a:off x="1844704" y="2342130"/>
            <a:ext cx="10058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改成 </a:t>
            </a:r>
            <a:r>
              <a:rPr lang="en-US" altLang="zh-TW" sz="800" dirty="0">
                <a:solidFill>
                  <a:srgbClr val="FF0000"/>
                </a:solidFill>
              </a:rPr>
              <a:t>SSE </a:t>
            </a:r>
            <a:r>
              <a:rPr lang="zh-TW" altLang="en-US" sz="800" dirty="0">
                <a:solidFill>
                  <a:srgbClr val="FF0000"/>
                </a:solidFill>
              </a:rPr>
              <a:t>調用方式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E7E799-FD06-4F16-B78F-7032D60AFCBE}"/>
              </a:ext>
            </a:extLst>
          </p:cNvPr>
          <p:cNvSpPr txBox="1"/>
          <p:nvPr/>
        </p:nvSpPr>
        <p:spPr>
          <a:xfrm>
            <a:off x="2949934" y="2664783"/>
            <a:ext cx="1005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輸入 </a:t>
            </a:r>
            <a:r>
              <a:rPr lang="en-US" altLang="zh-TW" sz="800" dirty="0" err="1">
                <a:solidFill>
                  <a:srgbClr val="FF0000"/>
                </a:solidFill>
              </a:rPr>
              <a:t>mcp</a:t>
            </a:r>
            <a:r>
              <a:rPr lang="en-US" altLang="zh-TW" sz="800" dirty="0">
                <a:solidFill>
                  <a:srgbClr val="FF0000"/>
                </a:solidFill>
              </a:rPr>
              <a:t> server </a:t>
            </a:r>
            <a:r>
              <a:rPr lang="en-US" altLang="zh-TW" sz="800" dirty="0" err="1">
                <a:solidFill>
                  <a:srgbClr val="FF0000"/>
                </a:solidFill>
              </a:rPr>
              <a:t>sse</a:t>
            </a:r>
            <a:r>
              <a:rPr lang="en-US" altLang="zh-TW" sz="800" dirty="0">
                <a:solidFill>
                  <a:srgbClr val="FF0000"/>
                </a:solidFill>
              </a:rPr>
              <a:t> </a:t>
            </a:r>
            <a:r>
              <a:rPr lang="zh-TW" altLang="en-US" sz="800" dirty="0">
                <a:solidFill>
                  <a:srgbClr val="FF0000"/>
                </a:solidFill>
              </a:rPr>
              <a:t>的 </a:t>
            </a:r>
            <a:r>
              <a:rPr lang="en-US" altLang="zh-TW" sz="800" dirty="0" err="1">
                <a:solidFill>
                  <a:srgbClr val="FF0000"/>
                </a:solidFill>
              </a:rPr>
              <a:t>url</a:t>
            </a:r>
            <a:r>
              <a:rPr lang="en-US" altLang="zh-TW" sz="800" dirty="0">
                <a:solidFill>
                  <a:srgbClr val="FF0000"/>
                </a:solidFill>
              </a:rPr>
              <a:t> </a:t>
            </a:r>
            <a:r>
              <a:rPr lang="zh-TW" altLang="en-US" sz="800" dirty="0">
                <a:solidFill>
                  <a:srgbClr val="FF0000"/>
                </a:solidFill>
              </a:rPr>
              <a:t>網址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284CCAD-1C71-45D7-B3A2-322ED8D05A8D}"/>
              </a:ext>
            </a:extLst>
          </p:cNvPr>
          <p:cNvSpPr txBox="1"/>
          <p:nvPr/>
        </p:nvSpPr>
        <p:spPr>
          <a:xfrm>
            <a:off x="2536465" y="3673552"/>
            <a:ext cx="10058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按下連線按鈕</a:t>
            </a:r>
          </a:p>
        </p:txBody>
      </p:sp>
    </p:spTree>
    <p:extLst>
      <p:ext uri="{BB962C8B-B14F-4D97-AF65-F5344CB8AC3E}">
        <p14:creationId xmlns:p14="http://schemas.microsoft.com/office/powerpoint/2010/main" val="10906757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F342DB-3BFE-44F0-9C75-136DA1432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連線後初始化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5438DD7-13FE-46D5-9CFD-5BB3A6EA63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845" y="2204993"/>
            <a:ext cx="5426967" cy="2597595"/>
          </a:xfr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EDA13C4-AFD2-4DAF-B03E-3380F4664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314" y="1690688"/>
            <a:ext cx="5466347" cy="401147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152B683-0E39-4FC8-94E4-5A6144710C2D}"/>
              </a:ext>
            </a:extLst>
          </p:cNvPr>
          <p:cNvSpPr/>
          <p:nvPr/>
        </p:nvSpPr>
        <p:spPr>
          <a:xfrm>
            <a:off x="1439215" y="4075210"/>
            <a:ext cx="2274044" cy="2025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AAF0C05-70D5-4F1D-9B99-87C2A118AA94}"/>
              </a:ext>
            </a:extLst>
          </p:cNvPr>
          <p:cNvSpPr txBox="1"/>
          <p:nvPr/>
        </p:nvSpPr>
        <p:spPr>
          <a:xfrm>
            <a:off x="1439215" y="4324751"/>
            <a:ext cx="1005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一開始會自動進行初始化動作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9ACA0E4-2BA4-422F-918E-292BAF5183E6}"/>
              </a:ext>
            </a:extLst>
          </p:cNvPr>
          <p:cNvSpPr txBox="1"/>
          <p:nvPr/>
        </p:nvSpPr>
        <p:spPr>
          <a:xfrm>
            <a:off x="6186475" y="1406291"/>
            <a:ext cx="10058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初始化請求與回覆</a:t>
            </a:r>
          </a:p>
        </p:txBody>
      </p:sp>
    </p:spTree>
    <p:extLst>
      <p:ext uri="{BB962C8B-B14F-4D97-AF65-F5344CB8AC3E}">
        <p14:creationId xmlns:p14="http://schemas.microsoft.com/office/powerpoint/2010/main" val="15201731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591FB53A-1A73-4C13-ACB7-240D6DB1F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715" y="2182100"/>
            <a:ext cx="6236444" cy="2985048"/>
          </a:xfr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BECA9C2-8588-466A-8522-37FB7DFB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列出可用工具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590C90B7-41C2-4D05-828A-DA62E2CBF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962" y="2112024"/>
            <a:ext cx="4002838" cy="330012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C70FC7C-FFDB-43E0-A291-9B2B8C201E00}"/>
              </a:ext>
            </a:extLst>
          </p:cNvPr>
          <p:cNvSpPr/>
          <p:nvPr/>
        </p:nvSpPr>
        <p:spPr>
          <a:xfrm>
            <a:off x="1774495" y="2947449"/>
            <a:ext cx="1016413" cy="5431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388DF21-3511-4C13-92A0-9F5881011FD2}"/>
              </a:ext>
            </a:extLst>
          </p:cNvPr>
          <p:cNvSpPr/>
          <p:nvPr/>
        </p:nvSpPr>
        <p:spPr>
          <a:xfrm>
            <a:off x="1744662" y="4354168"/>
            <a:ext cx="2558966" cy="134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47B43A-3FA9-447F-B2D7-06769AC2AF7C}"/>
              </a:ext>
            </a:extLst>
          </p:cNvPr>
          <p:cNvSpPr/>
          <p:nvPr/>
        </p:nvSpPr>
        <p:spPr>
          <a:xfrm>
            <a:off x="2933700" y="2658678"/>
            <a:ext cx="259080" cy="134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B817E84-18C5-4582-B718-B71703B71B81}"/>
              </a:ext>
            </a:extLst>
          </p:cNvPr>
          <p:cNvSpPr txBox="1"/>
          <p:nvPr/>
        </p:nvSpPr>
        <p:spPr>
          <a:xfrm>
            <a:off x="2621280" y="2320124"/>
            <a:ext cx="1005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按下按鈕列出可用工具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C948A7B-E588-4874-9980-1FACAAAFB107}"/>
              </a:ext>
            </a:extLst>
          </p:cNvPr>
          <p:cNvSpPr txBox="1"/>
          <p:nvPr/>
        </p:nvSpPr>
        <p:spPr>
          <a:xfrm>
            <a:off x="2813768" y="3114825"/>
            <a:ext cx="10058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可用工具清單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104CCD7-F2D5-4244-810F-33AC8B44C1F9}"/>
              </a:ext>
            </a:extLst>
          </p:cNvPr>
          <p:cNvSpPr txBox="1"/>
          <p:nvPr/>
        </p:nvSpPr>
        <p:spPr>
          <a:xfrm>
            <a:off x="7294328" y="1828672"/>
            <a:ext cx="13010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列出可用工具請求與回覆</a:t>
            </a:r>
          </a:p>
        </p:txBody>
      </p:sp>
    </p:spTree>
    <p:extLst>
      <p:ext uri="{BB962C8B-B14F-4D97-AF65-F5344CB8AC3E}">
        <p14:creationId xmlns:p14="http://schemas.microsoft.com/office/powerpoint/2010/main" val="19018305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F54918-6475-4942-8397-CBA757AE6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產 </a:t>
            </a:r>
            <a:r>
              <a:rPr lang="en-US" altLang="zh-TW" dirty="0" err="1"/>
              <a:t>uuid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7C1B9B1-AFE9-47D4-AC15-FDFA4581A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0533" y="1825625"/>
            <a:ext cx="9090934" cy="4351338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C638EB2-D7F4-4F34-8C5C-FE258B5CA183}"/>
              </a:ext>
            </a:extLst>
          </p:cNvPr>
          <p:cNvSpPr/>
          <p:nvPr/>
        </p:nvSpPr>
        <p:spPr>
          <a:xfrm>
            <a:off x="3165974" y="3339548"/>
            <a:ext cx="690410" cy="3021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AAEC8F-800A-4981-A880-F5B2F3FE6CCC}"/>
              </a:ext>
            </a:extLst>
          </p:cNvPr>
          <p:cNvSpPr/>
          <p:nvPr/>
        </p:nvSpPr>
        <p:spPr>
          <a:xfrm>
            <a:off x="6973293" y="3045351"/>
            <a:ext cx="524787" cy="198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5F19A4-5049-444F-B8FF-84E21C0516AE}"/>
              </a:ext>
            </a:extLst>
          </p:cNvPr>
          <p:cNvSpPr/>
          <p:nvPr/>
        </p:nvSpPr>
        <p:spPr>
          <a:xfrm>
            <a:off x="6973293" y="3490622"/>
            <a:ext cx="1447138" cy="3021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F4A7CFB-CC6A-43C3-BC49-E9A2EF4011D9}"/>
              </a:ext>
            </a:extLst>
          </p:cNvPr>
          <p:cNvSpPr txBox="1"/>
          <p:nvPr/>
        </p:nvSpPr>
        <p:spPr>
          <a:xfrm>
            <a:off x="3937581" y="3426252"/>
            <a:ext cx="814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選擇需調用工具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E90D2EB-D821-4355-BA1A-BE2BA1AF838F}"/>
              </a:ext>
            </a:extLst>
          </p:cNvPr>
          <p:cNvSpPr txBox="1"/>
          <p:nvPr/>
        </p:nvSpPr>
        <p:spPr>
          <a:xfrm>
            <a:off x="7498080" y="3045351"/>
            <a:ext cx="81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執行工具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4814AD3-1865-47BA-9249-D00E84C3D072}"/>
              </a:ext>
            </a:extLst>
          </p:cNvPr>
          <p:cNvSpPr txBox="1"/>
          <p:nvPr/>
        </p:nvSpPr>
        <p:spPr>
          <a:xfrm>
            <a:off x="8401213" y="3512246"/>
            <a:ext cx="81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工具回傳值</a:t>
            </a:r>
          </a:p>
        </p:txBody>
      </p:sp>
    </p:spTree>
    <p:extLst>
      <p:ext uri="{BB962C8B-B14F-4D97-AF65-F5344CB8AC3E}">
        <p14:creationId xmlns:p14="http://schemas.microsoft.com/office/powerpoint/2010/main" val="36626342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97BBC6-A543-4C35-A405-317647220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產 </a:t>
            </a:r>
            <a:r>
              <a:rPr lang="en-US" altLang="zh-TW" dirty="0"/>
              <a:t>12</a:t>
            </a:r>
            <a:r>
              <a:rPr lang="zh-TW" altLang="en-US" dirty="0"/>
              <a:t> 位 </a:t>
            </a:r>
            <a:r>
              <a:rPr lang="en-US" altLang="zh-TW" dirty="0" err="1"/>
              <a:t>uuid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3E481F9-90AA-4375-9CA8-6A420987A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0533" y="1825625"/>
            <a:ext cx="9090934" cy="4351338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334A27B-640A-4613-8465-066179CC6862}"/>
              </a:ext>
            </a:extLst>
          </p:cNvPr>
          <p:cNvSpPr/>
          <p:nvPr/>
        </p:nvSpPr>
        <p:spPr>
          <a:xfrm>
            <a:off x="3165974" y="3339548"/>
            <a:ext cx="690410" cy="3021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E762FF-33CF-4468-8E38-083F047C2426}"/>
              </a:ext>
            </a:extLst>
          </p:cNvPr>
          <p:cNvSpPr/>
          <p:nvPr/>
        </p:nvSpPr>
        <p:spPr>
          <a:xfrm>
            <a:off x="6973293" y="3045351"/>
            <a:ext cx="524787" cy="198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D6D48E-238A-431C-8350-081D5BC2B00C}"/>
              </a:ext>
            </a:extLst>
          </p:cNvPr>
          <p:cNvSpPr/>
          <p:nvPr/>
        </p:nvSpPr>
        <p:spPr>
          <a:xfrm>
            <a:off x="6973293" y="3490622"/>
            <a:ext cx="1447138" cy="3021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448A1A-BA1D-4C04-8CFC-EE5E3E10208F}"/>
              </a:ext>
            </a:extLst>
          </p:cNvPr>
          <p:cNvSpPr/>
          <p:nvPr/>
        </p:nvSpPr>
        <p:spPr>
          <a:xfrm>
            <a:off x="6973293" y="2790910"/>
            <a:ext cx="174930" cy="198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D0D5815-9D0E-4AAA-9889-34C67881D8DF}"/>
              </a:ext>
            </a:extLst>
          </p:cNvPr>
          <p:cNvSpPr txBox="1"/>
          <p:nvPr/>
        </p:nvSpPr>
        <p:spPr>
          <a:xfrm>
            <a:off x="3937581" y="3339548"/>
            <a:ext cx="814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選擇需調用工具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0339E83-953D-4BBA-B859-ABBA9992257C}"/>
              </a:ext>
            </a:extLst>
          </p:cNvPr>
          <p:cNvSpPr txBox="1"/>
          <p:nvPr/>
        </p:nvSpPr>
        <p:spPr>
          <a:xfrm>
            <a:off x="7586537" y="3045351"/>
            <a:ext cx="81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執行工具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4A95318-52CB-4A16-B148-75E67F0A984B}"/>
              </a:ext>
            </a:extLst>
          </p:cNvPr>
          <p:cNvSpPr txBox="1"/>
          <p:nvPr/>
        </p:nvSpPr>
        <p:spPr>
          <a:xfrm>
            <a:off x="7191456" y="2762439"/>
            <a:ext cx="81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傳入工具參數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835255C-922B-40CF-B536-66864E315270}"/>
              </a:ext>
            </a:extLst>
          </p:cNvPr>
          <p:cNvSpPr txBox="1"/>
          <p:nvPr/>
        </p:nvSpPr>
        <p:spPr>
          <a:xfrm>
            <a:off x="8401213" y="3512246"/>
            <a:ext cx="81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工具回傳值</a:t>
            </a:r>
          </a:p>
        </p:txBody>
      </p:sp>
    </p:spTree>
    <p:extLst>
      <p:ext uri="{BB962C8B-B14F-4D97-AF65-F5344CB8AC3E}">
        <p14:creationId xmlns:p14="http://schemas.microsoft.com/office/powerpoint/2010/main" val="5115611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3ED3F4-75E6-40A8-81B5-39C5BEC6C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列出 </a:t>
            </a:r>
            <a:r>
              <a:rPr lang="en-US" altLang="zh-TW" dirty="0" err="1"/>
              <a:t>kong</a:t>
            </a:r>
            <a:r>
              <a:rPr lang="en-US" altLang="zh-TW" dirty="0"/>
              <a:t> default workspace </a:t>
            </a:r>
            <a:r>
              <a:rPr lang="zh-TW" altLang="en-US" dirty="0"/>
              <a:t>之 </a:t>
            </a:r>
            <a:r>
              <a:rPr lang="en-US" altLang="zh-TW" dirty="0"/>
              <a:t>routes </a:t>
            </a:r>
            <a:r>
              <a:rPr lang="zh-TW" altLang="en-US" dirty="0"/>
              <a:t>及其 </a:t>
            </a:r>
            <a:r>
              <a:rPr lang="en-US" altLang="zh-TW" dirty="0"/>
              <a:t>plugins </a:t>
            </a:r>
            <a:r>
              <a:rPr lang="zh-TW" altLang="en-US" dirty="0"/>
              <a:t>資訊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682E1DA-11B5-4F09-80E1-D6A29F6768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0533" y="1825625"/>
            <a:ext cx="9090934" cy="4351338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DADC7D9-884B-4013-8578-4F5B7B28FB57}"/>
              </a:ext>
            </a:extLst>
          </p:cNvPr>
          <p:cNvSpPr/>
          <p:nvPr/>
        </p:nvSpPr>
        <p:spPr>
          <a:xfrm>
            <a:off x="3188472" y="3045349"/>
            <a:ext cx="1447138" cy="3021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9282B1-5C51-4A8C-AEF2-EFB4C72B93EC}"/>
              </a:ext>
            </a:extLst>
          </p:cNvPr>
          <p:cNvSpPr/>
          <p:nvPr/>
        </p:nvSpPr>
        <p:spPr>
          <a:xfrm>
            <a:off x="6973293" y="3156665"/>
            <a:ext cx="524787" cy="198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29A221-0779-4B77-AFC9-22ABBC83CECE}"/>
              </a:ext>
            </a:extLst>
          </p:cNvPr>
          <p:cNvSpPr/>
          <p:nvPr/>
        </p:nvSpPr>
        <p:spPr>
          <a:xfrm>
            <a:off x="6949439" y="3674825"/>
            <a:ext cx="294199" cy="198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64D3F68-2C23-4113-AA34-EC3305918EAC}"/>
              </a:ext>
            </a:extLst>
          </p:cNvPr>
          <p:cNvSpPr txBox="1"/>
          <p:nvPr/>
        </p:nvSpPr>
        <p:spPr>
          <a:xfrm>
            <a:off x="4635610" y="3045349"/>
            <a:ext cx="814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選擇需調用工具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8157ADC-A395-49C7-8E7B-6F622CDE79A5}"/>
              </a:ext>
            </a:extLst>
          </p:cNvPr>
          <p:cNvSpPr txBox="1"/>
          <p:nvPr/>
        </p:nvSpPr>
        <p:spPr>
          <a:xfrm>
            <a:off x="7582895" y="3132054"/>
            <a:ext cx="81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執行工具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7F2538B-FECB-4A94-8090-A87479C6423B}"/>
              </a:ext>
            </a:extLst>
          </p:cNvPr>
          <p:cNvSpPr txBox="1"/>
          <p:nvPr/>
        </p:nvSpPr>
        <p:spPr>
          <a:xfrm>
            <a:off x="7342033" y="3658163"/>
            <a:ext cx="81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工具回傳值</a:t>
            </a:r>
          </a:p>
        </p:txBody>
      </p:sp>
    </p:spTree>
    <p:extLst>
      <p:ext uri="{BB962C8B-B14F-4D97-AF65-F5344CB8AC3E}">
        <p14:creationId xmlns:p14="http://schemas.microsoft.com/office/powerpoint/2010/main" val="10982514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7B23BC-3B41-4AB0-9417-9D1128777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列出 </a:t>
            </a:r>
            <a:r>
              <a:rPr lang="en-US" altLang="zh-TW" dirty="0" err="1"/>
              <a:t>kong</a:t>
            </a:r>
            <a:r>
              <a:rPr lang="en-US" altLang="zh-TW" dirty="0"/>
              <a:t> ai workspace </a:t>
            </a:r>
            <a:r>
              <a:rPr lang="zh-TW" altLang="en-US" dirty="0"/>
              <a:t>之 </a:t>
            </a:r>
            <a:r>
              <a:rPr lang="en-US" altLang="zh-TW" dirty="0"/>
              <a:t>routes </a:t>
            </a:r>
            <a:r>
              <a:rPr lang="zh-TW" altLang="en-US" dirty="0"/>
              <a:t>及其 </a:t>
            </a:r>
            <a:r>
              <a:rPr lang="en-US" altLang="zh-TW" dirty="0"/>
              <a:t>plugins </a:t>
            </a:r>
            <a:r>
              <a:rPr lang="zh-TW" altLang="en-US" dirty="0"/>
              <a:t>資訊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28B6984-45AA-41FC-A9A6-2E239D5D6C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0533" y="1825625"/>
            <a:ext cx="9090934" cy="4351338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59E28B7-D25F-41DB-971A-00B988EA0774}"/>
              </a:ext>
            </a:extLst>
          </p:cNvPr>
          <p:cNvSpPr/>
          <p:nvPr/>
        </p:nvSpPr>
        <p:spPr>
          <a:xfrm>
            <a:off x="2822712" y="2735248"/>
            <a:ext cx="1447138" cy="3021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6956A2-064B-4283-B00F-662366873ECA}"/>
              </a:ext>
            </a:extLst>
          </p:cNvPr>
          <p:cNvSpPr/>
          <p:nvPr/>
        </p:nvSpPr>
        <p:spPr>
          <a:xfrm>
            <a:off x="6742705" y="2886322"/>
            <a:ext cx="524787" cy="198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D7C105-6075-40B0-81FC-4F50D562A7D3}"/>
              </a:ext>
            </a:extLst>
          </p:cNvPr>
          <p:cNvSpPr/>
          <p:nvPr/>
        </p:nvSpPr>
        <p:spPr>
          <a:xfrm>
            <a:off x="6742705" y="3329608"/>
            <a:ext cx="1494846" cy="18148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5392ED-9ED4-4C5E-889F-1931B8425CB6}"/>
              </a:ext>
            </a:extLst>
          </p:cNvPr>
          <p:cNvSpPr/>
          <p:nvPr/>
        </p:nvSpPr>
        <p:spPr>
          <a:xfrm>
            <a:off x="6742704" y="2620072"/>
            <a:ext cx="262395" cy="198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DA0991F-BFB3-4435-9545-DEF806B56D8C}"/>
              </a:ext>
            </a:extLst>
          </p:cNvPr>
          <p:cNvSpPr txBox="1"/>
          <p:nvPr/>
        </p:nvSpPr>
        <p:spPr>
          <a:xfrm>
            <a:off x="8237551" y="3519866"/>
            <a:ext cx="81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工具回傳值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3188E56-5549-4670-8ED4-4D5ACEB3E005}"/>
              </a:ext>
            </a:extLst>
          </p:cNvPr>
          <p:cNvSpPr txBox="1"/>
          <p:nvPr/>
        </p:nvSpPr>
        <p:spPr>
          <a:xfrm>
            <a:off x="7267492" y="2877991"/>
            <a:ext cx="81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執行工具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FFAB529-72F1-4CF6-8E9A-69AC486776CA}"/>
              </a:ext>
            </a:extLst>
          </p:cNvPr>
          <p:cNvSpPr txBox="1"/>
          <p:nvPr/>
        </p:nvSpPr>
        <p:spPr>
          <a:xfrm>
            <a:off x="7048320" y="2595079"/>
            <a:ext cx="8146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傳入工具參數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F976731-8918-48E9-BD23-EF86FF762325}"/>
              </a:ext>
            </a:extLst>
          </p:cNvPr>
          <p:cNvSpPr txBox="1"/>
          <p:nvPr/>
        </p:nvSpPr>
        <p:spPr>
          <a:xfrm>
            <a:off x="4284263" y="2735248"/>
            <a:ext cx="814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rgbClr val="FF0000"/>
                </a:solidFill>
              </a:rPr>
              <a:t>選擇需調用工具</a:t>
            </a:r>
          </a:p>
        </p:txBody>
      </p:sp>
    </p:spTree>
    <p:extLst>
      <p:ext uri="{BB962C8B-B14F-4D97-AF65-F5344CB8AC3E}">
        <p14:creationId xmlns:p14="http://schemas.microsoft.com/office/powerpoint/2010/main" val="23436621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FBBC6A-4FA8-4816-8C7D-73B39073A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0525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Cursor</a:t>
            </a:r>
            <a:r>
              <a:rPr lang="zh-TW" altLang="en-US" dirty="0"/>
              <a:t> </a:t>
            </a:r>
            <a:r>
              <a:rPr lang="en-US" altLang="zh-TW" dirty="0"/>
              <a:t>ide </a:t>
            </a:r>
            <a:r>
              <a:rPr lang="zh-TW" altLang="en-US" dirty="0"/>
              <a:t>整合 </a:t>
            </a:r>
            <a:r>
              <a:rPr lang="en-US" altLang="zh-TW" dirty="0"/>
              <a:t>MCP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88074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DF9EDF-EC10-4335-8DBA-443083C2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6832"/>
          </a:xfrm>
        </p:spPr>
        <p:txBody>
          <a:bodyPr/>
          <a:lstStyle/>
          <a:p>
            <a:r>
              <a:rPr lang="en-US" altLang="zh-TW" dirty="0"/>
              <a:t>cursor ide </a:t>
            </a:r>
            <a:r>
              <a:rPr lang="zh-TW" altLang="en-US" dirty="0"/>
              <a:t>設定 </a:t>
            </a:r>
            <a:r>
              <a:rPr lang="en-US" altLang="zh-TW" dirty="0"/>
              <a:t>MCP server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E5077E0-BC98-4035-B29B-C136BC8CA8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1080" y="2336165"/>
            <a:ext cx="3015488" cy="3477896"/>
          </a:xfrm>
        </p:spPr>
      </p:pic>
      <p:pic>
        <p:nvPicPr>
          <p:cNvPr id="6" name="內容版面配置區 3">
            <a:extLst>
              <a:ext uri="{FF2B5EF4-FFF2-40B4-BE49-F238E27FC236}">
                <a16:creationId xmlns:a16="http://schemas.microsoft.com/office/drawing/2014/main" id="{1BFC880A-17FA-41A5-8582-4B079543640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932178" y="2312792"/>
            <a:ext cx="5274310" cy="97282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9714C12-5E67-49D7-933C-F7A5508862F3}"/>
              </a:ext>
            </a:extLst>
          </p:cNvPr>
          <p:cNvSpPr/>
          <p:nvPr/>
        </p:nvSpPr>
        <p:spPr>
          <a:xfrm>
            <a:off x="1145745" y="2336165"/>
            <a:ext cx="227264" cy="1489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F11416-854D-41A9-AD10-C617CAE0E56B}"/>
              </a:ext>
            </a:extLst>
          </p:cNvPr>
          <p:cNvSpPr/>
          <p:nvPr/>
        </p:nvSpPr>
        <p:spPr>
          <a:xfrm>
            <a:off x="1219199" y="4679475"/>
            <a:ext cx="534809" cy="1489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F65168-B49C-4596-BC47-46EE3A73059D}"/>
              </a:ext>
            </a:extLst>
          </p:cNvPr>
          <p:cNvSpPr/>
          <p:nvPr/>
        </p:nvSpPr>
        <p:spPr>
          <a:xfrm>
            <a:off x="2567940" y="4798698"/>
            <a:ext cx="666940" cy="1489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34955A-743F-4365-98F7-B4EA8C3164A8}"/>
              </a:ext>
            </a:extLst>
          </p:cNvPr>
          <p:cNvSpPr/>
          <p:nvPr/>
        </p:nvSpPr>
        <p:spPr>
          <a:xfrm>
            <a:off x="9310636" y="2564729"/>
            <a:ext cx="679184" cy="1927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55B412E-04F6-4B81-A323-40078280C62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932178" y="3535998"/>
            <a:ext cx="2644775" cy="107823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A16A4A9-A2E5-4CEB-B9E9-2069118B5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745" y="1489478"/>
            <a:ext cx="1609950" cy="523948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33054BFA-ED69-44C8-A84F-62924F604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8248" y="3535998"/>
            <a:ext cx="2974590" cy="107823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13C6EE26-0641-438C-A032-78C889FC9B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6627" y="4801749"/>
            <a:ext cx="5393177" cy="9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000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3C0BA1-6192-4C6F-9691-30D58BB6A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n-ea"/>
              </a:rPr>
              <a:t>產生一組 </a:t>
            </a:r>
            <a:r>
              <a:rPr lang="en-US" altLang="zh-TW" dirty="0" err="1">
                <a:latin typeface="+mn-ea"/>
              </a:rPr>
              <a:t>uuid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0C33DE4-28A8-4E3F-8AF6-96DCB2037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4576" y="3158214"/>
            <a:ext cx="3562847" cy="1686160"/>
          </a:xfrm>
        </p:spPr>
      </p:pic>
    </p:spTree>
    <p:extLst>
      <p:ext uri="{BB962C8B-B14F-4D97-AF65-F5344CB8AC3E}">
        <p14:creationId xmlns:p14="http://schemas.microsoft.com/office/powerpoint/2010/main" val="20192348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32BDEE-F43B-4C00-A67F-6FCA6147C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n-ea"/>
              </a:rPr>
              <a:t>產生一組長度為 </a:t>
            </a:r>
            <a:r>
              <a:rPr lang="en-US" altLang="zh-TW" dirty="0">
                <a:latin typeface="+mn-ea"/>
              </a:rPr>
              <a:t>12 </a:t>
            </a:r>
            <a:r>
              <a:rPr lang="zh-TW" altLang="en-US" dirty="0">
                <a:latin typeface="+mn-ea"/>
              </a:rPr>
              <a:t>的 </a:t>
            </a:r>
            <a:r>
              <a:rPr lang="en-US" altLang="zh-TW" dirty="0" err="1">
                <a:latin typeface="+mn-ea"/>
              </a:rPr>
              <a:t>uuid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05F0698A-15BE-4B31-AE0D-11626ADB73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9945" y="3291582"/>
            <a:ext cx="2572109" cy="1419423"/>
          </a:xfrm>
        </p:spPr>
      </p:pic>
    </p:spTree>
    <p:extLst>
      <p:ext uri="{BB962C8B-B14F-4D97-AF65-F5344CB8AC3E}">
        <p14:creationId xmlns:p14="http://schemas.microsoft.com/office/powerpoint/2010/main" val="9251798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809215-F0A1-4E57-8DFE-274B08B1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列出 </a:t>
            </a:r>
            <a:r>
              <a:rPr lang="en-US" altLang="zh-TW" dirty="0" err="1"/>
              <a:t>kong</a:t>
            </a:r>
            <a:r>
              <a:rPr lang="en-US" altLang="zh-TW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ai workspace </a:t>
            </a:r>
            <a:r>
              <a:rPr lang="zh-TW" altLang="en-US" dirty="0"/>
              <a:t>有哪些 </a:t>
            </a:r>
            <a:r>
              <a:rPr lang="en-US" altLang="zh-TW" dirty="0"/>
              <a:t>routes </a:t>
            </a:r>
            <a:r>
              <a:rPr lang="zh-TW" altLang="en-US" dirty="0"/>
              <a:t>不含有 </a:t>
            </a:r>
            <a:r>
              <a:rPr lang="en-US" altLang="zh-TW" dirty="0" err="1"/>
              <a:t>openid</a:t>
            </a:r>
            <a:r>
              <a:rPr lang="en-US" altLang="zh-TW" dirty="0"/>
              <a:t>-connect plugin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F3B3869-E0B8-4B99-B600-C057DD4C13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2576" y="2624739"/>
            <a:ext cx="4286848" cy="2753109"/>
          </a:xfrm>
        </p:spPr>
      </p:pic>
    </p:spTree>
    <p:extLst>
      <p:ext uri="{BB962C8B-B14F-4D97-AF65-F5344CB8AC3E}">
        <p14:creationId xmlns:p14="http://schemas.microsoft.com/office/powerpoint/2010/main" val="21432218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C715DC-FBDE-4B36-9DDD-1BA3D3658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833" y="2724785"/>
            <a:ext cx="10515600" cy="932815"/>
          </a:xfrm>
        </p:spPr>
        <p:txBody>
          <a:bodyPr>
            <a:no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zh-TW" altLang="en-US" sz="4400" dirty="0">
                <a:latin typeface="+mj-ea"/>
                <a:ea typeface="+mj-ea"/>
                <a:cs typeface="+mj-cs"/>
              </a:rPr>
              <a:t>問題與討論</a:t>
            </a:r>
          </a:p>
        </p:txBody>
      </p:sp>
    </p:spTree>
    <p:extLst>
      <p:ext uri="{BB962C8B-B14F-4D97-AF65-F5344CB8AC3E}">
        <p14:creationId xmlns:p14="http://schemas.microsoft.com/office/powerpoint/2010/main" val="1120858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2475</TotalTime>
  <Words>1571</Words>
  <Application>Microsoft Office PowerPoint</Application>
  <PresentationFormat>寬螢幕</PresentationFormat>
  <Paragraphs>259</Paragraphs>
  <Slides>53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53</vt:i4>
      </vt:variant>
    </vt:vector>
  </HeadingPairs>
  <TitlesOfParts>
    <vt:vector size="58" baseType="lpstr">
      <vt:lpstr>新細明體</vt:lpstr>
      <vt:lpstr>Arial</vt:lpstr>
      <vt:lpstr>Calibri</vt:lpstr>
      <vt:lpstr>Calibri Light</vt:lpstr>
      <vt:lpstr>Office 佈景主題</vt:lpstr>
      <vt:lpstr>MCP with kong Labs</vt:lpstr>
      <vt:lpstr>目錄</vt:lpstr>
      <vt:lpstr>PowerPoint 簡報</vt:lpstr>
      <vt:lpstr>MCP 簡介</vt:lpstr>
      <vt:lpstr>MCP 組件</vt:lpstr>
      <vt:lpstr>MCP 架構圖</vt:lpstr>
      <vt:lpstr>MCP 生命週期</vt:lpstr>
      <vt:lpstr>MCP 實際運作過程</vt:lpstr>
      <vt:lpstr>MCP java sdk </vt:lpstr>
      <vt:lpstr>MCP server debug 工具</vt:lpstr>
      <vt:lpstr>選擇與 kong 整合原因</vt:lpstr>
      <vt:lpstr>Kong 整合 MCP 安全性架構圖</vt:lpstr>
      <vt:lpstr>Kong 整合 MCP 文章</vt:lpstr>
      <vt:lpstr>PowerPoint 簡報</vt:lpstr>
      <vt:lpstr>Kong 簡介</vt:lpstr>
      <vt:lpstr>Kong 組件</vt:lpstr>
      <vt:lpstr>PowerPoint 簡報</vt:lpstr>
      <vt:lpstr>Labs 終極目標</vt:lpstr>
      <vt:lpstr>Labs 內容</vt:lpstr>
      <vt:lpstr>Labs 安裝架構圖</vt:lpstr>
      <vt:lpstr>Kong openid-connect plugin with client credentials flow</vt:lpstr>
      <vt:lpstr>Labs 前置環境準備</vt:lpstr>
      <vt:lpstr>Labs 相關服務安裝</vt:lpstr>
      <vt:lpstr>拉下 Labs 原始碼</vt:lpstr>
      <vt:lpstr>環境安裝 </vt:lpstr>
      <vt:lpstr>環境存取</vt:lpstr>
      <vt:lpstr>匯入 kong 組件</vt:lpstr>
      <vt:lpstr>啟動 spring-ai-mcp-server</vt:lpstr>
      <vt:lpstr>Tool - UUID 產生器</vt:lpstr>
      <vt:lpstr>Tool - 列出 kong routes 與其對應之 plugins 資訊</vt:lpstr>
      <vt:lpstr>啟動 spring-ai-mcp-client</vt:lpstr>
      <vt:lpstr>與 LLM 聊天 controller</vt:lpstr>
      <vt:lpstr>匯入 postman collection.json</vt:lpstr>
      <vt:lpstr>demo</vt:lpstr>
      <vt:lpstr>產生一組 uuid</vt:lpstr>
      <vt:lpstr>產生一組長度為 12 的 uuid</vt:lpstr>
      <vt:lpstr>列出 kong 的 ai workspace 有哪些 routes 不含有 openid-connect plugin</vt:lpstr>
      <vt:lpstr>prompt 含 ‘gg’ 關鍵字就會被 kong 擋住</vt:lpstr>
      <vt:lpstr>Debug MCP Server</vt:lpstr>
      <vt:lpstr>啟動 debug 工具</vt:lpstr>
      <vt:lpstr>連線</vt:lpstr>
      <vt:lpstr>連線後初始化</vt:lpstr>
      <vt:lpstr>列出可用工具</vt:lpstr>
      <vt:lpstr>產 uuid</vt:lpstr>
      <vt:lpstr>產 12 位 uuid</vt:lpstr>
      <vt:lpstr>列出 kong default workspace 之 routes 及其 plugins 資訊</vt:lpstr>
      <vt:lpstr>列出 kong ai workspace 之 routes 及其 plugins 資訊</vt:lpstr>
      <vt:lpstr>Cursor ide 整合 MCP</vt:lpstr>
      <vt:lpstr>cursor ide 設定 MCP server</vt:lpstr>
      <vt:lpstr>產生一組 uuid</vt:lpstr>
      <vt:lpstr>產生一組長度為 12 的 uuid</vt:lpstr>
      <vt:lpstr>列出 kong 的 ai workspace 有哪些 routes 不含有 openid-connect plugin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Mc Chen</dc:creator>
  <cp:lastModifiedBy>Mc Chen</cp:lastModifiedBy>
  <cp:revision>2752</cp:revision>
  <dcterms:created xsi:type="dcterms:W3CDTF">2025-05-22T13:37:15Z</dcterms:created>
  <dcterms:modified xsi:type="dcterms:W3CDTF">2026-02-25T02:06:32Z</dcterms:modified>
</cp:coreProperties>
</file>